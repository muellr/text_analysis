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3"/>
  </p:notesMasterIdLst>
  <p:sldIdLst>
    <p:sldId id="281" r:id="rId2"/>
    <p:sldId id="257" r:id="rId3"/>
    <p:sldId id="282" r:id="rId4"/>
    <p:sldId id="285" r:id="rId5"/>
    <p:sldId id="302" r:id="rId6"/>
    <p:sldId id="287" r:id="rId7"/>
    <p:sldId id="288" r:id="rId8"/>
    <p:sldId id="289" r:id="rId9"/>
    <p:sldId id="290" r:id="rId10"/>
    <p:sldId id="291" r:id="rId11"/>
    <p:sldId id="293" r:id="rId12"/>
    <p:sldId id="301" r:id="rId13"/>
    <p:sldId id="294" r:id="rId14"/>
    <p:sldId id="295" r:id="rId15"/>
    <p:sldId id="296" r:id="rId16"/>
    <p:sldId id="297" r:id="rId17"/>
    <p:sldId id="298" r:id="rId18"/>
    <p:sldId id="275" r:id="rId19"/>
    <p:sldId id="303" r:id="rId20"/>
    <p:sldId id="304" r:id="rId21"/>
    <p:sldId id="280" r:id="rId22"/>
  </p:sldIdLst>
  <p:sldSz cx="12192000" cy="6858000"/>
  <p:notesSz cx="6858000" cy="9144000"/>
  <p:custShowLst>
    <p:custShow name="Machine-Leaning" id="0">
      <p:sldLst>
        <p:sld r:id="rId2"/>
        <p:sld r:id="rId3"/>
        <p:sld r:id="rId4"/>
        <p:sld r:id="rId19"/>
        <p:sld r:id="rId22"/>
      </p:sldLst>
    </p:custShow>
    <p:custShow name="Streaming" id="1">
      <p:sldLst>
        <p:sld r:id="rId2"/>
        <p:sld r:id="rId3"/>
        <p:sld r:id="rId4"/>
      </p:sldLst>
    </p:custShow>
  </p:custShowLst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753E7D-366A-488D-C832-8B7107CF577D}" v="57" dt="2026-04-10T08:25:57.4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70"/>
    <p:restoredTop sz="83959"/>
  </p:normalViewPr>
  <p:slideViewPr>
    <p:cSldViewPr snapToGrid="0">
      <p:cViewPr varScale="1">
        <p:scale>
          <a:sx n="129" d="100"/>
          <a:sy n="129" d="100"/>
        </p:scale>
        <p:origin x="1464" y="192"/>
      </p:cViewPr>
      <p:guideLst/>
    </p:cSldViewPr>
  </p:slideViewPr>
  <p:outlineViewPr>
    <p:cViewPr>
      <p:scale>
        <a:sx n="33" d="100"/>
        <a:sy n="33" d="100"/>
      </p:scale>
      <p:origin x="0" y="-180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9" d="100"/>
          <a:sy n="79" d="100"/>
        </p:scale>
        <p:origin x="4080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184886-9C14-F646-94FD-4C50F4C24EDB}" type="datetimeFigureOut">
              <a:rPr lang="de-CH" smtClean="0"/>
              <a:t>17.06.26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406B0D-CDB9-7342-BFE1-3BBA81393C61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43723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notes</a:t>
            </a:r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90407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15400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Zum Modell: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Herkunft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BAAI = Beijing Academy of Artificial Intelligence, open source via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HuggingFace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110M Parameter, max.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Sequenzlänge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512 Tokens,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großen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Paardaten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Contrastive Learning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v1.5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verbesserte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Similarity-Score-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Verteilung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stärkere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Retrieval-Performance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gegenüber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Vorgänger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OpenRouter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Einsatzgebiete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Retrieval,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Klassifikation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Clustering, Semantic Search Together AI</a:t>
            </a: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  War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zeitweise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State-of-the-Art auf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MTEB Leaderboard (Platz 1, Juli 2024)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arxiv</a:t>
            </a:r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GB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Für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diesen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Use Case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solide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Wahl: die Embeddings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sind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bereits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L2-normalisiert,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daher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kein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StandardScaler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nötig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wie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Code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kommentiert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und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gelu-Aktivierung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harmoniert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gut 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mit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SBERT-</a:t>
            </a:r>
            <a:r>
              <a:rPr lang="en-GB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artigen</a:t>
            </a: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Embeddings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49519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079708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48071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01038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634809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235334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406B0D-CDB9-7342-BFE1-3BBA81393C61}" type="slidenum">
              <a:rPr lang="de-CH" smtClean="0"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152510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7DC15-C04D-1CB3-890B-138EA33C1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5199A9-35A4-5590-5899-30E1BE089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321C1C2A-6A26-296D-B475-438C70E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1C3EBF-35A5-024B-8337-1FF7CA970669}" type="datetime4">
              <a:rPr lang="de-CH" smtClean="0"/>
              <a:t>17. Juni 2026</a:t>
            </a:fld>
            <a:endParaRPr lang="en-CH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BD10F6B-B557-A7E5-61C6-27C5A0E5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Text Analysis- Svetlana Khominich, Ralph Müller, David Beer </a:t>
            </a:r>
            <a:endParaRPr lang="de-CH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B1EAC5-3DBC-BBAC-3D73-960B43BD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994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5D5CE-B38F-8EC7-E141-CF033B93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13A70-7858-FEDD-8F25-F8B1DD8092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B1A156-70EB-73B0-74CE-10899800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A8CD-6E20-1C8C-7692-C9F6A1239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E845AB-FF44-FA0C-1BAA-EDC727C7D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072982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C76A7-E5D2-B277-D8D5-4AE535674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C275-BFFC-75C3-E12C-D7BCDFEB4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421345-9123-082F-2F97-F4ABAD045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40E02-4391-BD46-B0E7-635382A657F3}" type="datetime4">
              <a:rPr lang="de-CH" smtClean="0"/>
              <a:t>17.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63B946-1FC8-F3D6-91A4-A79224736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56E29B-ED7E-D1D1-B132-F2074BEA2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60834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F8917-B246-604F-C8E2-37954CAE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966CE-9554-6845-3ABA-6A500598E5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644FB3-2B0E-7C0B-8F64-B4B08421E0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E3D00B-95A5-BABB-77D6-2200F7053F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6715BD-3BCD-B048-A677-0FC99A942057}" type="datetime4">
              <a:rPr lang="de-CH" smtClean="0"/>
              <a:t>17.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6D153-11F9-A048-6989-407E0F758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BF19B-0F21-C6CB-9869-F7E2432F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06353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0AA6F-92A7-4794-7116-F369622495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EF59F6-DA23-01C6-F853-94B70AC86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B0803B-1D3B-71C8-4B2E-F30826B3B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43242-5741-4501-83E6-6AB7BD135A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3767F3-8D55-ACCE-C1D3-8B1B9D8387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A84AA4-C041-E764-1C9A-B3F983F3A6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33D90D-DE43-734C-AE99-F68BD94FD95C}" type="datetime4">
              <a:rPr lang="de-CH" smtClean="0"/>
              <a:t>17. Juni 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C4A97-CEDC-E2BD-6F18-B02DFEA34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1DC744-76A0-B08C-ED99-B9AD55B4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49258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02AF-089F-0DE8-228A-08D34C279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15228A-BCBF-83D6-E924-C343A130B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7DC07-8BC2-F84E-8FB1-AB2E6893E256}" type="datetime4">
              <a:rPr lang="de-CH" smtClean="0"/>
              <a:t>17. Juni 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5C484-3923-0D03-6F45-6830D2D4D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97E-8A96-A8E3-0A60-5BE5C874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53703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F7F7DD-29D6-F7CB-F7AF-6D068D6AE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5E3DE-4EE6-2348-ACB8-6E5F19BEC610}" type="datetime4">
              <a:rPr lang="de-CH" smtClean="0"/>
              <a:t>17. Juni 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A90008-2B21-BFAB-DE98-AD4D71B34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F138D-6687-264E-44F0-992952DE7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594957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9EE6F-AE9D-E12E-E51A-F090BE907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76907-6080-4C73-82A3-804B48D39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2430A6-1520-CA58-CCCF-7E84882F49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38293E-E021-4682-1BA1-91AA26B0B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9C634-6B84-4143-A0D4-F8B2524245DA}" type="datetime4">
              <a:rPr lang="de-CH" smtClean="0"/>
              <a:t>17.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D3B4E-B72D-F74B-BA52-34CFB29A1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F11EC3-2279-7687-1304-01C34BE59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46722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23094-2327-9961-0FE2-CBD5D29BA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1BA88D-B6DF-4FB2-6443-D8B7B97CB8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8489C2-10F9-3826-966A-42CBBAB3C1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4A789-5279-80F7-9B6F-8676BC252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9641C-6DA2-E742-8275-6CFD523E67DF}" type="datetime4">
              <a:rPr lang="de-CH" smtClean="0"/>
              <a:t>17. Juni 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091F8-3E57-96E3-721D-698A0E159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94770-1272-9367-A304-B95DC1705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088208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9337-8CF4-A1C6-7233-34A132C0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CB1E61-2E60-7F8C-3045-081C164E40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ADACA3-9C59-3C83-75F4-97BD98FBE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C503F-E78F-6642-9C43-7F779DDA963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FAC96-6B83-2B09-4BC4-D8B1EA314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D19D4-5D04-ACBC-AE10-225FC6943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921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F453ABC-0F6D-19A2-744A-D82EAF5367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FE3D9-F35C-EDA2-D6BE-5A2E7DA128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16962-22D6-BD74-0792-A09E2C289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58EFF-D565-754D-8E1D-581A9C2ED513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787D23-D6C6-2487-AC12-07291502C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A548F-0DE0-3D8D-481B-9E2CC1FFE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973771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0C2BE6-E47D-297A-5A67-B21020715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20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FD659-4974-96ED-89FA-4D6D11FF7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4F5618-EE52-26B2-5E95-033142086E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BF76C2-678E-C049-84B9-885C068ABCCC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51B11-6BEC-8924-A7C9-FFDE38826B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3C49D-CDBD-0A0B-54B8-E0A10A25D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FD296-2B0C-4A4B-AFAC-2E3A842869F0}" type="slidenum">
              <a:rPr lang="en-CH" smtClean="0"/>
              <a:t>‹#›</a:t>
            </a:fld>
            <a:endParaRPr lang="en-CH"/>
          </a:p>
        </p:txBody>
      </p:sp>
      <p:pic>
        <p:nvPicPr>
          <p:cNvPr id="7" name="Google Shape;53;p13">
            <a:extLst>
              <a:ext uri="{FF2B5EF4-FFF2-40B4-BE49-F238E27FC236}">
                <a16:creationId xmlns:a16="http://schemas.microsoft.com/office/drawing/2014/main" id="{0BEAF865-8FBF-1BDE-85FE-30B1EC344046}"/>
              </a:ext>
            </a:extLst>
          </p:cNvPr>
          <p:cNvPicPr/>
          <p:nvPr userDrawn="1"/>
        </p:nvPicPr>
        <p:blipFill>
          <a:blip r:embed="rId13"/>
          <a:stretch/>
        </p:blipFill>
        <p:spPr>
          <a:xfrm>
            <a:off x="9355155" y="133784"/>
            <a:ext cx="1998645" cy="1083388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8" name="Google Shape;54;p13">
            <a:extLst>
              <a:ext uri="{FF2B5EF4-FFF2-40B4-BE49-F238E27FC236}">
                <a16:creationId xmlns:a16="http://schemas.microsoft.com/office/drawing/2014/main" id="{D8E9E1C7-E9AA-DB97-C7A4-1CC02DD2141E}"/>
              </a:ext>
            </a:extLst>
          </p:cNvPr>
          <p:cNvCxnSpPr>
            <a:cxnSpLocks/>
          </p:cNvCxnSpPr>
          <p:nvPr userDrawn="1"/>
        </p:nvCxnSpPr>
        <p:spPr>
          <a:xfrm>
            <a:off x="39584" y="1362579"/>
            <a:ext cx="12053455" cy="0"/>
          </a:xfrm>
          <a:prstGeom prst="straightConnector1">
            <a:avLst/>
          </a:prstGeom>
          <a:ln w="31750">
            <a:solidFill>
              <a:srgbClr val="2266AB"/>
            </a:solidFill>
            <a:round/>
          </a:ln>
        </p:spPr>
      </p:cxnSp>
    </p:spTree>
    <p:extLst>
      <p:ext uri="{BB962C8B-B14F-4D97-AF65-F5344CB8AC3E}">
        <p14:creationId xmlns:p14="http://schemas.microsoft.com/office/powerpoint/2010/main" val="1261485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zhaw.ch/muellral/housing_listing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ustinreese/usa-housing-listing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kaggle.com/datasets/muqaddasejaz/fake-reviews-datase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hyperlink" Target="13_umap_embedding_space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10601BF-ADC9-A363-8292-EB537D065D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57220"/>
            <a:ext cx="12387263" cy="8258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3DA7B6B-094E-1086-FAB4-8B71D3E5817A}"/>
              </a:ext>
            </a:extLst>
          </p:cNvPr>
          <p:cNvSpPr/>
          <p:nvPr/>
        </p:nvSpPr>
        <p:spPr>
          <a:xfrm>
            <a:off x="5820529" y="195134"/>
            <a:ext cx="6566734" cy="15840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A49C0F-DCB1-914B-6823-5E8149D7E9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1083179"/>
            <a:ext cx="6015792" cy="57292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r"/>
            <a:r>
              <a:rPr lang="en-US" sz="3600" b="1" dirty="0">
                <a:solidFill>
                  <a:schemeClr val="bg1"/>
                </a:solidFill>
              </a:rPr>
              <a:t>Amazon Product Reviews 2018</a:t>
            </a:r>
            <a:endParaRPr lang="en-US" sz="3600" b="1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CC21DC-D37B-71A0-CE15-35B1DD5F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0529" y="370915"/>
            <a:ext cx="6291259" cy="843548"/>
          </a:xfrm>
        </p:spPr>
        <p:txBody>
          <a:bodyPr>
            <a:noAutofit/>
          </a:bodyPr>
          <a:lstStyle/>
          <a:p>
            <a:pPr algn="r"/>
            <a:r>
              <a:rPr lang="en-US" sz="6600" b="1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Fake reviews</a:t>
            </a:r>
          </a:p>
        </p:txBody>
      </p:sp>
    </p:spTree>
    <p:extLst>
      <p:ext uri="{BB962C8B-B14F-4D97-AF65-F5344CB8AC3E}">
        <p14:creationId xmlns:p14="http://schemas.microsoft.com/office/powerpoint/2010/main" val="20606825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1E306-3DDF-5093-FABD-CF253EEC5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Projektidee</a:t>
            </a:r>
            <a:endParaRPr lang="en-US" dirty="0" err="1"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CE191-0049-66EA-BEF5-0422FB50F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noProof="0" dirty="0"/>
              <a:t>Datensatz F</a:t>
            </a:r>
            <a:r>
              <a:rPr lang="de-CH" dirty="0" err="1"/>
              <a:t>ake</a:t>
            </a:r>
            <a:r>
              <a:rPr lang="de-CH" dirty="0"/>
              <a:t>-Reviews </a:t>
            </a:r>
            <a:r>
              <a:rPr lang="en-CH" dirty="0"/>
              <a:t>erschliessen</a:t>
            </a:r>
            <a:endParaRPr lang="de-CH" noProof="0" dirty="0"/>
          </a:p>
          <a:p>
            <a:r>
              <a:rPr lang="de-CH" dirty="0"/>
              <a:t>Verschiedene Klassifikations-Modelle erstellen und lernen</a:t>
            </a:r>
          </a:p>
          <a:p>
            <a:r>
              <a:rPr lang="de-CH" dirty="0"/>
              <a:t>Auswertung der Erkenntnisse</a:t>
            </a:r>
          </a:p>
          <a:p>
            <a:pPr marL="0" indent="0">
              <a:buNone/>
            </a:pPr>
            <a:endParaRPr lang="de-CH" dirty="0"/>
          </a:p>
          <a:p>
            <a:endParaRPr lang="de-CH" noProof="0" dirty="0"/>
          </a:p>
          <a:p>
            <a:pPr marL="0" indent="0">
              <a:buNone/>
            </a:pPr>
            <a:r>
              <a:rPr lang="de-CH" noProof="0" dirty="0"/>
              <a:t>Projektverzeichnis </a:t>
            </a:r>
            <a:r>
              <a:rPr lang="de-CH" dirty="0">
                <a:hlinkClick r:id="rId2"/>
              </a:rPr>
              <a:t>https://github.zhaw.ch/muellral/</a:t>
            </a:r>
            <a:endParaRPr lang="de-CH" dirty="0"/>
          </a:p>
          <a:p>
            <a:pPr marL="0" indent="0">
              <a:buNone/>
            </a:pPr>
            <a:endParaRPr lang="de-CH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D0A54-FD2A-EB29-8BBA-31F1FD43C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28FCE2-1BEF-0E12-4036-175BAD1A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</a:t>
            </a:fld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DC2A3-B416-6D84-30F8-C62CDD75F6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161001B4-7ECE-4C45-821A-DC5AE6F4A031}" type="datetime4">
              <a:rPr lang="de-CH" smtClean="0"/>
              <a:t>17.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16945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E70D2-821A-24C2-6009-A7FCA2C5D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0870E-2B58-BB28-F6A3-5BDE0F53B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70000"/>
              </a:lnSpc>
            </a:pPr>
            <a:r>
              <a:rPr lang="en-CH" dirty="0"/>
              <a:t>Fake Reviews Dataset, Amazon</a:t>
            </a:r>
            <a:endParaRPr lang="en-US" dirty="0">
              <a:ea typeface="+mn-lt"/>
              <a:cs typeface="+mn-lt"/>
              <a:hlinkClick r:id="rId3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  <a:hlinkClick r:id="rId4"/>
              </a:rPr>
              <a:t>https://www.kaggle.com/datasets/muqaddasejaz/fake-reviews-dataset</a:t>
            </a:r>
            <a:endParaRPr lang="en-US" dirty="0">
              <a:ea typeface="+mn-lt"/>
              <a:cs typeface="+mn-lt"/>
            </a:endParaRP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40k </a:t>
            </a:r>
            <a:r>
              <a:rPr lang="en-US" dirty="0" err="1">
                <a:ea typeface="+mn-lt"/>
                <a:cs typeface="+mn-lt"/>
              </a:rPr>
              <a:t>labled</a:t>
            </a:r>
            <a:r>
              <a:rPr lang="en-US" dirty="0">
                <a:ea typeface="+mn-lt"/>
                <a:cs typeface="+mn-lt"/>
              </a:rPr>
              <a:t> reviews, balanced</a:t>
            </a:r>
          </a:p>
          <a:p>
            <a:pPr>
              <a:lnSpc>
                <a:spcPct val="70000"/>
              </a:lnSpc>
            </a:pPr>
            <a:r>
              <a:rPr lang="en-US" dirty="0">
                <a:ea typeface="+mn-lt"/>
                <a:cs typeface="+mn-lt"/>
              </a:rPr>
              <a:t>Features:</a:t>
            </a:r>
          </a:p>
          <a:p>
            <a:pPr lvl="1">
              <a:lnSpc>
                <a:spcPct val="70000"/>
              </a:lnSpc>
            </a:pPr>
            <a:r>
              <a:rPr lang="en-CH" dirty="0"/>
              <a:t>category, rating (1-5), label (OR, CG), text_</a:t>
            </a:r>
          </a:p>
          <a:p>
            <a:pPr>
              <a:lnSpc>
                <a:spcPct val="70000"/>
              </a:lnSpc>
            </a:pPr>
            <a:r>
              <a:rPr lang="en-CH" dirty="0"/>
              <a:t>CG wahrscheinlich mit GPT-2 von 2021 generiert</a:t>
            </a:r>
            <a:endParaRPr lang="en-US" dirty="0">
              <a:ea typeface="+mn-lt"/>
              <a:cs typeface="+mn-lt"/>
            </a:endParaRPr>
          </a:p>
          <a:p>
            <a:endParaRPr lang="de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26B9B-836B-4CB0-FA7B-9956F6C9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FE50E-B74F-0FC2-260B-BE3D7C747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3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F990416-D15A-18CE-6880-A46DC43262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B6B9814-5720-3C42-99A0-04A4812F75FC}" type="datetime4">
              <a:rPr lang="de-CH" smtClean="0"/>
              <a:t>17.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394470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E2075-DC3B-D0D5-04A4-CCB0A6995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CH" b="1" dirty="0" err="1"/>
              <a:t>Overview</a:t>
            </a:r>
            <a:r>
              <a:rPr lang="de-CH" b="1" dirty="0"/>
              <a:t> </a:t>
            </a:r>
            <a:r>
              <a:rPr lang="en-CH" b="1" dirty="0"/>
              <a:t>Classification Pipeline</a:t>
            </a:r>
            <a:endParaRPr lang="de-CH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B20BD4-ABD7-3216-CD92-6E916E04F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51346-861D-7B99-C114-37ECF012C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62CFE-14E7-0603-093B-6C4EC7414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4</a:t>
            </a:fld>
            <a:endParaRPr lang="en-CH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FDFB20B-CBE1-E201-5227-C91C5DBA0F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199" y="1232983"/>
            <a:ext cx="10424187" cy="5488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8317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191B1-3D5A-3A9E-F068-70CC4232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41E2B-DC04-EE9F-7A0E-C076F7B24D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629A9-4F7E-3839-DC35-841DA44F1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E8A32-50BC-298C-EA36-A7E45DAC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8BD8A-3690-7005-ED93-9C8C8FDB6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0311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6B855-D997-6104-4817-9B2BB872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Over all </a:t>
            </a:r>
            <a:r>
              <a:rPr lang="de-CH" dirty="0" err="1"/>
              <a:t>performance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6FC48-7807-D021-109A-B7B91C237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CH" dirty="0"/>
              <a:t>			</a:t>
            </a:r>
            <a:r>
              <a:rPr lang="de-CH" dirty="0" err="1"/>
              <a:t>accuracy</a:t>
            </a:r>
            <a:endParaRPr lang="de-CH" dirty="0"/>
          </a:p>
          <a:p>
            <a:pPr marL="0" indent="0">
              <a:buNone/>
            </a:pPr>
            <a:r>
              <a:rPr lang="de-CH" dirty="0" err="1"/>
              <a:t>xgboost</a:t>
            </a:r>
            <a:r>
              <a:rPr lang="de-CH" dirty="0"/>
              <a:t>         	0.91</a:t>
            </a:r>
          </a:p>
          <a:p>
            <a:pPr marL="0" indent="0">
              <a:buNone/>
            </a:pPr>
            <a:r>
              <a:rPr lang="de-CH" dirty="0" err="1"/>
              <a:t>class_fcnn_bge</a:t>
            </a:r>
            <a:r>
              <a:rPr lang="de-CH" dirty="0"/>
              <a:t>  	0.90</a:t>
            </a:r>
          </a:p>
          <a:p>
            <a:pPr marL="0" indent="0">
              <a:buNone/>
            </a:pPr>
            <a:r>
              <a:rPr lang="de-CH" dirty="0" err="1"/>
              <a:t>random_forest</a:t>
            </a:r>
            <a:r>
              <a:rPr lang="de-CH" dirty="0"/>
              <a:t>   	0.88</a:t>
            </a:r>
          </a:p>
          <a:p>
            <a:pPr marL="0" indent="0">
              <a:buNone/>
            </a:pPr>
            <a:r>
              <a:rPr lang="de-CH" dirty="0" err="1"/>
              <a:t>ensemble</a:t>
            </a:r>
            <a:r>
              <a:rPr lang="de-CH" dirty="0"/>
              <a:t>		0.92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0D72EC-9630-ED91-ED2B-832214775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4E51B-734E-AFBA-C645-5768258CF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92CD0-49D9-7102-0B03-FA9EF9543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6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681305E0-C8AA-9610-075A-1971BF1FDF01}"/>
              </a:ext>
            </a:extLst>
          </p:cNvPr>
          <p:cNvSpPr/>
          <p:nvPr/>
        </p:nvSpPr>
        <p:spPr>
          <a:xfrm>
            <a:off x="6007276" y="3429000"/>
            <a:ext cx="3098950" cy="1605776"/>
          </a:xfrm>
          <a:prstGeom prst="wedgeRoundRectCallout">
            <a:avLst>
              <a:gd name="adj1" fmla="val -91265"/>
              <a:gd name="adj2" fmla="val -9386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Fehler unterschiedlich verteilt und nicht systematisch gleich</a:t>
            </a:r>
          </a:p>
        </p:txBody>
      </p:sp>
    </p:spTree>
    <p:extLst>
      <p:ext uri="{BB962C8B-B14F-4D97-AF65-F5344CB8AC3E}">
        <p14:creationId xmlns:p14="http://schemas.microsoft.com/office/powerpoint/2010/main" val="4163418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601F9-3712-A85A-BD94-0336A598B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Category</a:t>
            </a:r>
            <a:r>
              <a:rPr lang="de-CH" dirty="0"/>
              <a:t>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043066-F022-788F-73BE-53A17B754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0B3EC-4B06-9C87-61A9-CAD9FD5AD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25A36-FCEE-0F5D-7F9B-85AF3364F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7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7ABFF2E-1C82-5CAF-12EF-0D98ACB52B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146" y="1022195"/>
            <a:ext cx="8753707" cy="5835805"/>
          </a:xfrm>
          <a:prstGeom prst="rect">
            <a:avLst/>
          </a:prstGeom>
        </p:spPr>
      </p:pic>
      <p:sp>
        <p:nvSpPr>
          <p:cNvPr id="3" name="Rounded Rectangular Callout 2">
            <a:extLst>
              <a:ext uri="{FF2B5EF4-FFF2-40B4-BE49-F238E27FC236}">
                <a16:creationId xmlns:a16="http://schemas.microsoft.com/office/drawing/2014/main" id="{0269E1FC-4924-E0B9-A473-5425BB3476C1}"/>
              </a:ext>
            </a:extLst>
          </p:cNvPr>
          <p:cNvSpPr/>
          <p:nvPr/>
        </p:nvSpPr>
        <p:spPr>
          <a:xfrm>
            <a:off x="8349342" y="2549224"/>
            <a:ext cx="3842658" cy="2319061"/>
          </a:xfrm>
          <a:prstGeom prst="wedgeRoundRectCallout">
            <a:avLst>
              <a:gd name="adj1" fmla="val -31704"/>
              <a:gd name="adj2" fmla="val 63262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CH" dirty="0" err="1">
                <a:solidFill>
                  <a:schemeClr val="tx1"/>
                </a:solidFill>
              </a:rPr>
              <a:t>Xgboost</a:t>
            </a:r>
            <a:r>
              <a:rPr lang="de-CH" dirty="0">
                <a:solidFill>
                  <a:schemeClr val="tx1"/>
                </a:solidFill>
              </a:rPr>
              <a:t> fast überall am besten</a:t>
            </a:r>
          </a:p>
          <a:p>
            <a:r>
              <a:rPr lang="de-CH" dirty="0" err="1">
                <a:solidFill>
                  <a:schemeClr val="tx1"/>
                </a:solidFill>
              </a:rPr>
              <a:t>Kindle_Store</a:t>
            </a:r>
            <a:r>
              <a:rPr lang="de-CH" dirty="0">
                <a:solidFill>
                  <a:schemeClr val="tx1"/>
                </a:solidFill>
              </a:rPr>
              <a:t> für FCNN ungewöhnlich einfach</a:t>
            </a:r>
          </a:p>
          <a:p>
            <a:pPr lvl="0">
              <a:defRPr/>
            </a:pPr>
            <a:r>
              <a:rPr lang="en-CH" dirty="0">
                <a:solidFill>
                  <a:schemeClr val="tx1"/>
                </a:solidFill>
              </a:rPr>
              <a:t>Sports &amp; Outdoors ist auffällig. </a:t>
            </a: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xgboost 5% besser als FCNN</a:t>
            </a:r>
          </a:p>
          <a:p>
            <a:pPr lvl="0">
              <a:defRPr/>
            </a:pPr>
            <a:r>
              <a:rPr lang="en-CH" dirty="0">
                <a:solidFill>
                  <a:schemeClr val="tx1"/>
                </a:solidFill>
                <a:sym typeface="Wingdings" pitchFamily="2" charset="2"/>
              </a:rPr>
              <a:t>Movies_and_TV für alle schwierig</a:t>
            </a:r>
            <a:endParaRPr lang="en-CH" dirty="0">
              <a:solidFill>
                <a:schemeClr val="tx1"/>
              </a:solidFill>
            </a:endParaRPr>
          </a:p>
          <a:p>
            <a:endParaRPr lang="en-CH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154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B2B-B54F-48CC-B983-3C958DF9C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Rating Analysis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A4982-B382-966E-2411-7FD3D523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060DD-2AA0-EC1A-92A4-B30FC70B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227558-E73C-C194-530F-9930FCDF8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8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CB604B5A-0347-BBDB-6D07-3F4767410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909" y="1470447"/>
            <a:ext cx="8979255" cy="5387553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77CAE02-A21C-96F7-7932-3BD3B617EF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032892"/>
              </p:ext>
            </p:extLst>
          </p:nvPr>
        </p:nvGraphicFramePr>
        <p:xfrm>
          <a:off x="9637486" y="2728686"/>
          <a:ext cx="2208605" cy="1643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11864">
                  <a:extLst>
                    <a:ext uri="{9D8B030D-6E8A-4147-A177-3AD203B41FA5}">
                      <a16:colId xmlns:a16="http://schemas.microsoft.com/office/drawing/2014/main" val="577673286"/>
                    </a:ext>
                  </a:extLst>
                </a:gridCol>
                <a:gridCol w="839635">
                  <a:extLst>
                    <a:ext uri="{9D8B030D-6E8A-4147-A177-3AD203B41FA5}">
                      <a16:colId xmlns:a16="http://schemas.microsoft.com/office/drawing/2014/main" val="2897223581"/>
                    </a:ext>
                  </a:extLst>
                </a:gridCol>
                <a:gridCol w="657106">
                  <a:extLst>
                    <a:ext uri="{9D8B030D-6E8A-4147-A177-3AD203B41FA5}">
                      <a16:colId xmlns:a16="http://schemas.microsoft.com/office/drawing/2014/main" val="194268055"/>
                    </a:ext>
                  </a:extLst>
                </a:gridCol>
              </a:tblGrid>
              <a:tr h="27397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H" sz="1200" u="none" strike="noStrike" dirty="0">
                          <a:effectLst/>
                        </a:rPr>
                        <a:t>Rating</a:t>
                      </a:r>
                      <a:endParaRPr lang="en-CH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Records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Anteil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48829924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1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2155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5%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84432608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1967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5%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2252218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3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3786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9%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83668228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4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7965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20%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85188170"/>
                  </a:ext>
                </a:extLst>
              </a:tr>
              <a:tr h="273974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5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>
                          <a:effectLst/>
                        </a:rPr>
                        <a:t>24559</a:t>
                      </a:r>
                      <a:endParaRPr lang="en-CH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200" u="none" strike="noStrike" dirty="0">
                          <a:effectLst/>
                        </a:rPr>
                        <a:t>61%</a:t>
                      </a:r>
                      <a:endParaRPr lang="en-CH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66336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392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61F95-BE2D-5BB1-0062-0ACCEB18D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Errors - Cat </a:t>
            </a:r>
            <a:r>
              <a:rPr lang="de-CH" dirty="0" err="1"/>
              <a:t>among</a:t>
            </a:r>
            <a:r>
              <a:rPr lang="de-CH" dirty="0"/>
              <a:t> all-fail </a:t>
            </a:r>
            <a:r>
              <a:rPr lang="de-CH" dirty="0" err="1"/>
              <a:t>cases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80E9D-8540-99EA-0665-5F84077C25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de-CH" dirty="0"/>
              <a:t>All </a:t>
            </a:r>
            <a:r>
              <a:rPr lang="de-CH" dirty="0" err="1"/>
              <a:t>models</a:t>
            </a:r>
            <a:r>
              <a:rPr lang="de-CH" dirty="0"/>
              <a:t> </a:t>
            </a:r>
            <a:r>
              <a:rPr lang="de-CH" dirty="0" err="1"/>
              <a:t>wrong</a:t>
            </a:r>
            <a:r>
              <a:rPr lang="de-CH" dirty="0"/>
              <a:t>: 185</a:t>
            </a:r>
          </a:p>
          <a:p>
            <a:endParaRPr lang="de-CH" dirty="0"/>
          </a:p>
          <a:p>
            <a:r>
              <a:rPr lang="de-CH" dirty="0" err="1"/>
              <a:t>category</a:t>
            </a:r>
            <a:endParaRPr lang="de-CH" dirty="0"/>
          </a:p>
          <a:p>
            <a:r>
              <a:rPr lang="de-CH" dirty="0"/>
              <a:t>Toys_and_Games_5                26</a:t>
            </a:r>
          </a:p>
          <a:p>
            <a:r>
              <a:rPr lang="de-CH" dirty="0"/>
              <a:t>Pet_Supplies_5                  22</a:t>
            </a:r>
          </a:p>
          <a:p>
            <a:r>
              <a:rPr lang="de-CH" dirty="0"/>
              <a:t>Sports_and_Outdoors_5           20</a:t>
            </a:r>
          </a:p>
          <a:p>
            <a:r>
              <a:rPr lang="de-CH" dirty="0"/>
              <a:t>Kindle_Store_5                  19</a:t>
            </a:r>
          </a:p>
          <a:p>
            <a:r>
              <a:rPr lang="de-CH" dirty="0"/>
              <a:t>Clothing_Shoes_and_Jewelry_5    19</a:t>
            </a:r>
          </a:p>
          <a:p>
            <a:r>
              <a:rPr lang="de-CH" dirty="0"/>
              <a:t>Movies_and_TV_5                 18</a:t>
            </a:r>
          </a:p>
          <a:p>
            <a:r>
              <a:rPr lang="de-CH" dirty="0"/>
              <a:t>Home_and_Kitchen_5              17</a:t>
            </a:r>
          </a:p>
          <a:p>
            <a:r>
              <a:rPr lang="de-CH" dirty="0"/>
              <a:t>Tools_and_Home_Improvement_5    17</a:t>
            </a:r>
          </a:p>
          <a:p>
            <a:r>
              <a:rPr lang="de-CH" dirty="0"/>
              <a:t>Books_5                         16</a:t>
            </a:r>
          </a:p>
          <a:p>
            <a:r>
              <a:rPr lang="de-CH" dirty="0"/>
              <a:t>Electronics_5                   11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CB8DBA-0A3A-ECA9-AE5A-B649BE473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393578-F263-6F12-A44A-D795E0A33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83A49-1ED6-DD8C-D4BF-A07ADD2BA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43710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3A41B-37A9-66BB-36C9-65705D888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Accuracy</a:t>
            </a:r>
            <a:r>
              <a:rPr lang="de-CH" dirty="0"/>
              <a:t> </a:t>
            </a:r>
            <a:r>
              <a:rPr lang="de-CH" dirty="0" err="1"/>
              <a:t>by</a:t>
            </a:r>
            <a:r>
              <a:rPr lang="de-CH" dirty="0"/>
              <a:t> Text </a:t>
            </a:r>
            <a:r>
              <a:rPr lang="de-CH" dirty="0" err="1"/>
              <a:t>Length</a:t>
            </a:r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AFB39A-7AFD-97C9-6807-41533670C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82E87C-38FE-42A3-2567-D2902DC6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9BA85-097B-7D3E-74A4-3210BA072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10</a:t>
            </a:fld>
            <a:endParaRPr lang="en-CH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369F6E4-6FC0-20AA-A685-D18A318793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330" y="1217171"/>
            <a:ext cx="11097470" cy="5548735"/>
          </a:xfrm>
          <a:prstGeom prst="rect">
            <a:avLst/>
          </a:prstGeom>
        </p:spPr>
      </p:pic>
      <p:sp>
        <p:nvSpPr>
          <p:cNvPr id="9" name="Rounded Rectangular Callout 8">
            <a:extLst>
              <a:ext uri="{FF2B5EF4-FFF2-40B4-BE49-F238E27FC236}">
                <a16:creationId xmlns:a16="http://schemas.microsoft.com/office/drawing/2014/main" id="{FDBD2C71-1D39-EF3F-15D5-07A1665810E2}"/>
              </a:ext>
            </a:extLst>
          </p:cNvPr>
          <p:cNvSpPr/>
          <p:nvPr/>
        </p:nvSpPr>
        <p:spPr>
          <a:xfrm>
            <a:off x="9639232" y="3429000"/>
            <a:ext cx="2296438" cy="1605776"/>
          </a:xfrm>
          <a:prstGeom prst="wedgeRoundRectCallout">
            <a:avLst>
              <a:gd name="adj1" fmla="val -95683"/>
              <a:gd name="adj2" fmla="val -29079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J</a:t>
            </a:r>
            <a:r>
              <a:rPr lang="en-CH" dirty="0">
                <a:solidFill>
                  <a:schemeClr val="tx1"/>
                </a:solidFill>
              </a:rPr>
              <a:t>e länger der Text, desto besser die Klassifikation…</a:t>
            </a:r>
          </a:p>
        </p:txBody>
      </p:sp>
    </p:spTree>
    <p:extLst>
      <p:ext uri="{BB962C8B-B14F-4D97-AF65-F5344CB8AC3E}">
        <p14:creationId xmlns:p14="http://schemas.microsoft.com/office/powerpoint/2010/main" val="42287672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43DC8-6B67-956D-A475-15936391A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Features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2B0117-29F3-C724-365C-BAA89CAAB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CH" dirty="0"/>
              <a:t>Textlänge</a:t>
            </a:r>
          </a:p>
          <a:p>
            <a:pPr lvl="1"/>
            <a:r>
              <a:rPr lang="en-CH" dirty="0"/>
              <a:t>char_len → Anzahl Zeichen</a:t>
            </a:r>
          </a:p>
          <a:p>
            <a:pPr lvl="1"/>
            <a:r>
              <a:rPr lang="en-CH" dirty="0"/>
              <a:t>word_len → Anzahl Wörter</a:t>
            </a:r>
          </a:p>
          <a:p>
            <a:r>
              <a:rPr lang="de-CH" dirty="0"/>
              <a:t>Satzstruktur</a:t>
            </a:r>
          </a:p>
          <a:p>
            <a:pPr lvl="1"/>
            <a:r>
              <a:rPr lang="en-CH" dirty="0"/>
              <a:t>sentence_count → Anzahl Sätze im Text</a:t>
            </a:r>
          </a:p>
          <a:p>
            <a:r>
              <a:rPr lang="de-CH" dirty="0"/>
              <a:t>Wortstruktur</a:t>
            </a:r>
          </a:p>
          <a:p>
            <a:pPr lvl="1"/>
            <a:r>
              <a:rPr lang="en-CH" dirty="0"/>
              <a:t>avg_word_len → durchschnittliche Wortlänge</a:t>
            </a:r>
          </a:p>
          <a:p>
            <a:r>
              <a:rPr lang="de-CH" dirty="0"/>
              <a:t>Satzzeichen</a:t>
            </a:r>
          </a:p>
          <a:p>
            <a:pPr lvl="1"/>
            <a:r>
              <a:rPr lang="en-CH" dirty="0"/>
              <a:t>exclamation_count → Anzahl „!“</a:t>
            </a:r>
          </a:p>
          <a:p>
            <a:pPr lvl="1"/>
            <a:r>
              <a:rPr lang="en-CH" dirty="0"/>
              <a:t>question_count → Anzahl „?“</a:t>
            </a:r>
          </a:p>
          <a:p>
            <a:r>
              <a:rPr lang="de-CH" dirty="0"/>
              <a:t>Schreibstil</a:t>
            </a:r>
          </a:p>
          <a:p>
            <a:pPr lvl="1"/>
            <a:r>
              <a:rPr lang="en-CH" dirty="0"/>
              <a:t>uppercase_ratio → Anteil Großbuchstaben im Text</a:t>
            </a:r>
          </a:p>
          <a:p>
            <a:pPr lvl="1"/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5216F-0FB5-D36B-A374-2D85908BE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E23FD-82A7-138C-BB3D-0FF03138E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E16A25-923F-A463-0205-74591BAF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26337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2805F-9EE1-5644-FCD9-ACFCDA321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H" dirty="0"/>
              <a:t>Was macht es schwer, richtig zu Klassifizieren?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9F2555-33A2-94BC-ADFE-902207060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welche Features erklären Vorhersage-Schwierigkeit? (mit RF)</a:t>
            </a:r>
          </a:p>
          <a:p>
            <a:pPr marL="0" indent="0">
              <a:buNone/>
            </a:pPr>
            <a:r>
              <a:rPr lang="en-GB" dirty="0"/>
              <a:t>Feature Importance: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>
                <a:highlight>
                  <a:srgbClr val="FFFF00"/>
                </a:highlight>
              </a:rPr>
              <a:t>avg_word_len</a:t>
            </a:r>
            <a:r>
              <a:rPr lang="en-GB" dirty="0">
                <a:highlight>
                  <a:srgbClr val="FFFF00"/>
                </a:highlight>
              </a:rPr>
              <a:t>              	28.5%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>
                <a:highlight>
                  <a:srgbClr val="FFFF00"/>
                </a:highlight>
              </a:rPr>
              <a:t>uppercase_ratio</a:t>
            </a:r>
            <a:r>
              <a:rPr lang="en-GB" dirty="0">
                <a:highlight>
                  <a:srgbClr val="FFFF00"/>
                </a:highlight>
              </a:rPr>
              <a:t>           	25.3%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>
                <a:highlight>
                  <a:srgbClr val="FFFF00"/>
                </a:highlight>
              </a:rPr>
              <a:t>char_len</a:t>
            </a:r>
            <a:r>
              <a:rPr lang="en-GB" dirty="0">
                <a:highlight>
                  <a:srgbClr val="FFFF00"/>
                </a:highlight>
              </a:rPr>
              <a:t>                  		25.1%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word_len</a:t>
            </a:r>
            <a:r>
              <a:rPr lang="en-GB" dirty="0"/>
              <a:t>                  	9.2%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sentence_count</a:t>
            </a:r>
            <a:r>
              <a:rPr lang="en-GB" dirty="0"/>
              <a:t>            	7.7%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exclamation_count</a:t>
            </a:r>
            <a:r>
              <a:rPr lang="en-GB" dirty="0"/>
              <a:t> 	3.8%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question_count</a:t>
            </a:r>
            <a:r>
              <a:rPr lang="en-GB" dirty="0"/>
              <a:t>            	0.4%</a:t>
            </a:r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E8D05-4B0C-DE8F-957A-D035CF06D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AB726F-11F4-A734-B7F5-9349EB932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DE6C6C-E49E-5A08-5EFE-57410C3D7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12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0F1D92C1-2561-182F-558C-174DBE8C0998}"/>
              </a:ext>
            </a:extLst>
          </p:cNvPr>
          <p:cNvSpPr/>
          <p:nvPr/>
        </p:nvSpPr>
        <p:spPr>
          <a:xfrm>
            <a:off x="7274951" y="3230402"/>
            <a:ext cx="4476345" cy="1786663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Schwierigkeit der Modellvorhersagen wird hauptsächlich durch einfache stilistische Eigenschaften des Textes bestimmt, insbesondere Länge, Wortstruktur und Grossschreibung.</a:t>
            </a:r>
          </a:p>
        </p:txBody>
      </p:sp>
    </p:spTree>
    <p:extLst>
      <p:ext uri="{BB962C8B-B14F-4D97-AF65-F5344CB8AC3E}">
        <p14:creationId xmlns:p14="http://schemas.microsoft.com/office/powerpoint/2010/main" val="951959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BD88F3-E0C7-ABCA-B9C9-30DB8AAE6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Korrelation Schwierigkeit /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C35EB-F541-D831-6C85-0304F0C6F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Feature			</a:t>
            </a:r>
            <a:r>
              <a:rPr lang="de-CH" dirty="0" err="1"/>
              <a:t>mean</a:t>
            </a:r>
            <a:r>
              <a:rPr lang="de-CH" dirty="0"/>
              <a:t>  	</a:t>
            </a:r>
            <a:r>
              <a:rPr lang="de-CH" dirty="0" err="1"/>
              <a:t>corr_with_difficulty</a:t>
            </a:r>
            <a:endParaRPr lang="de-CH" dirty="0"/>
          </a:p>
          <a:p>
            <a:pPr marL="0" indent="0">
              <a:buNone/>
            </a:pPr>
            <a:r>
              <a:rPr lang="de-CH" dirty="0" err="1">
                <a:highlight>
                  <a:srgbClr val="FFFF00"/>
                </a:highlight>
              </a:rPr>
              <a:t>uppercase_ratio</a:t>
            </a:r>
            <a:r>
              <a:rPr lang="de-CH" dirty="0"/>
              <a:t>      	0.029            0.061</a:t>
            </a:r>
            <a:br>
              <a:rPr lang="de-CH" dirty="0"/>
            </a:br>
            <a:r>
              <a:rPr lang="de-CH" dirty="0" err="1">
                <a:highlight>
                  <a:srgbClr val="FFFF00"/>
                </a:highlight>
              </a:rPr>
              <a:t>avg_word_len</a:t>
            </a:r>
            <a:r>
              <a:rPr lang="de-CH" dirty="0"/>
              <a:t>         	4.206            </a:t>
            </a:r>
            <a:r>
              <a:rPr lang="de-CH" dirty="0">
                <a:highlight>
                  <a:srgbClr val="FFFF00"/>
                </a:highlight>
              </a:rPr>
              <a:t>-</a:t>
            </a:r>
            <a:r>
              <a:rPr lang="de-CH" dirty="0"/>
              <a:t>0.003</a:t>
            </a:r>
            <a:br>
              <a:rPr lang="de-CH" dirty="0"/>
            </a:br>
            <a:r>
              <a:rPr lang="de-CH" dirty="0" err="1"/>
              <a:t>exclamation_count</a:t>
            </a:r>
            <a:r>
              <a:rPr lang="de-CH" dirty="0"/>
              <a:t>    	0.407            -0.027</a:t>
            </a:r>
            <a:br>
              <a:rPr lang="de-CH" dirty="0"/>
            </a:br>
            <a:r>
              <a:rPr lang="de-CH" dirty="0" err="1"/>
              <a:t>question_count</a:t>
            </a:r>
            <a:r>
              <a:rPr lang="de-CH" dirty="0"/>
              <a:t>       	0.060            -0.047</a:t>
            </a:r>
            <a:br>
              <a:rPr lang="de-CH" dirty="0"/>
            </a:br>
            <a:r>
              <a:rPr lang="de-CH" dirty="0" err="1"/>
              <a:t>sentence_count</a:t>
            </a:r>
            <a:r>
              <a:rPr lang="de-CH" dirty="0"/>
              <a:t>       	5.603            -0.191</a:t>
            </a:r>
            <a:br>
              <a:rPr lang="de-CH" dirty="0"/>
            </a:br>
            <a:r>
              <a:rPr lang="de-CH" dirty="0" err="1">
                <a:highlight>
                  <a:srgbClr val="FFFF00"/>
                </a:highlight>
              </a:rPr>
              <a:t>char_len</a:t>
            </a:r>
            <a:r>
              <a:rPr lang="de-CH" dirty="0"/>
              <a:t>           		354.598        </a:t>
            </a:r>
            <a:r>
              <a:rPr lang="de-CH" dirty="0">
                <a:highlight>
                  <a:srgbClr val="FFFF00"/>
                </a:highlight>
              </a:rPr>
              <a:t>-</a:t>
            </a:r>
            <a:r>
              <a:rPr lang="de-CH" dirty="0"/>
              <a:t>0.205</a:t>
            </a:r>
            <a:br>
              <a:rPr lang="de-CH" dirty="0"/>
            </a:br>
            <a:r>
              <a:rPr lang="de-CH" dirty="0" err="1"/>
              <a:t>word_len</a:t>
            </a:r>
            <a:r>
              <a:rPr lang="de-CH" dirty="0"/>
              <a:t>            		68.066          -0.206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DEEB3E-7BAE-1A92-A291-7728BDC75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E3E48-9BBA-9F97-FCAE-5AB32DE39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5A815-DB33-5B9D-9352-651643196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13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597F510-B8C5-CF4F-6950-F26671755087}"/>
              </a:ext>
            </a:extLst>
          </p:cNvPr>
          <p:cNvSpPr/>
          <p:nvPr/>
        </p:nvSpPr>
        <p:spPr>
          <a:xfrm>
            <a:off x="7690262" y="4720197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Pos. Korr., höherer Wert, schwieriger</a:t>
            </a:r>
          </a:p>
          <a:p>
            <a:r>
              <a:rPr lang="en-CH" dirty="0">
                <a:solidFill>
                  <a:schemeClr val="tx1"/>
                </a:solidFill>
              </a:rPr>
              <a:t>Neg. Korr., höherer Wert, einfacher</a:t>
            </a:r>
          </a:p>
        </p:txBody>
      </p:sp>
    </p:spTree>
    <p:extLst>
      <p:ext uri="{BB962C8B-B14F-4D97-AF65-F5344CB8AC3E}">
        <p14:creationId xmlns:p14="http://schemas.microsoft.com/office/powerpoint/2010/main" val="2840500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4960E-3B29-A9B1-B2E3-915A2069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Linguistic Diffic. # Named Entities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AEF8B-F803-9F49-9F6B-A8918D19F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CH" dirty="0" err="1"/>
              <a:t>Spacy</a:t>
            </a:r>
            <a:r>
              <a:rPr lang="de-CH" dirty="0"/>
              <a:t> (SW Modul)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dirty="0"/>
              <a:t>«</a:t>
            </a:r>
            <a:r>
              <a:rPr lang="en-CH" dirty="0"/>
              <a:t>I bought an iPhone from Apple for $999 in New York</a:t>
            </a:r>
            <a:r>
              <a:rPr lang="de-CH" dirty="0"/>
              <a:t>»</a:t>
            </a:r>
          </a:p>
          <a:p>
            <a:pPr marL="0" indent="0">
              <a:buNone/>
            </a:pPr>
            <a:r>
              <a:rPr lang="en-CH" dirty="0"/>
              <a:t>entities: iPhone (PRODUCT), Apple (ORG), $999 (MONEY), New York (GPE)</a:t>
            </a:r>
          </a:p>
          <a:p>
            <a:pPr marL="0" indent="0">
              <a:buNone/>
            </a:pPr>
            <a:r>
              <a:rPr lang="en-CH" dirty="0"/>
              <a:t>→ entity_count = 4</a:t>
            </a:r>
          </a:p>
          <a:p>
            <a:endParaRPr lang="en-CH" dirty="0"/>
          </a:p>
          <a:p>
            <a:pPr marL="0" indent="0">
              <a:buNone/>
            </a:pPr>
            <a:r>
              <a:rPr lang="en-CH" dirty="0"/>
              <a:t>difficulty 	count_texts 	mean_entities</a:t>
            </a:r>
          </a:p>
          <a:p>
            <a:pPr marL="0" indent="0">
              <a:buNone/>
            </a:pPr>
            <a:r>
              <a:rPr lang="en-CH" dirty="0"/>
              <a:t>0 		6489 		2.29</a:t>
            </a:r>
          </a:p>
          <a:p>
            <a:pPr marL="0" indent="0">
              <a:buNone/>
            </a:pPr>
            <a:r>
              <a:rPr lang="en-CH" dirty="0"/>
              <a:t>1 		975 		1.28</a:t>
            </a:r>
          </a:p>
          <a:p>
            <a:pPr marL="0" indent="0">
              <a:buNone/>
            </a:pPr>
            <a:r>
              <a:rPr lang="en-CH" dirty="0"/>
              <a:t>2 		438 		1.13</a:t>
            </a:r>
          </a:p>
          <a:p>
            <a:pPr marL="0" indent="0">
              <a:buNone/>
            </a:pPr>
            <a:r>
              <a:rPr lang="en-CH" dirty="0"/>
              <a:t>3 		185 		0.76</a:t>
            </a:r>
          </a:p>
          <a:p>
            <a:endParaRPr lang="en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BFCC6-A60F-F773-E7B6-076AD408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5E7A7-540E-CD57-16EA-C7D15CF2D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AF4F4-F2F6-E4A0-5908-B926D7074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14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FF7682DA-2547-898D-9C50-86B0CEA5DB22}"/>
              </a:ext>
            </a:extLst>
          </p:cNvPr>
          <p:cNvSpPr/>
          <p:nvPr/>
        </p:nvSpPr>
        <p:spPr>
          <a:xfrm>
            <a:off x="7239000" y="4553943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Texte die schwieriger sind haben weniger Named Entities</a:t>
            </a:r>
          </a:p>
        </p:txBody>
      </p:sp>
    </p:spTree>
    <p:extLst>
      <p:ext uri="{BB962C8B-B14F-4D97-AF65-F5344CB8AC3E}">
        <p14:creationId xmlns:p14="http://schemas.microsoft.com/office/powerpoint/2010/main" val="1051331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BC91B-A22C-64DC-BD1C-AE2258C95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H" dirty="0"/>
              <a:t>Ambiguität / abstrakte Wörter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568C5-BD56-8902-B92C-AEC4D1463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Nutzung eines Concreteness Lexikons (Brysbaert et al.)</a:t>
            </a:r>
          </a:p>
          <a:p>
            <a:pPr marL="0" indent="0">
              <a:buNone/>
            </a:pPr>
            <a:r>
              <a:rPr lang="en-CH" dirty="0"/>
              <a:t>Jedem Wort ist ein Wert zugeordnet (1-5)</a:t>
            </a:r>
          </a:p>
          <a:p>
            <a:pPr marL="457200" lvl="1" indent="0">
              <a:buNone/>
            </a:pPr>
            <a:r>
              <a:rPr lang="en-CH" dirty="0"/>
              <a:t>1 sehr abstrakt (idea, good, quality)</a:t>
            </a:r>
          </a:p>
          <a:p>
            <a:pPr marL="457200" lvl="1" indent="0">
              <a:buNone/>
            </a:pPr>
            <a:r>
              <a:rPr lang="en-CH" dirty="0"/>
              <a:t>5 seht konkret (dog, table)</a:t>
            </a:r>
          </a:p>
          <a:p>
            <a:pPr marL="0" indent="0">
              <a:buNone/>
            </a:pPr>
            <a:r>
              <a:rPr lang="en-CH" dirty="0"/>
              <a:t>Für jeden Text:</a:t>
            </a:r>
          </a:p>
          <a:p>
            <a:pPr lvl="1"/>
            <a:r>
              <a:rPr lang="en-CH" dirty="0"/>
              <a:t>Mittelwert aller bekannten Wörter rechnen</a:t>
            </a:r>
          </a:p>
          <a:p>
            <a:pPr marL="0" indent="0">
              <a:buNone/>
            </a:pPr>
            <a:r>
              <a:rPr lang="en-CH" dirty="0"/>
              <a:t>Interpretation</a:t>
            </a:r>
          </a:p>
          <a:p>
            <a:r>
              <a:rPr lang="en-CH" dirty="0"/>
              <a:t>Kein klarer Trend über Difficulty Klassen</a:t>
            </a:r>
          </a:p>
          <a:p>
            <a:pPr lvl="1"/>
            <a:r>
              <a:rPr lang="en-CH" dirty="0"/>
              <a:t>Werte sind sehr ähnlich über alle Klassen, ca. 2.3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518B0-8644-7024-48B9-9A01A9355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7B753-D422-8715-5D97-C7528EDF2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E51DF-DD29-B90C-700B-81EA8241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15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C4E6F392-83B7-6AD4-ADF3-A55D03F53826}"/>
              </a:ext>
            </a:extLst>
          </p:cNvPr>
          <p:cNvSpPr/>
          <p:nvPr/>
        </p:nvSpPr>
        <p:spPr>
          <a:xfrm>
            <a:off x="7628107" y="3226306"/>
            <a:ext cx="3949430" cy="132613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solidFill>
                  <a:schemeClr val="tx1"/>
                </a:solidFill>
              </a:rPr>
              <a:t>Die difficulty-Klassen lassen sich nicht über Wort-Abstraktheit (Concreteness) unterscheiden</a:t>
            </a:r>
          </a:p>
        </p:txBody>
      </p:sp>
    </p:spTree>
    <p:extLst>
      <p:ext uri="{BB962C8B-B14F-4D97-AF65-F5344CB8AC3E}">
        <p14:creationId xmlns:p14="http://schemas.microsoft.com/office/powerpoint/2010/main" val="10080571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A68025-513E-82D3-920A-BD1B006A4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Sentiment pro </a:t>
            </a:r>
            <a:r>
              <a:rPr lang="de-CH" dirty="0" err="1"/>
              <a:t>Difficulty</a:t>
            </a:r>
            <a:r>
              <a:rPr lang="de-CH" dirty="0"/>
              <a:t>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A842B-1EB6-0958-650E-A3E17C2D5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Sentiment mit </a:t>
            </a:r>
            <a:r>
              <a:rPr lang="de-CH" dirty="0" err="1"/>
              <a:t>TextBlob</a:t>
            </a:r>
            <a:r>
              <a:rPr lang="de-CH" dirty="0"/>
              <a:t> (&lt; 0 neg. &gt; 0 pos.)</a:t>
            </a:r>
          </a:p>
          <a:p>
            <a:pPr marL="0" indent="0">
              <a:buNone/>
            </a:pPr>
            <a:r>
              <a:rPr lang="en-CH" dirty="0"/>
              <a:t>difficulty 	count_texts 		mean 		median</a:t>
            </a:r>
          </a:p>
          <a:p>
            <a:pPr marL="0" indent="0">
              <a:buNone/>
            </a:pPr>
            <a:r>
              <a:rPr lang="en-CH" dirty="0"/>
              <a:t>0 		6489 			0.260 		0.251</a:t>
            </a:r>
          </a:p>
          <a:p>
            <a:pPr marL="0" indent="0">
              <a:buNone/>
            </a:pPr>
            <a:r>
              <a:rPr lang="en-CH" dirty="0"/>
              <a:t>1 		975 			0.267 		0.271</a:t>
            </a:r>
          </a:p>
          <a:p>
            <a:pPr marL="0" indent="0">
              <a:buNone/>
            </a:pPr>
            <a:r>
              <a:rPr lang="en-CH" dirty="0"/>
              <a:t>2 		438 			0.276 		0.267</a:t>
            </a:r>
          </a:p>
          <a:p>
            <a:pPr marL="0" indent="0">
              <a:buNone/>
            </a:pPr>
            <a:r>
              <a:rPr lang="en-CH" dirty="0"/>
              <a:t>3 		185 			0.338	 	0.325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62C563-97AF-F9F3-DC60-7855C4981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722B6-06FF-0D34-BB39-F3A371849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FDAF0-8E38-66DD-5E87-40BA888CB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16</a:t>
            </a:fld>
            <a:endParaRPr lang="en-CH"/>
          </a:p>
        </p:txBody>
      </p:sp>
      <p:sp>
        <p:nvSpPr>
          <p:cNvPr id="7" name="Rounded Rectangular Callout 6">
            <a:extLst>
              <a:ext uri="{FF2B5EF4-FFF2-40B4-BE49-F238E27FC236}">
                <a16:creationId xmlns:a16="http://schemas.microsoft.com/office/drawing/2014/main" id="{B4AB5B99-64A9-59C6-3A91-96117C4260EB}"/>
              </a:ext>
            </a:extLst>
          </p:cNvPr>
          <p:cNvSpPr/>
          <p:nvPr/>
        </p:nvSpPr>
        <p:spPr>
          <a:xfrm>
            <a:off x="6635885" y="5018470"/>
            <a:ext cx="3949430" cy="956587"/>
          </a:xfrm>
          <a:prstGeom prst="wedgeRoundRectCallout">
            <a:avLst>
              <a:gd name="adj1" fmla="val -63468"/>
              <a:gd name="adj2" fmla="val 5765"/>
              <a:gd name="adj3" fmla="val 16667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dirty="0">
                <a:solidFill>
                  <a:schemeClr val="tx1"/>
                </a:solidFill>
              </a:rPr>
              <a:t>L</a:t>
            </a:r>
            <a:r>
              <a:rPr lang="en-CH" dirty="0">
                <a:solidFill>
                  <a:schemeClr val="tx1"/>
                </a:solidFill>
              </a:rPr>
              <a:t>eichter positiver Trend</a:t>
            </a:r>
          </a:p>
          <a:p>
            <a:r>
              <a:rPr lang="en-CH" dirty="0">
                <a:solidFill>
                  <a:schemeClr val="tx1"/>
                </a:solidFill>
              </a:rPr>
              <a:t>Sentiment steigt, Schwierigkeit wird höher</a:t>
            </a:r>
          </a:p>
        </p:txBody>
      </p:sp>
    </p:spTree>
    <p:extLst>
      <p:ext uri="{BB962C8B-B14F-4D97-AF65-F5344CB8AC3E}">
        <p14:creationId xmlns:p14="http://schemas.microsoft.com/office/powerpoint/2010/main" val="2363137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CBD-11AF-2890-1169-632E0CC0E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Embeddings</a:t>
            </a:r>
            <a:r>
              <a:rPr lang="de-CH" dirty="0"/>
              <a:t> PCA, TSNE, UMAP…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06B76-DF3F-E4FB-2F4E-64E02221D2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Transformer:</a:t>
            </a:r>
            <a:br>
              <a:rPr lang="de-CH" dirty="0"/>
            </a:br>
            <a:r>
              <a:rPr lang="en-CH" dirty="0"/>
              <a:t>BAAI/bge-base-en-v1.5</a:t>
            </a:r>
          </a:p>
          <a:p>
            <a:r>
              <a:rPr lang="de-CH" dirty="0"/>
              <a:t>Dimensionsreduktion und </a:t>
            </a:r>
            <a:br>
              <a:rPr lang="de-CH" dirty="0"/>
            </a:br>
            <a:r>
              <a:rPr lang="de-CH" dirty="0"/>
              <a:t>Darstellung auf Plot</a:t>
            </a:r>
          </a:p>
          <a:p>
            <a:r>
              <a:rPr lang="en-CH" dirty="0"/>
              <a:t>Rot/Blau gemischt</a:t>
            </a:r>
            <a:br>
              <a:rPr lang="en-CH" dirty="0"/>
            </a:br>
            <a:r>
              <a:rPr lang="en-CH" dirty="0"/>
              <a:t>Fehler verteilen sich</a:t>
            </a:r>
            <a:br>
              <a:rPr lang="en-CH" dirty="0"/>
            </a:br>
            <a:r>
              <a:rPr lang="en-CH" dirty="0"/>
              <a:t>gleichmässig im </a:t>
            </a:r>
            <a:br>
              <a:rPr lang="en-CH" dirty="0"/>
            </a:br>
            <a:r>
              <a:rPr lang="en-CH" dirty="0"/>
              <a:t>Semantikraum.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BCD11-496E-279C-80E2-9DC9FA51A4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B0016-9F80-20DE-FA2D-B80DB12CC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82D64-4F04-F2A9-97F9-560FF9B3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17</a:t>
            </a:fld>
            <a:endParaRPr lang="en-CH"/>
          </a:p>
        </p:txBody>
      </p:sp>
      <p:pic>
        <p:nvPicPr>
          <p:cNvPr id="7" name="Content Placeholder 7">
            <a:extLst>
              <a:ext uri="{FF2B5EF4-FFF2-40B4-BE49-F238E27FC236}">
                <a16:creationId xmlns:a16="http://schemas.microsoft.com/office/drawing/2014/main" id="{81AEA709-25D3-E7BE-DF3F-434693A89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943" y="1300389"/>
            <a:ext cx="6923314" cy="519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2951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8824-902F-A7CD-96B9-5B0EC43F48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UMAP 2D Embedding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BAFA41-5C8E-4B46-968F-1CD7745333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hlinkClick r:id="rId2"/>
              </a:rPr>
              <a:t>13_umap_embedding_space.html</a:t>
            </a:r>
            <a:endParaRPr lang="de-CH" dirty="0"/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0B57C-48FE-2C3C-75B7-23E5374B52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E66B3B6E-7E09-0142-B960-3BF02BFEB55D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8B4F4E-D000-78BE-BBE0-29BBD4F9D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72F66-EA16-EBB6-D9B1-3C25CCF5E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18</a:t>
            </a:fld>
            <a:endParaRPr lang="en-CH"/>
          </a:p>
        </p:txBody>
      </p:sp>
      <p:pic>
        <p:nvPicPr>
          <p:cNvPr id="7" name="Content Placeholder 5" descr="Monitor with solid fill">
            <a:extLst>
              <a:ext uri="{FF2B5EF4-FFF2-40B4-BE49-F238E27FC236}">
                <a16:creationId xmlns:a16="http://schemas.microsoft.com/office/drawing/2014/main" id="{8FC53FA5-1E52-97FF-70EB-5F1038E70B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35076" y="1930475"/>
            <a:ext cx="4448220" cy="4448220"/>
          </a:xfrm>
          <a:prstGeom prst="rect">
            <a:avLst/>
          </a:prstGeom>
        </p:spPr>
      </p:pic>
      <p:pic>
        <p:nvPicPr>
          <p:cNvPr id="8" name="Graphic 7" descr="Bar chart with solid fill">
            <a:extLst>
              <a:ext uri="{FF2B5EF4-FFF2-40B4-BE49-F238E27FC236}">
                <a16:creationId xmlns:a16="http://schemas.microsoft.com/office/drawing/2014/main" id="{C195EA94-734A-61CB-F2A0-09F4D8343B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9186" y="3210470"/>
            <a:ext cx="1497994" cy="1462114"/>
          </a:xfrm>
          <a:prstGeom prst="rect">
            <a:avLst/>
          </a:prstGeom>
        </p:spPr>
      </p:pic>
      <p:pic>
        <p:nvPicPr>
          <p:cNvPr id="9" name="Graphic 8" descr="Home with solid fill">
            <a:extLst>
              <a:ext uri="{FF2B5EF4-FFF2-40B4-BE49-F238E27FC236}">
                <a16:creationId xmlns:a16="http://schemas.microsoft.com/office/drawing/2014/main" id="{922C611A-E30F-7252-CCB9-455407456B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66932" y="2950639"/>
            <a:ext cx="1732509" cy="1721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779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26D70-64F2-2CBB-9408-A1AAE4BD4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Fake </a:t>
            </a:r>
            <a:r>
              <a:rPr lang="de-CH" dirty="0" err="1"/>
              <a:t>Escaped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4FE7E-4A83-61AF-CB5B-91FD6EAFB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CH" dirty="0"/>
              <a:t> </a:t>
            </a:r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endParaRPr lang="de-CH" dirty="0"/>
          </a:p>
          <a:p>
            <a:pPr marL="0" indent="0">
              <a:buNone/>
            </a:pPr>
            <a:r>
              <a:rPr lang="de-CH" sz="2000" dirty="0"/>
              <a:t>* </a:t>
            </a:r>
            <a:r>
              <a:rPr lang="en-CH" sz="2000" dirty="0"/>
              <a:t>Anzahl verschiedener Wörter / Gesamtanzahl Wörter</a:t>
            </a:r>
            <a:endParaRPr lang="de-CH" sz="20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1C101-F90E-6C42-DA68-44ED9406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9BB55-3D3E-FA78-89D1-7705DCE8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16C2A-4B52-16DD-7677-CBE8D692A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19</a:t>
            </a:fld>
            <a:endParaRPr lang="en-CH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84C2DC1-4D95-EB37-1200-A277C34763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473918"/>
              </p:ext>
            </p:extLst>
          </p:nvPr>
        </p:nvGraphicFramePr>
        <p:xfrm>
          <a:off x="838200" y="1825625"/>
          <a:ext cx="10396331" cy="302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9108">
                  <a:extLst>
                    <a:ext uri="{9D8B030D-6E8A-4147-A177-3AD203B41FA5}">
                      <a16:colId xmlns:a16="http://schemas.microsoft.com/office/drawing/2014/main" val="3486785280"/>
                    </a:ext>
                  </a:extLst>
                </a:gridCol>
                <a:gridCol w="853178">
                  <a:extLst>
                    <a:ext uri="{9D8B030D-6E8A-4147-A177-3AD203B41FA5}">
                      <a16:colId xmlns:a16="http://schemas.microsoft.com/office/drawing/2014/main" val="376518378"/>
                    </a:ext>
                  </a:extLst>
                </a:gridCol>
                <a:gridCol w="1868797">
                  <a:extLst>
                    <a:ext uri="{9D8B030D-6E8A-4147-A177-3AD203B41FA5}">
                      <a16:colId xmlns:a16="http://schemas.microsoft.com/office/drawing/2014/main" val="469667482"/>
                    </a:ext>
                  </a:extLst>
                </a:gridCol>
                <a:gridCol w="1645248">
                  <a:extLst>
                    <a:ext uri="{9D8B030D-6E8A-4147-A177-3AD203B41FA5}">
                      <a16:colId xmlns:a16="http://schemas.microsoft.com/office/drawing/2014/main" val="789048287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020578800"/>
                    </a:ext>
                  </a:extLst>
                </a:gridCol>
              </a:tblGrid>
              <a:tr h="347449">
                <a:tc>
                  <a:txBody>
                    <a:bodyPr/>
                    <a:lstStyle/>
                    <a:p>
                      <a:endParaRPr lang="de-C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Echt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erkannt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 </a:t>
                      </a:r>
                      <a:r>
                        <a:rPr lang="de-CH" dirty="0" err="1"/>
                        <a:t>escaped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7291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word_len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74.4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 err="1"/>
                        <a:t>escaped</a:t>
                      </a:r>
                      <a:r>
                        <a:rPr lang="de-CH" dirty="0"/>
                        <a:t> halb so lang wie </a:t>
                      </a:r>
                      <a:r>
                        <a:rPr lang="de-CH" dirty="0" err="1"/>
                        <a:t>catched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4676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sentence_count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dito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087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Typ </a:t>
                      </a:r>
                      <a:r>
                        <a:rPr lang="de-CH" dirty="0" err="1"/>
                        <a:t>token</a:t>
                      </a:r>
                      <a:r>
                        <a:rPr lang="de-CH" dirty="0"/>
                        <a:t> </a:t>
                      </a:r>
                      <a:r>
                        <a:rPr lang="de-CH" dirty="0" err="1"/>
                        <a:t>ratio</a:t>
                      </a:r>
                      <a:r>
                        <a:rPr lang="de-CH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eine höhere lexikarische Diversität als erkannte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9450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entity_count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1.05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weniger konkrete Namen, Orte, Produktreferenzen als echte Reviews</a:t>
                      </a:r>
                      <a:endParaRPr lang="de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2161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 err="1"/>
                        <a:t>adj_noun_ratio</a:t>
                      </a:r>
                      <a:endParaRPr lang="de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Fakes haben mehr Adjektive relativ zu Nomen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0163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5220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5A39A-B9C7-52B8-0C76-B73B31FF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Fakes </a:t>
            </a:r>
            <a:r>
              <a:rPr lang="de-CH" dirty="0" err="1"/>
              <a:t>escaped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5F708-D335-EA27-E186-CD37D377A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Die entkommenen Fakes sind kurz, strukturlos und inhaltsleer aber sprachlich nicht arm. Sie klingen wie ein echter Mensch, der wenig sagt. </a:t>
            </a:r>
            <a:r>
              <a:rPr lang="en-CH" dirty="0">
                <a:sym typeface="Wingdings" pitchFamily="2" charset="2"/>
              </a:rPr>
              <a:t></a:t>
            </a:r>
            <a:r>
              <a:rPr lang="en-CH" dirty="0"/>
              <a:t> das macht sie schwer erkennbar: sie imitieren echte kurze Reviews.</a:t>
            </a:r>
          </a:p>
          <a:p>
            <a:r>
              <a:rPr lang="en-CH" dirty="0"/>
              <a:t>Ein weiteres Modell könnte gezielt bei Reviews unter 40 Wörtern mit wenig Entities ansetzen. Dort liegt der blinde Fleck.</a:t>
            </a:r>
          </a:p>
          <a:p>
            <a:endParaRPr lang="de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A52CD-DE9E-7F21-8A52-E94B17876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5D7BA-2F5F-8E43-91CB-647D382EDB87}" type="datetime4">
              <a:rPr lang="de-CH" smtClean="0"/>
              <a:t>17. Juni 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BF818-976F-B6E2-9262-D66B94DA7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A5BC2-8A89-A19B-F2B9-3B13B38F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1FD296-2B0C-4A4B-AFAC-2E3A842869F0}" type="slidenum">
              <a:rPr lang="en-CH" smtClean="0"/>
              <a:t>20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61313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F640F-0583-663B-488C-719C4101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3C89-52C3-55C1-E592-460A7BF25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 err="1"/>
              <a:t>Lessons</a:t>
            </a:r>
            <a:r>
              <a:rPr lang="de-CH" dirty="0"/>
              <a:t> </a:t>
            </a:r>
            <a:r>
              <a:rPr lang="de-CH" dirty="0" err="1"/>
              <a:t>learned</a:t>
            </a:r>
            <a:endParaRPr lang="de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F0B65-5BC9-92BA-3863-40AAECB965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de-CH" dirty="0"/>
              <a:t>«klassische» Modelle trennen die Klassen zu ca. 90% richtig</a:t>
            </a:r>
          </a:p>
          <a:p>
            <a:pPr lvl="1"/>
            <a:r>
              <a:rPr lang="de-CH" dirty="0"/>
              <a:t>kürzere Texte sind schwieriger zu klassifizieren</a:t>
            </a:r>
          </a:p>
          <a:p>
            <a:pPr lvl="1"/>
            <a:r>
              <a:rPr lang="de-CH" dirty="0"/>
              <a:t>Bessere Ratings sind schwieriger vorherzusagen</a:t>
            </a:r>
          </a:p>
          <a:p>
            <a:pPr lvl="1"/>
            <a:r>
              <a:rPr lang="de-CH" dirty="0"/>
              <a:t>Der Datensatz scheint nicht besonders gute Fakes zu enthalten</a:t>
            </a:r>
          </a:p>
          <a:p>
            <a:pPr marL="457200" lvl="1" indent="0">
              <a:buNone/>
            </a:pPr>
            <a:endParaRPr lang="de-CH" dirty="0"/>
          </a:p>
          <a:p>
            <a:r>
              <a:rPr lang="de-CH" dirty="0"/>
              <a:t>LLM </a:t>
            </a:r>
            <a:r>
              <a:rPr lang="de-CH" dirty="0">
                <a:sym typeface="Wingdings" pitchFamily="2" charset="2"/>
              </a:rPr>
              <a:t></a:t>
            </a:r>
          </a:p>
          <a:p>
            <a:pPr lvl="1"/>
            <a:r>
              <a:rPr lang="de-CH" dirty="0">
                <a:sym typeface="Wingdings" pitchFamily="2" charset="2"/>
              </a:rPr>
              <a:t>Pro / </a:t>
            </a:r>
            <a:r>
              <a:rPr lang="de-CH" dirty="0" err="1">
                <a:sym typeface="Wingdings" pitchFamily="2" charset="2"/>
              </a:rPr>
              <a:t>Cons</a:t>
            </a:r>
            <a:endParaRPr lang="de-CH" dirty="0"/>
          </a:p>
          <a:p>
            <a:pPr lvl="1"/>
            <a:endParaRPr lang="de-CH" dirty="0"/>
          </a:p>
          <a:p>
            <a:pPr lvl="1"/>
            <a:endParaRPr lang="de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C5934E-B049-8F00-977D-1AF08C7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Text Analysis- Svetlana Khominich, Ralph Müller, David Beer </a:t>
            </a:r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B57C1C-5954-2D86-3BB9-3D0CCC63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221FD296-2B0C-4A4B-AFAC-2E3A842869F0}" type="slidenum">
              <a:rPr lang="en-CH" smtClean="0"/>
              <a:t>21</a:t>
            </a:fld>
            <a:endParaRPr lang="en-CH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1696BC9-3254-9262-8B07-49964788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D2E1766-9633-E747-BBED-E122B4E61F73}" type="datetime4">
              <a:rPr lang="de-CH" smtClean="0"/>
              <a:t>17. Juni 2026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08055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662</TotalTime>
  <Words>1352</Words>
  <Application>Microsoft Macintosh PowerPoint</Application>
  <PresentationFormat>Widescreen</PresentationFormat>
  <Paragraphs>260</Paragraphs>
  <Slides>21</Slides>
  <Notes>9</Notes>
  <HiddenSlides>3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  <vt:variant>
        <vt:lpstr>Custom Shows</vt:lpstr>
      </vt:variant>
      <vt:variant>
        <vt:i4>2</vt:i4>
      </vt:variant>
    </vt:vector>
  </HeadingPairs>
  <TitlesOfParts>
    <vt:vector size="28" baseType="lpstr">
      <vt:lpstr>Arial</vt:lpstr>
      <vt:lpstr>Calibri</vt:lpstr>
      <vt:lpstr>Calibri Light</vt:lpstr>
      <vt:lpstr>Wingdings</vt:lpstr>
      <vt:lpstr>Office Theme</vt:lpstr>
      <vt:lpstr>Fake reviews</vt:lpstr>
      <vt:lpstr>Projektidee</vt:lpstr>
      <vt:lpstr>Dataset</vt:lpstr>
      <vt:lpstr>Overview Classification Pipeline</vt:lpstr>
      <vt:lpstr>LLM</vt:lpstr>
      <vt:lpstr>Over all performance</vt:lpstr>
      <vt:lpstr>Category Analysis</vt:lpstr>
      <vt:lpstr>Rating Analysis</vt:lpstr>
      <vt:lpstr>Errors - Cat among all-fail cases</vt:lpstr>
      <vt:lpstr>Accuracy by Text Length</vt:lpstr>
      <vt:lpstr>Features Engineering</vt:lpstr>
      <vt:lpstr>Was macht es schwer, richtig zu Klassifizieren?</vt:lpstr>
      <vt:lpstr>Korrelation Schwierigkeit / Features</vt:lpstr>
      <vt:lpstr>Linguistic Diffic. # Named Entities</vt:lpstr>
      <vt:lpstr>Ambiguität / abstrakte Wörter</vt:lpstr>
      <vt:lpstr>Sentiment pro Difficulty Level</vt:lpstr>
      <vt:lpstr>Embeddings PCA, TSNE, UMAP…</vt:lpstr>
      <vt:lpstr>UMAP 2D Embedding Space</vt:lpstr>
      <vt:lpstr>Fake Escaped</vt:lpstr>
      <vt:lpstr>Fakes escaped</vt:lpstr>
      <vt:lpstr>Lessons learned</vt:lpstr>
      <vt:lpstr>Machine-Leaning</vt:lpstr>
      <vt:lpstr>Streaming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dave b</dc:creator>
  <cp:lastModifiedBy>dave b</cp:lastModifiedBy>
  <cp:revision>68</cp:revision>
  <cp:lastPrinted>2026-04-12T14:11:19Z</cp:lastPrinted>
  <dcterms:created xsi:type="dcterms:W3CDTF">2025-12-15T17:20:02Z</dcterms:created>
  <dcterms:modified xsi:type="dcterms:W3CDTF">2026-06-17T20:18:42Z</dcterms:modified>
</cp:coreProperties>
</file>