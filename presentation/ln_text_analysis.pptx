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3"/>
  </p:notesMasterIdLst>
  <p:sldIdLst>
    <p:sldId id="281" r:id="rId2"/>
    <p:sldId id="257" r:id="rId3"/>
    <p:sldId id="282" r:id="rId4"/>
    <p:sldId id="285" r:id="rId5"/>
    <p:sldId id="286" r:id="rId6"/>
    <p:sldId id="287" r:id="rId7"/>
    <p:sldId id="288" r:id="rId8"/>
    <p:sldId id="289" r:id="rId9"/>
    <p:sldId id="290" r:id="rId10"/>
    <p:sldId id="291" r:id="rId11"/>
    <p:sldId id="293" r:id="rId12"/>
    <p:sldId id="294" r:id="rId13"/>
    <p:sldId id="295" r:id="rId14"/>
    <p:sldId id="296" r:id="rId15"/>
    <p:sldId id="297" r:id="rId16"/>
    <p:sldId id="300" r:id="rId17"/>
    <p:sldId id="298" r:id="rId18"/>
    <p:sldId id="299" r:id="rId19"/>
    <p:sldId id="275" r:id="rId20"/>
    <p:sldId id="301" r:id="rId21"/>
    <p:sldId id="280" r:id="rId22"/>
  </p:sldIdLst>
  <p:sldSz cx="12192000" cy="6858000"/>
  <p:notesSz cx="6858000" cy="9144000"/>
  <p:custShowLst>
    <p:custShow name="Machine-Leaning" id="0">
      <p:sldLst>
        <p:sld r:id="rId2"/>
        <p:sld r:id="rId3"/>
        <p:sld r:id="rId4"/>
        <p:sld r:id="rId20"/>
        <p:sld r:id="rId22"/>
      </p:sldLst>
    </p:custShow>
    <p:custShow name="Streaming" id="1">
      <p:sldLst>
        <p:sld r:id="rId2"/>
        <p:sld r:id="rId3"/>
        <p:sld r:id="rId4"/>
      </p:sldLst>
    </p:custShow>
  </p:custShowLst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753E7D-366A-488D-C832-8B7107CF577D}" v="57" dt="2026-04-10T08:25:57.4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588"/>
    <p:restoredTop sz="80251"/>
  </p:normalViewPr>
  <p:slideViewPr>
    <p:cSldViewPr snapToGrid="0">
      <p:cViewPr varScale="1">
        <p:scale>
          <a:sx n="122" d="100"/>
          <a:sy n="122" d="100"/>
        </p:scale>
        <p:origin x="312" y="200"/>
      </p:cViewPr>
      <p:guideLst/>
    </p:cSldViewPr>
  </p:slideViewPr>
  <p:outlineViewPr>
    <p:cViewPr>
      <p:scale>
        <a:sx n="33" d="100"/>
        <a:sy n="33" d="100"/>
      </p:scale>
      <p:origin x="0" y="-1808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9" d="100"/>
          <a:sy n="79" d="100"/>
        </p:scale>
        <p:origin x="4080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184886-9C14-F646-94FD-4C50F4C24EDB}" type="datetimeFigureOut">
              <a:rPr lang="de-CH" smtClean="0"/>
              <a:t>15.06.26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406B0D-CDB9-7342-BFE1-3BBA81393C6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43723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 err="1"/>
              <a:t>notes</a:t>
            </a:r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90407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154003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 Modell: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 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Herkunft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BAAI = Beijing Academy of Artificial Intelligence, open source via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HuggingFace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  110M Parameter, max.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Sequenzlänge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512 Tokens,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trainiert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großen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Paardaten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Contrastive Learning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arxiv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  v1.5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bringt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verbesserte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Similarity-Score-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Verteilung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stärkere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Retrieval-Performance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gegenüber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dem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Vorgänger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OpenRouter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 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Einsatzgebiete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Retrieval,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Klassifikation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Clustering, Semantic Search Together AI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  War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zeitweise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State-of-the-Art auf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dem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MTEB Leaderboard (Platz 1, Juli 2024)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arxiv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Für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diesen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Use Case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solide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Wahl: die Embeddings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bereits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L2-normalisiert,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StandardScaler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nötig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kommentiert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und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gelu-Aktivierung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harmoniert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gut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SBERT-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artigen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Embeddings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495192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079708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 err="1"/>
              <a:t>Xgboost</a:t>
            </a:r>
            <a:r>
              <a:rPr lang="de-CH" dirty="0"/>
              <a:t> fast überall am besten</a:t>
            </a:r>
          </a:p>
          <a:p>
            <a:r>
              <a:rPr lang="de-CH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Kindle_Store</a:t>
            </a:r>
            <a:r>
              <a:rPr lang="de-CH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für FCNN </a:t>
            </a:r>
            <a:r>
              <a:rPr lang="de-CH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umgewöhnlich</a:t>
            </a:r>
            <a:r>
              <a:rPr lang="de-CH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einfach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H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Sports &amp; Outdoors ist auffällig </a:t>
            </a:r>
            <a:r>
              <a:rPr lang="en-CH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sym typeface="Wingdings" pitchFamily="2" charset="2"/>
              </a:rPr>
              <a:t> xgboost 5% besser als FCNN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H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sym typeface="Wingdings" pitchFamily="2" charset="2"/>
              </a:rPr>
              <a:t>Movies_and_TV für alle schwierig</a:t>
            </a:r>
            <a:endParaRPr lang="en-CH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480711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14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634809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235334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20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010388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7DC15-C04D-1CB3-890B-138EA33C18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5199A9-35A4-5590-5899-30E1BE089F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321C1C2A-6A26-296D-B475-438C70EF0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C3EBF-35A5-024B-8337-1FF7CA970669}" type="datetime4">
              <a:rPr lang="de-CH" smtClean="0"/>
              <a:t>15. Juni 2026</a:t>
            </a:fld>
            <a:endParaRPr lang="en-CH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BD10F6B-B557-A7E5-61C6-27C5A0E5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Text Analysis- Svetlana Khominich, Ralph Müller, David Beer </a:t>
            </a:r>
            <a:endParaRPr lang="de-CH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FB1EAC5-3DBC-BBAC-3D73-960B43BDE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10994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5D5CE-B38F-8EC7-E141-CF033B93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D13A70-7858-FEDD-8F25-F8B1DD8092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B1A156-70EB-73B0-74CE-108998002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FBA8CD-6E20-1C8C-7692-C9F6A1239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E845AB-FF44-FA0C-1BAA-EDC727C7D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0729827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C76A7-E5D2-B277-D8D5-4AE535674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B9C275-BFFC-75C3-E12C-D7BCDFEB47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421345-9123-082F-2F97-F4ABAD045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40E02-4391-BD46-B0E7-635382A657F3}" type="datetime4">
              <a:rPr lang="de-CH" smtClean="0"/>
              <a:t>15. Juni 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63B946-1FC8-F3D6-91A4-A79224736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56E29B-ED7E-D1D1-B132-F2074BEA2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60834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F8917-B246-604F-C8E2-37954CAE1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8966CE-9554-6845-3ABA-6A500598E5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644FB3-2B0E-7C0B-8F64-B4B08421E0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E3D00B-95A5-BABB-77D6-2200F7053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6715BD-3BCD-B048-A677-0FC99A942057}" type="datetime4">
              <a:rPr lang="de-CH" smtClean="0"/>
              <a:t>15. Juni 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16D153-11F9-A048-6989-407E0F758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FBF19B-0F21-C6CB-9869-F7E2432F4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06353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0AA6F-92A7-4794-7116-F36962249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EF59F6-DA23-01C6-F853-94B70AC86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B0803B-1D3B-71C8-4B2E-F30826B3BE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43242-5741-4501-83E6-6AB7BD135A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3767F3-8D55-ACCE-C1D3-8B1B9D8387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A84AA4-C041-E764-1C9A-B3F983F3A6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3D90D-DE43-734C-AE99-F68BD94FD95C}" type="datetime4">
              <a:rPr lang="de-CH" smtClean="0"/>
              <a:t>15. Juni 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6C4A97-CEDC-E2BD-6F18-B02DFEA34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1DC744-76A0-B08C-ED99-B9AD55B49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449258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7502AF-089F-0DE8-228A-08D34C279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15228A-BCBF-83D6-E924-C343A130B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47DC07-8BC2-F84E-8FB1-AB2E6893E256}" type="datetime4">
              <a:rPr lang="de-CH" smtClean="0"/>
              <a:t>15. Juni 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65C484-3923-0D03-6F45-6830D2D4D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97E-8A96-A8E3-0A60-5BE5C874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537033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F7F7DD-29D6-F7CB-F7AF-6D068D6AE8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5E3DE-4EE6-2348-ACB8-6E5F19BEC610}" type="datetime4">
              <a:rPr lang="de-CH" smtClean="0"/>
              <a:t>15. Juni 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A90008-2B21-BFAB-DE98-AD4D71B34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5F138D-6687-264E-44F0-992952DE7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594957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9EE6F-AE9D-E12E-E51A-F090BE907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76907-6080-4C73-82A3-804B48D39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2430A6-1520-CA58-CCCF-7E84882F49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38293E-E021-4682-1BA1-91AA26B0B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69C634-6B84-4143-A0D4-F8B2524245DA}" type="datetime4">
              <a:rPr lang="de-CH" smtClean="0"/>
              <a:t>15. Juni 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D3B4E-B72D-F74B-BA52-34CFB29A1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F11EC3-2279-7687-1304-01C34BE59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46722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23094-2327-9961-0FE2-CBD5D29BA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1BA88D-B6DF-4FB2-6443-D8B7B97CB8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8489C2-10F9-3826-966A-42CBBAB3C1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4A789-5279-80F7-9B6F-8676BC252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9641C-6DA2-E742-8275-6CFD523E67DF}" type="datetime4">
              <a:rPr lang="de-CH" smtClean="0"/>
              <a:t>15. Juni 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2091F8-3E57-96E3-721D-698A0E159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94770-1272-9367-A304-B95DC1705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708820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39337-8CF4-A1C6-7233-34A132C08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CB1E61-2E60-7F8C-3045-081C164E40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ADACA3-9C59-3C83-75F4-97BD98FBE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BC503F-E78F-6642-9C43-7F779DDA963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FAC96-6B83-2B09-4BC4-D8B1EA314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D19D4-5D04-ACBC-AE10-225FC6943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921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453ABC-0F6D-19A2-744A-D82EAF5367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AFE3D9-F35C-EDA2-D6BE-5A2E7DA128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B16962-22D6-BD74-0792-A09E2C289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58EFF-D565-754D-8E1D-581A9C2ED513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787D23-D6C6-2487-AC12-07291502C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A548F-0DE0-3D8D-481B-9E2CC1FFE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973771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0C2BE6-E47D-297A-5A67-B21020715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20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AFD659-4974-96ED-89FA-4D6D11FF76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4F5618-EE52-26B2-5E95-033142086E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BF76C2-678E-C049-84B9-885C068ABCCC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51B11-6BEC-8924-A7C9-FFDE38826B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03C49D-CDBD-0A0B-54B8-E0A10A25D2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  <p:pic>
        <p:nvPicPr>
          <p:cNvPr id="7" name="Google Shape;53;p13">
            <a:extLst>
              <a:ext uri="{FF2B5EF4-FFF2-40B4-BE49-F238E27FC236}">
                <a16:creationId xmlns:a16="http://schemas.microsoft.com/office/drawing/2014/main" id="{0BEAF865-8FBF-1BDE-85FE-30B1EC344046}"/>
              </a:ext>
            </a:extLst>
          </p:cNvPr>
          <p:cNvPicPr/>
          <p:nvPr userDrawn="1"/>
        </p:nvPicPr>
        <p:blipFill>
          <a:blip r:embed="rId13"/>
          <a:stretch/>
        </p:blipFill>
        <p:spPr>
          <a:xfrm>
            <a:off x="9355155" y="133784"/>
            <a:ext cx="1998645" cy="1083388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8" name="Google Shape;54;p13">
            <a:extLst>
              <a:ext uri="{FF2B5EF4-FFF2-40B4-BE49-F238E27FC236}">
                <a16:creationId xmlns:a16="http://schemas.microsoft.com/office/drawing/2014/main" id="{D8E9E1C7-E9AA-DB97-C7A4-1CC02DD2141E}"/>
              </a:ext>
            </a:extLst>
          </p:cNvPr>
          <p:cNvCxnSpPr>
            <a:cxnSpLocks/>
          </p:cNvCxnSpPr>
          <p:nvPr userDrawn="1"/>
        </p:nvCxnSpPr>
        <p:spPr>
          <a:xfrm>
            <a:off x="39584" y="1362579"/>
            <a:ext cx="12053455" cy="0"/>
          </a:xfrm>
          <a:prstGeom prst="straightConnector1">
            <a:avLst/>
          </a:prstGeom>
          <a:ln w="31750">
            <a:solidFill>
              <a:srgbClr val="2266AB"/>
            </a:solidFill>
            <a:round/>
          </a:ln>
        </p:spPr>
      </p:cxnSp>
    </p:spTree>
    <p:extLst>
      <p:ext uri="{BB962C8B-B14F-4D97-AF65-F5344CB8AC3E}">
        <p14:creationId xmlns:p14="http://schemas.microsoft.com/office/powerpoint/2010/main" val="1261485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zhaw.ch/muellral/housing_listings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austinreese/usa-housing-listing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kaggle.com/datasets/muqaddasejaz/fake-reviews-dataset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hyperlink" Target="13_umap_embedding_space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10601BF-ADC9-A363-8292-EB537D065D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57220"/>
            <a:ext cx="12387263" cy="82581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3DA7B6B-094E-1086-FAB4-8B71D3E5817A}"/>
              </a:ext>
            </a:extLst>
          </p:cNvPr>
          <p:cNvSpPr/>
          <p:nvPr/>
        </p:nvSpPr>
        <p:spPr>
          <a:xfrm>
            <a:off x="5820529" y="195134"/>
            <a:ext cx="6566734" cy="15840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49C0F-DCB1-914B-6823-5E8149D7E9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0" y="1083179"/>
            <a:ext cx="6015792" cy="572920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r"/>
            <a:r>
              <a:rPr lang="en-US" sz="3600" b="1" dirty="0">
                <a:solidFill>
                  <a:schemeClr val="bg1"/>
                </a:solidFill>
              </a:rPr>
              <a:t>Amazon Product Reviews 2018</a:t>
            </a:r>
            <a:endParaRPr lang="en-US" sz="3600" b="1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CC21DC-D37B-71A0-CE15-35B1DD5F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20529" y="370915"/>
            <a:ext cx="6291259" cy="843548"/>
          </a:xfrm>
        </p:spPr>
        <p:txBody>
          <a:bodyPr>
            <a:noAutofit/>
          </a:bodyPr>
          <a:lstStyle/>
          <a:p>
            <a:pPr algn="r"/>
            <a:r>
              <a:rPr lang="en-US" sz="66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Fake reviews</a:t>
            </a:r>
          </a:p>
        </p:txBody>
      </p:sp>
    </p:spTree>
    <p:extLst>
      <p:ext uri="{BB962C8B-B14F-4D97-AF65-F5344CB8AC3E}">
        <p14:creationId xmlns:p14="http://schemas.microsoft.com/office/powerpoint/2010/main" val="20606825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1E306-3DDF-5093-FABD-CF253EEC5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 err="1"/>
              <a:t>Projektidee</a:t>
            </a:r>
            <a:endParaRPr lang="en-US" dirty="0" err="1">
              <a:ea typeface="Calibri Light"/>
              <a:cs typeface="Calibri Ligh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CE191-0049-66EA-BEF5-0422FB50FE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CH" noProof="0" dirty="0"/>
              <a:t>Datensatz F</a:t>
            </a:r>
            <a:r>
              <a:rPr lang="de-CH" dirty="0" err="1"/>
              <a:t>ake</a:t>
            </a:r>
            <a:r>
              <a:rPr lang="de-CH" dirty="0"/>
              <a:t>-Reviews </a:t>
            </a:r>
            <a:r>
              <a:rPr lang="en-CH" dirty="0"/>
              <a:t>erschliessen</a:t>
            </a:r>
            <a:endParaRPr lang="de-CH" noProof="0" dirty="0"/>
          </a:p>
          <a:p>
            <a:r>
              <a:rPr lang="de-CH" dirty="0"/>
              <a:t>Verschiedene Klassifikations-Modelle erstellen und lernen</a:t>
            </a:r>
          </a:p>
          <a:p>
            <a:r>
              <a:rPr lang="de-CH" dirty="0"/>
              <a:t>Auswertung der Erkenntnisse</a:t>
            </a:r>
          </a:p>
          <a:p>
            <a:pPr marL="0" indent="0">
              <a:buNone/>
            </a:pPr>
            <a:endParaRPr lang="de-CH" dirty="0"/>
          </a:p>
          <a:p>
            <a:endParaRPr lang="de-CH" noProof="0" dirty="0"/>
          </a:p>
          <a:p>
            <a:pPr marL="0" indent="0">
              <a:buNone/>
            </a:pPr>
            <a:r>
              <a:rPr lang="de-CH" noProof="0" dirty="0"/>
              <a:t>Projektverzeichnis </a:t>
            </a:r>
            <a:r>
              <a:rPr lang="de-CH" dirty="0">
                <a:hlinkClick r:id="rId2"/>
              </a:rPr>
              <a:t>https://github.zhaw.ch/muellral/</a:t>
            </a:r>
            <a:endParaRPr lang="de-CH" dirty="0"/>
          </a:p>
          <a:p>
            <a:pPr marL="0" indent="0">
              <a:buNone/>
            </a:pPr>
            <a:endParaRPr lang="de-CH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D0A54-FD2A-EB29-8BBA-31F1FD43C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28FCE2-1BEF-0E12-4036-175BAD1A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21FD296-2B0C-4A4B-AFAC-2E3A842869F0}" type="slidenum">
              <a:rPr lang="en-CH" smtClean="0"/>
              <a:t>2</a:t>
            </a:fld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4DC2A3-B416-6D84-30F8-C62CDD75F6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161001B4-7ECE-4C45-821A-DC5AE6F4A031}" type="datetime4">
              <a:rPr lang="de-CH" smtClean="0"/>
              <a:t>15. Juni 2026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16945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E70D2-821A-24C2-6009-A7FCA2C5D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/>
              <a:t>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90870E-2B58-BB28-F6A3-5BDE0F53B2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70000"/>
              </a:lnSpc>
            </a:pPr>
            <a:r>
              <a:rPr lang="en-CH" dirty="0"/>
              <a:t>Fake Reviews Dataset, Amazon</a:t>
            </a:r>
            <a:endParaRPr lang="en-US" dirty="0">
              <a:ea typeface="+mn-lt"/>
              <a:cs typeface="+mn-lt"/>
              <a:hlinkClick r:id="rId3"/>
            </a:endParaRPr>
          </a:p>
          <a:p>
            <a:pPr>
              <a:lnSpc>
                <a:spcPct val="70000"/>
              </a:lnSpc>
            </a:pPr>
            <a:r>
              <a:rPr lang="en-US" dirty="0">
                <a:ea typeface="+mn-lt"/>
                <a:cs typeface="+mn-lt"/>
                <a:hlinkClick r:id="rId4"/>
              </a:rPr>
              <a:t>https://www.kaggle.com/datasets/muqaddasejaz/fake-reviews-dataset</a:t>
            </a:r>
            <a:endParaRPr lang="en-US" dirty="0">
              <a:ea typeface="+mn-lt"/>
              <a:cs typeface="+mn-lt"/>
            </a:endParaRPr>
          </a:p>
          <a:p>
            <a:pPr>
              <a:lnSpc>
                <a:spcPct val="70000"/>
              </a:lnSpc>
            </a:pPr>
            <a:r>
              <a:rPr lang="en-US" dirty="0">
                <a:ea typeface="+mn-lt"/>
                <a:cs typeface="+mn-lt"/>
              </a:rPr>
              <a:t>40k </a:t>
            </a:r>
            <a:r>
              <a:rPr lang="en-US" dirty="0" err="1">
                <a:ea typeface="+mn-lt"/>
                <a:cs typeface="+mn-lt"/>
              </a:rPr>
              <a:t>labled</a:t>
            </a:r>
            <a:r>
              <a:rPr lang="en-US" dirty="0">
                <a:ea typeface="+mn-lt"/>
                <a:cs typeface="+mn-lt"/>
              </a:rPr>
              <a:t> reviews, balanced</a:t>
            </a:r>
          </a:p>
          <a:p>
            <a:pPr>
              <a:lnSpc>
                <a:spcPct val="70000"/>
              </a:lnSpc>
            </a:pPr>
            <a:r>
              <a:rPr lang="en-US" dirty="0">
                <a:ea typeface="+mn-lt"/>
                <a:cs typeface="+mn-lt"/>
              </a:rPr>
              <a:t>Features:</a:t>
            </a:r>
          </a:p>
          <a:p>
            <a:pPr lvl="1">
              <a:lnSpc>
                <a:spcPct val="70000"/>
              </a:lnSpc>
            </a:pPr>
            <a:r>
              <a:rPr lang="en-CH" dirty="0"/>
              <a:t>category, rating (1-5), label (OR, CG), text_</a:t>
            </a:r>
          </a:p>
          <a:p>
            <a:pPr>
              <a:lnSpc>
                <a:spcPct val="70000"/>
              </a:lnSpc>
            </a:pPr>
            <a:r>
              <a:rPr lang="en-CH" dirty="0"/>
              <a:t>CG wahrscheinlich mit GPT-2 von 2021 generiert</a:t>
            </a:r>
          </a:p>
          <a:p>
            <a:pPr lvl="1">
              <a:lnSpc>
                <a:spcPct val="70000"/>
              </a:lnSpc>
            </a:pPr>
            <a:endParaRPr lang="en-US" dirty="0">
              <a:ea typeface="+mn-lt"/>
              <a:cs typeface="+mn-lt"/>
            </a:endParaRPr>
          </a:p>
          <a:p>
            <a:endParaRPr lang="de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F26B9B-836B-4CB0-FA7B-9956F6C9E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FE50E-B74F-0FC2-260B-BE3D7C747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21FD296-2B0C-4A4B-AFAC-2E3A842869F0}" type="slidenum">
              <a:rPr lang="en-CH" smtClean="0"/>
              <a:t>3</a:t>
            </a:fld>
            <a:endParaRPr lang="en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F990416-D15A-18CE-6880-A46DC43262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5B6B9814-5720-3C42-99A0-04A4812F75FC}" type="datetime4">
              <a:rPr lang="de-CH" smtClean="0"/>
              <a:t>15. Juni 2026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94470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E2075-DC3B-D0D5-04A4-CCB0A6995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CH" b="1" dirty="0" err="1"/>
              <a:t>Overview</a:t>
            </a:r>
            <a:r>
              <a:rPr lang="de-CH" b="1" dirty="0"/>
              <a:t> </a:t>
            </a:r>
            <a:r>
              <a:rPr lang="en-CH" b="1" dirty="0"/>
              <a:t>Classification Pipeline</a:t>
            </a:r>
            <a:endParaRPr lang="de-CH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B20BD4-ABD7-3216-CD92-6E916E04F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51346-861D-7B99-C114-37ECF012C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62CFE-14E7-0603-093B-6C4EC7414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4</a:t>
            </a:fld>
            <a:endParaRPr lang="en-CH"/>
          </a:p>
        </p:txBody>
      </p:sp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79CA1111-CE3E-2048-48EC-70EDC3BAA3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33751" y="1421995"/>
            <a:ext cx="10324498" cy="5436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8317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48E2-DCF5-2EAA-4C23-C5D366640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Output bei allen…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A8E83C-D92D-2BE8-9B4A-395F74B8F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Learning Curves, Train und Val</a:t>
            </a:r>
          </a:p>
          <a:p>
            <a:r>
              <a:rPr lang="en-CH" dirty="0"/>
              <a:t>Konfusionsmatrix</a:t>
            </a:r>
          </a:p>
          <a:p>
            <a:r>
              <a:rPr lang="en-CH" dirty="0"/>
              <a:t>Classification Report, korrekte/falsche Predictions</a:t>
            </a:r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96AA63-75C2-A3DC-7738-AA93BBA3D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A6EFEE-7C9C-7F4D-3333-9861F0F9A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DD79F4-ED4C-2FEC-0050-140D09BDD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5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9227010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6B855-D997-6104-4817-9B2BB8723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Over all </a:t>
            </a:r>
            <a:r>
              <a:rPr lang="de-CH" dirty="0" err="1"/>
              <a:t>performance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6FC48-7807-D021-109A-B7B91C237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CH" dirty="0"/>
              <a:t>			</a:t>
            </a:r>
            <a:r>
              <a:rPr lang="de-CH" dirty="0" err="1"/>
              <a:t>accuracy</a:t>
            </a:r>
            <a:endParaRPr lang="de-CH" dirty="0"/>
          </a:p>
          <a:p>
            <a:pPr marL="0" indent="0">
              <a:buNone/>
            </a:pPr>
            <a:r>
              <a:rPr lang="de-CH" dirty="0" err="1"/>
              <a:t>xgboost</a:t>
            </a:r>
            <a:r>
              <a:rPr lang="de-CH" dirty="0"/>
              <a:t>         	0.91</a:t>
            </a:r>
          </a:p>
          <a:p>
            <a:pPr marL="0" indent="0">
              <a:buNone/>
            </a:pPr>
            <a:r>
              <a:rPr lang="de-CH" dirty="0" err="1"/>
              <a:t>class_fcnn_bge</a:t>
            </a:r>
            <a:r>
              <a:rPr lang="de-CH" dirty="0"/>
              <a:t>  	0.90</a:t>
            </a:r>
          </a:p>
          <a:p>
            <a:pPr marL="0" indent="0">
              <a:buNone/>
            </a:pPr>
            <a:r>
              <a:rPr lang="de-CH" dirty="0" err="1"/>
              <a:t>random_forest</a:t>
            </a:r>
            <a:r>
              <a:rPr lang="de-CH" dirty="0"/>
              <a:t>   	0.88</a:t>
            </a:r>
          </a:p>
          <a:p>
            <a:pPr marL="0" indent="0">
              <a:buNone/>
            </a:pPr>
            <a:r>
              <a:rPr lang="de-CH" dirty="0" err="1"/>
              <a:t>ensemble</a:t>
            </a:r>
            <a:r>
              <a:rPr lang="de-CH" dirty="0"/>
              <a:t>		0.92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D72EC-9630-ED91-ED2B-832214775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B4E51B-734E-AFBA-C645-5768258CF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92CD0-49D9-7102-0B03-FA9EF9543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6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681305E0-C8AA-9610-075A-1971BF1FDF01}"/>
              </a:ext>
            </a:extLst>
          </p:cNvPr>
          <p:cNvSpPr/>
          <p:nvPr/>
        </p:nvSpPr>
        <p:spPr>
          <a:xfrm>
            <a:off x="7693572" y="3429000"/>
            <a:ext cx="3098950" cy="1605776"/>
          </a:xfrm>
          <a:prstGeom prst="wedgeRoundRectCallout">
            <a:avLst>
              <a:gd name="adj1" fmla="val -131118"/>
              <a:gd name="adj2" fmla="val -9386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solidFill>
                  <a:schemeClr val="tx1"/>
                </a:solidFill>
              </a:rPr>
              <a:t>Fehler unterschiedlich verteilt und nicht systematisch gleich</a:t>
            </a:r>
          </a:p>
        </p:txBody>
      </p:sp>
    </p:spTree>
    <p:extLst>
      <p:ext uri="{BB962C8B-B14F-4D97-AF65-F5344CB8AC3E}">
        <p14:creationId xmlns:p14="http://schemas.microsoft.com/office/powerpoint/2010/main" val="4163418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601F9-3712-A85A-BD94-0336A598B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Category</a:t>
            </a:r>
            <a:r>
              <a:rPr lang="de-CH" dirty="0"/>
              <a:t> Analysis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043066-F022-788F-73BE-53A17B754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0B3EC-4B06-9C87-61A9-CAD9FD5AD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25A36-FCEE-0F5D-7F9B-85AF3364F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7</a:t>
            </a:fld>
            <a:endParaRPr lang="en-CH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7ABFF2E-1C82-5CAF-12EF-0D98ACB52B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19146" y="1022195"/>
            <a:ext cx="8753707" cy="5835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1541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5BB2B-B54F-48CC-B983-3C958DF9C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Rating Analysis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DA4982-B382-966E-2411-7FD3D5239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E060DD-2AA0-EC1A-92A4-B30FC70BB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27558-E73C-C194-530F-9930FCDF8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8</a:t>
            </a:fld>
            <a:endParaRPr lang="en-CH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B604B5A-0347-BBDB-6D07-3F47674108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50380" y="1333922"/>
            <a:ext cx="8979255" cy="5387553"/>
          </a:xfrm>
          <a:prstGeom prst="rect">
            <a:avLst/>
          </a:prstGeom>
        </p:spPr>
      </p:pic>
      <p:sp>
        <p:nvSpPr>
          <p:cNvPr id="10" name="Rounded Rectangular Callout 9">
            <a:extLst>
              <a:ext uri="{FF2B5EF4-FFF2-40B4-BE49-F238E27FC236}">
                <a16:creationId xmlns:a16="http://schemas.microsoft.com/office/drawing/2014/main" id="{DF4B14F1-B8F1-5DA7-CA9B-B3D2A4F16A82}"/>
              </a:ext>
            </a:extLst>
          </p:cNvPr>
          <p:cNvSpPr/>
          <p:nvPr/>
        </p:nvSpPr>
        <p:spPr>
          <a:xfrm>
            <a:off x="2776653" y="4282068"/>
            <a:ext cx="2029522" cy="1605776"/>
          </a:xfrm>
          <a:prstGeom prst="wedgeRoundRectCallout">
            <a:avLst>
              <a:gd name="adj1" fmla="val 80855"/>
              <a:gd name="adj2" fmla="val 48867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solidFill>
                  <a:schemeClr val="tx1"/>
                </a:solidFill>
              </a:rPr>
              <a:t>1 </a:t>
            </a:r>
            <a:r>
              <a:rPr lang="en-CH" dirty="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lang="en-CH" dirty="0">
                <a:solidFill>
                  <a:schemeClr val="tx1"/>
                </a:solidFill>
              </a:rPr>
              <a:t>5%</a:t>
            </a:r>
          </a:p>
          <a:p>
            <a:r>
              <a:rPr lang="en-CH" dirty="0">
                <a:solidFill>
                  <a:schemeClr val="tx1"/>
                </a:solidFill>
              </a:rPr>
              <a:t>2 </a:t>
            </a:r>
            <a:r>
              <a:rPr lang="en-CH" dirty="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lang="en-CH" dirty="0">
                <a:solidFill>
                  <a:schemeClr val="tx1"/>
                </a:solidFill>
              </a:rPr>
              <a:t>5%</a:t>
            </a:r>
          </a:p>
          <a:p>
            <a:r>
              <a:rPr lang="en-CH" dirty="0">
                <a:solidFill>
                  <a:schemeClr val="tx1"/>
                </a:solidFill>
              </a:rPr>
              <a:t>3 </a:t>
            </a:r>
            <a:r>
              <a:rPr lang="en-CH" dirty="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lang="en-CH" dirty="0">
                <a:solidFill>
                  <a:schemeClr val="tx1"/>
                </a:solidFill>
              </a:rPr>
              <a:t>9%</a:t>
            </a:r>
          </a:p>
          <a:p>
            <a:r>
              <a:rPr lang="en-CH" dirty="0">
                <a:solidFill>
                  <a:schemeClr val="tx1"/>
                </a:solidFill>
              </a:rPr>
              <a:t>4 </a:t>
            </a:r>
            <a:r>
              <a:rPr lang="en-CH" dirty="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lang="en-CH" dirty="0">
                <a:solidFill>
                  <a:schemeClr val="tx1"/>
                </a:solidFill>
              </a:rPr>
              <a:t>20%</a:t>
            </a:r>
          </a:p>
          <a:p>
            <a:r>
              <a:rPr lang="en-CH" dirty="0">
                <a:solidFill>
                  <a:schemeClr val="tx1"/>
                </a:solidFill>
              </a:rPr>
              <a:t>5 </a:t>
            </a:r>
            <a:r>
              <a:rPr lang="en-CH" dirty="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lang="en-CH" dirty="0">
                <a:solidFill>
                  <a:schemeClr val="tx1"/>
                </a:solidFill>
              </a:rPr>
              <a:t>61%</a:t>
            </a:r>
          </a:p>
        </p:txBody>
      </p:sp>
    </p:spTree>
    <p:extLst>
      <p:ext uri="{BB962C8B-B14F-4D97-AF65-F5344CB8AC3E}">
        <p14:creationId xmlns:p14="http://schemas.microsoft.com/office/powerpoint/2010/main" val="24643924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61F95-BE2D-5BB1-0062-0ACCEB18D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Errors - Cat </a:t>
            </a:r>
            <a:r>
              <a:rPr lang="de-CH" dirty="0" err="1"/>
              <a:t>among</a:t>
            </a:r>
            <a:r>
              <a:rPr lang="de-CH" dirty="0"/>
              <a:t> all-fail </a:t>
            </a:r>
            <a:r>
              <a:rPr lang="de-CH" dirty="0" err="1"/>
              <a:t>cases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80E9D-8540-99EA-0665-5F84077C25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de-CH" dirty="0"/>
              <a:t>All </a:t>
            </a:r>
            <a:r>
              <a:rPr lang="de-CH" dirty="0" err="1"/>
              <a:t>models</a:t>
            </a:r>
            <a:r>
              <a:rPr lang="de-CH" dirty="0"/>
              <a:t> </a:t>
            </a:r>
            <a:r>
              <a:rPr lang="de-CH" dirty="0" err="1"/>
              <a:t>wrong</a:t>
            </a:r>
            <a:r>
              <a:rPr lang="de-CH" dirty="0"/>
              <a:t>: 185</a:t>
            </a:r>
          </a:p>
          <a:p>
            <a:endParaRPr lang="de-CH" dirty="0"/>
          </a:p>
          <a:p>
            <a:r>
              <a:rPr lang="de-CH" dirty="0" err="1"/>
              <a:t>category</a:t>
            </a:r>
            <a:endParaRPr lang="de-CH" dirty="0"/>
          </a:p>
          <a:p>
            <a:r>
              <a:rPr lang="de-CH" dirty="0"/>
              <a:t>Toys_and_Games_5                26</a:t>
            </a:r>
          </a:p>
          <a:p>
            <a:r>
              <a:rPr lang="de-CH" dirty="0"/>
              <a:t>Pet_Supplies_5                  22</a:t>
            </a:r>
          </a:p>
          <a:p>
            <a:r>
              <a:rPr lang="de-CH" dirty="0"/>
              <a:t>Sports_and_Outdoors_5           20</a:t>
            </a:r>
          </a:p>
          <a:p>
            <a:r>
              <a:rPr lang="de-CH" dirty="0"/>
              <a:t>Kindle_Store_5                  19</a:t>
            </a:r>
          </a:p>
          <a:p>
            <a:r>
              <a:rPr lang="de-CH" dirty="0"/>
              <a:t>Clothing_Shoes_and_Jewelry_5    19</a:t>
            </a:r>
          </a:p>
          <a:p>
            <a:r>
              <a:rPr lang="de-CH" dirty="0"/>
              <a:t>Movies_and_TV_5                 18</a:t>
            </a:r>
          </a:p>
          <a:p>
            <a:r>
              <a:rPr lang="de-CH" dirty="0"/>
              <a:t>Home_and_Kitchen_5              17</a:t>
            </a:r>
          </a:p>
          <a:p>
            <a:r>
              <a:rPr lang="de-CH" dirty="0"/>
              <a:t>Tools_and_Home_Improvement_5    17</a:t>
            </a:r>
          </a:p>
          <a:p>
            <a:r>
              <a:rPr lang="de-CH" dirty="0"/>
              <a:t>Books_5                         16</a:t>
            </a:r>
          </a:p>
          <a:p>
            <a:r>
              <a:rPr lang="de-CH" dirty="0"/>
              <a:t>Electronics_5                   11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CB8DBA-0A3A-ECA9-AE5A-B649BE473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393578-F263-6F12-A44A-D795E0A33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83A49-1ED6-DD8C-D4BF-A07ADD2BA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9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43710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3A41B-37A9-66BB-36C9-65705D888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Accuracy</a:t>
            </a:r>
            <a:r>
              <a:rPr lang="de-CH" dirty="0"/>
              <a:t> </a:t>
            </a:r>
            <a:r>
              <a:rPr lang="de-CH" dirty="0" err="1"/>
              <a:t>by</a:t>
            </a:r>
            <a:r>
              <a:rPr lang="de-CH" dirty="0"/>
              <a:t> Text </a:t>
            </a:r>
            <a:r>
              <a:rPr lang="de-CH" dirty="0" err="1"/>
              <a:t>Length</a:t>
            </a:r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AFB39A-7AFD-97C9-6807-41533670C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82E87C-38FE-42A3-2567-D2902DC6F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9BA85-097B-7D3E-74A4-3210BA072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10</a:t>
            </a:fld>
            <a:endParaRPr lang="en-CH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369F6E4-6FC0-20AA-A685-D18A318793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6330" y="1217171"/>
            <a:ext cx="11097470" cy="5548735"/>
          </a:xfrm>
          <a:prstGeom prst="rect">
            <a:avLst/>
          </a:prstGeom>
        </p:spPr>
      </p:pic>
      <p:sp>
        <p:nvSpPr>
          <p:cNvPr id="9" name="Rounded Rectangular Callout 8">
            <a:extLst>
              <a:ext uri="{FF2B5EF4-FFF2-40B4-BE49-F238E27FC236}">
                <a16:creationId xmlns:a16="http://schemas.microsoft.com/office/drawing/2014/main" id="{FDBD2C71-1D39-EF3F-15D5-07A1665810E2}"/>
              </a:ext>
            </a:extLst>
          </p:cNvPr>
          <p:cNvSpPr/>
          <p:nvPr/>
        </p:nvSpPr>
        <p:spPr>
          <a:xfrm>
            <a:off x="9465013" y="4564170"/>
            <a:ext cx="2296438" cy="1605776"/>
          </a:xfrm>
          <a:prstGeom prst="wedgeRoundRectCallout">
            <a:avLst>
              <a:gd name="adj1" fmla="val -95051"/>
              <a:gd name="adj2" fmla="val -48060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chemeClr val="tx1"/>
                </a:solidFill>
              </a:rPr>
              <a:t>J</a:t>
            </a:r>
            <a:r>
              <a:rPr lang="en-CH" dirty="0">
                <a:solidFill>
                  <a:schemeClr val="tx1"/>
                </a:solidFill>
              </a:rPr>
              <a:t>e länger der Text, desto besser die Klassifikation…</a:t>
            </a:r>
          </a:p>
        </p:txBody>
      </p:sp>
    </p:spTree>
    <p:extLst>
      <p:ext uri="{BB962C8B-B14F-4D97-AF65-F5344CB8AC3E}">
        <p14:creationId xmlns:p14="http://schemas.microsoft.com/office/powerpoint/2010/main" val="42287672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43DC8-6B67-956D-A475-15936391A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Features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B0117-29F3-C724-365C-BAA89CAAB4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CH" dirty="0"/>
              <a:t>Textlänge</a:t>
            </a:r>
          </a:p>
          <a:p>
            <a:pPr lvl="1"/>
            <a:r>
              <a:rPr lang="en-CH" dirty="0"/>
              <a:t>char_len → Anzahl Zeichen</a:t>
            </a:r>
          </a:p>
          <a:p>
            <a:pPr lvl="1"/>
            <a:r>
              <a:rPr lang="en-CH" dirty="0"/>
              <a:t>word_len → Anzahl Wörter</a:t>
            </a:r>
          </a:p>
          <a:p>
            <a:r>
              <a:rPr lang="de-CH" dirty="0"/>
              <a:t>Satzstruktur</a:t>
            </a:r>
          </a:p>
          <a:p>
            <a:pPr lvl="1"/>
            <a:r>
              <a:rPr lang="en-CH" dirty="0"/>
              <a:t>sentence_count → Anzahl Sätze im Text</a:t>
            </a:r>
          </a:p>
          <a:p>
            <a:r>
              <a:rPr lang="de-CH" dirty="0"/>
              <a:t>Wortstruktur</a:t>
            </a:r>
          </a:p>
          <a:p>
            <a:pPr lvl="1"/>
            <a:r>
              <a:rPr lang="en-CH" dirty="0"/>
              <a:t>avg_word_len → durchschnittliche Wortlänge</a:t>
            </a:r>
          </a:p>
          <a:p>
            <a:r>
              <a:rPr lang="de-CH" dirty="0"/>
              <a:t>Satzzeichen</a:t>
            </a:r>
          </a:p>
          <a:p>
            <a:pPr lvl="1"/>
            <a:r>
              <a:rPr lang="en-CH" dirty="0"/>
              <a:t>exclamation_count → Anzahl „!“</a:t>
            </a:r>
          </a:p>
          <a:p>
            <a:pPr lvl="1"/>
            <a:r>
              <a:rPr lang="en-CH" dirty="0"/>
              <a:t>question_count → Anzahl „?“</a:t>
            </a:r>
          </a:p>
          <a:p>
            <a:r>
              <a:rPr lang="de-CH" dirty="0"/>
              <a:t>Schreibstil</a:t>
            </a:r>
          </a:p>
          <a:p>
            <a:pPr lvl="1"/>
            <a:r>
              <a:rPr lang="en-CH" dirty="0"/>
              <a:t>uppercase_ratio → Anteil Großbuchstaben im Text</a:t>
            </a:r>
          </a:p>
          <a:p>
            <a:pPr lvl="1"/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A5216F-0FB5-D36B-A374-2D85908BE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EE23FD-82A7-138C-BB3D-0FF03138E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16A25-923F-A463-0205-74591BAF3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26337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D88F3-E0C7-ABCA-B9C9-30DB8AAE6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Korrelation Schwierigkeit /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C35EB-F541-D831-6C85-0304F0C6F6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CH" dirty="0"/>
              <a:t>Feature			</a:t>
            </a:r>
            <a:r>
              <a:rPr lang="de-CH" dirty="0" err="1"/>
              <a:t>mean</a:t>
            </a:r>
            <a:r>
              <a:rPr lang="de-CH" dirty="0"/>
              <a:t>  	</a:t>
            </a:r>
            <a:r>
              <a:rPr lang="de-CH" dirty="0" err="1"/>
              <a:t>corr_with_difficulty</a:t>
            </a:r>
            <a:endParaRPr lang="de-CH" dirty="0"/>
          </a:p>
          <a:p>
            <a:pPr marL="0" indent="0">
              <a:buNone/>
            </a:pPr>
            <a:r>
              <a:rPr lang="de-CH" dirty="0" err="1"/>
              <a:t>uppercase_ratio</a:t>
            </a:r>
            <a:r>
              <a:rPr lang="de-CH" dirty="0"/>
              <a:t>      	0.029            0.061</a:t>
            </a:r>
            <a:br>
              <a:rPr lang="de-CH" dirty="0"/>
            </a:br>
            <a:r>
              <a:rPr lang="de-CH" dirty="0" err="1"/>
              <a:t>avg_word_len</a:t>
            </a:r>
            <a:r>
              <a:rPr lang="de-CH" dirty="0"/>
              <a:t>         	4.206            -0.003</a:t>
            </a:r>
            <a:br>
              <a:rPr lang="de-CH" dirty="0"/>
            </a:br>
            <a:r>
              <a:rPr lang="de-CH" dirty="0" err="1"/>
              <a:t>exclamation_count</a:t>
            </a:r>
            <a:r>
              <a:rPr lang="de-CH" dirty="0"/>
              <a:t>    	0.407            -0.027</a:t>
            </a:r>
            <a:br>
              <a:rPr lang="de-CH" dirty="0"/>
            </a:br>
            <a:r>
              <a:rPr lang="de-CH" dirty="0" err="1"/>
              <a:t>question_count</a:t>
            </a:r>
            <a:r>
              <a:rPr lang="de-CH" dirty="0"/>
              <a:t>       	0.060            -0.047</a:t>
            </a:r>
            <a:br>
              <a:rPr lang="de-CH" dirty="0"/>
            </a:br>
            <a:r>
              <a:rPr lang="de-CH" dirty="0" err="1"/>
              <a:t>sentence_count</a:t>
            </a:r>
            <a:r>
              <a:rPr lang="de-CH" dirty="0"/>
              <a:t>       	5.603            -0.191</a:t>
            </a:r>
            <a:br>
              <a:rPr lang="de-CH" dirty="0"/>
            </a:br>
            <a:r>
              <a:rPr lang="de-CH" dirty="0" err="1"/>
              <a:t>char_len</a:t>
            </a:r>
            <a:r>
              <a:rPr lang="de-CH" dirty="0"/>
              <a:t>           		354.598        -0.205</a:t>
            </a:r>
            <a:br>
              <a:rPr lang="de-CH" dirty="0"/>
            </a:br>
            <a:r>
              <a:rPr lang="de-CH" dirty="0" err="1"/>
              <a:t>word_len</a:t>
            </a:r>
            <a:r>
              <a:rPr lang="de-CH" dirty="0"/>
              <a:t>            		68.066          -0.206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DEEB3E-7BAE-1A92-A291-7728BDC75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E3E48-9BBA-9F97-FCAE-5AB32DE39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B5A815-DB33-5B9D-9352-651643196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12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C597F510-B8C5-CF4F-6950-F26671755087}"/>
              </a:ext>
            </a:extLst>
          </p:cNvPr>
          <p:cNvSpPr/>
          <p:nvPr/>
        </p:nvSpPr>
        <p:spPr>
          <a:xfrm>
            <a:off x="8153400" y="4850826"/>
            <a:ext cx="3949430" cy="1326137"/>
          </a:xfrm>
          <a:prstGeom prst="wedgeRoundRectCallout">
            <a:avLst>
              <a:gd name="adj1" fmla="val -63468"/>
              <a:gd name="adj2" fmla="val 5765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solidFill>
                  <a:schemeClr val="tx1"/>
                </a:solidFill>
              </a:rPr>
              <a:t>Pos. Korr., höherer Wert, schwieriger</a:t>
            </a:r>
          </a:p>
          <a:p>
            <a:r>
              <a:rPr lang="en-CH" dirty="0">
                <a:solidFill>
                  <a:schemeClr val="tx1"/>
                </a:solidFill>
              </a:rPr>
              <a:t>Neg. Korr., höherer Wert, einfacher</a:t>
            </a:r>
          </a:p>
        </p:txBody>
      </p:sp>
    </p:spTree>
    <p:extLst>
      <p:ext uri="{BB962C8B-B14F-4D97-AF65-F5344CB8AC3E}">
        <p14:creationId xmlns:p14="http://schemas.microsoft.com/office/powerpoint/2010/main" val="28405003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4960E-3B29-A9B1-B2E3-915A2069D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H" dirty="0"/>
              <a:t>Ling. Schwierigkeit - # Named Entities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AEF8B-F803-9F49-9F6B-A8918D19F6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CH" dirty="0" err="1"/>
              <a:t>Spacy</a:t>
            </a:r>
            <a:endParaRPr lang="de-CH" dirty="0"/>
          </a:p>
          <a:p>
            <a:r>
              <a:rPr lang="en-CH" dirty="0"/>
              <a:t>I bought an iPhone from Apple for $999 in New York</a:t>
            </a:r>
          </a:p>
          <a:p>
            <a:r>
              <a:rPr lang="en-CH" dirty="0"/>
              <a:t>ents: [iPhone (PRODUCT), Apple (ORG), $999 (MONEY), New York (GPE)]</a:t>
            </a:r>
          </a:p>
          <a:p>
            <a:r>
              <a:rPr lang="en-CH" dirty="0"/>
              <a:t>→ entity_count = 4</a:t>
            </a:r>
          </a:p>
          <a:p>
            <a:endParaRPr lang="en-CH" dirty="0"/>
          </a:p>
          <a:p>
            <a:r>
              <a:rPr lang="en-CH" dirty="0"/>
              <a:t>difficulty 	count_texts 	mean_entities</a:t>
            </a:r>
          </a:p>
          <a:p>
            <a:r>
              <a:rPr lang="en-CH" dirty="0"/>
              <a:t>0 		6489 		2.29</a:t>
            </a:r>
          </a:p>
          <a:p>
            <a:r>
              <a:rPr lang="en-CH" dirty="0"/>
              <a:t>1 		975 		1.28</a:t>
            </a:r>
          </a:p>
          <a:p>
            <a:r>
              <a:rPr lang="en-CH" dirty="0"/>
              <a:t>2 		438 		1.13</a:t>
            </a:r>
          </a:p>
          <a:p>
            <a:r>
              <a:rPr lang="en-CH" dirty="0"/>
              <a:t>3 		185 		0.76</a:t>
            </a:r>
          </a:p>
          <a:p>
            <a:endParaRPr lang="en-CH" dirty="0"/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BFCC6-A60F-F773-E7B6-076AD4083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D5E7A7-540E-CD57-16EA-C7D15CF2D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AF4F4-F2F6-E4A0-5908-B926D7074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13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FF7682DA-2547-898D-9C50-86B0CEA5DB22}"/>
              </a:ext>
            </a:extLst>
          </p:cNvPr>
          <p:cNvSpPr/>
          <p:nvPr/>
        </p:nvSpPr>
        <p:spPr>
          <a:xfrm>
            <a:off x="8153400" y="4850826"/>
            <a:ext cx="3949430" cy="1326137"/>
          </a:xfrm>
          <a:prstGeom prst="wedgeRoundRectCallout">
            <a:avLst>
              <a:gd name="adj1" fmla="val -63468"/>
              <a:gd name="adj2" fmla="val 5765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solidFill>
                  <a:schemeClr val="tx1"/>
                </a:solidFill>
              </a:rPr>
              <a:t>Texte die schwieriger sind haben weniger Named Entities</a:t>
            </a:r>
          </a:p>
        </p:txBody>
      </p:sp>
    </p:spTree>
    <p:extLst>
      <p:ext uri="{BB962C8B-B14F-4D97-AF65-F5344CB8AC3E}">
        <p14:creationId xmlns:p14="http://schemas.microsoft.com/office/powerpoint/2010/main" val="1051331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BC91B-A22C-64DC-BD1C-AE2258C95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H" dirty="0"/>
              <a:t>Ambiguität / abstrakte Wörter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568C5-BD56-8902-B92C-AEC4D14634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Nutzung eines Concreteness Lexikons (Brysbaert et al.)</a:t>
            </a:r>
          </a:p>
          <a:p>
            <a:r>
              <a:rPr lang="en-CH" dirty="0"/>
              <a:t>Jedem Wort ist ein Wert zugeordnet (1-5)</a:t>
            </a:r>
          </a:p>
          <a:p>
            <a:pPr lvl="1"/>
            <a:r>
              <a:rPr lang="en-CH" dirty="0"/>
              <a:t>1 sehr abstrakt (idea, good, quality)</a:t>
            </a:r>
          </a:p>
          <a:p>
            <a:pPr lvl="1"/>
            <a:r>
              <a:rPr lang="en-CH" dirty="0"/>
              <a:t>5 seht konkret (dog, table)</a:t>
            </a:r>
          </a:p>
          <a:p>
            <a:r>
              <a:rPr lang="en-CH" dirty="0"/>
              <a:t>Für jeden Text:</a:t>
            </a:r>
          </a:p>
          <a:p>
            <a:pPr lvl="1"/>
            <a:r>
              <a:rPr lang="en-CH" dirty="0"/>
              <a:t>Mittelwert aller bekannten Wörter rechnen</a:t>
            </a:r>
          </a:p>
          <a:p>
            <a:r>
              <a:rPr lang="en-CH" dirty="0"/>
              <a:t>Interpretation</a:t>
            </a:r>
          </a:p>
          <a:p>
            <a:r>
              <a:rPr lang="en-CH" dirty="0"/>
              <a:t>Kein klarer Trend über Difficulty Klassen</a:t>
            </a:r>
          </a:p>
          <a:p>
            <a:pPr lvl="1"/>
            <a:r>
              <a:rPr lang="en-CH" dirty="0"/>
              <a:t>Werte sind sehr ähnlich über alle Klassen, ca. 2.3</a:t>
            </a:r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F518B0-8644-7024-48B9-9A01A9355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7B753-D422-8715-5D97-C7528EDF2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E51DF-DD29-B90C-700B-81EA8241E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14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C4E6F392-83B7-6AD4-ADF3-A55D03F53826}"/>
              </a:ext>
            </a:extLst>
          </p:cNvPr>
          <p:cNvSpPr/>
          <p:nvPr/>
        </p:nvSpPr>
        <p:spPr>
          <a:xfrm>
            <a:off x="7628107" y="3226306"/>
            <a:ext cx="3949430" cy="1326137"/>
          </a:xfrm>
          <a:prstGeom prst="wedgeRoundRectCallout">
            <a:avLst>
              <a:gd name="adj1" fmla="val -63468"/>
              <a:gd name="adj2" fmla="val 5765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solidFill>
                  <a:schemeClr val="tx1"/>
                </a:solidFill>
              </a:rPr>
              <a:t>Die difficulty-Klassen lassen sich nicht über Wort-Abstraktheit (Concreteness) unterscheiden</a:t>
            </a:r>
          </a:p>
        </p:txBody>
      </p:sp>
    </p:spTree>
    <p:extLst>
      <p:ext uri="{BB962C8B-B14F-4D97-AF65-F5344CB8AC3E}">
        <p14:creationId xmlns:p14="http://schemas.microsoft.com/office/powerpoint/2010/main" val="10080571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68025-513E-82D3-920A-BD1B006A4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Sentiment pro </a:t>
            </a:r>
            <a:r>
              <a:rPr lang="de-CH" dirty="0" err="1"/>
              <a:t>Difficulty</a:t>
            </a:r>
            <a:r>
              <a:rPr lang="de-CH" dirty="0"/>
              <a:t>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6A842B-1EB6-0958-650E-A3E17C2D5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Sentiment mit </a:t>
            </a:r>
            <a:r>
              <a:rPr lang="de-CH" dirty="0" err="1"/>
              <a:t>TextBlob</a:t>
            </a:r>
            <a:r>
              <a:rPr lang="de-CH" dirty="0"/>
              <a:t> (&lt; 0 neg. &gt; 0 pos.)</a:t>
            </a:r>
          </a:p>
          <a:p>
            <a:pPr marL="0" indent="0">
              <a:buNone/>
            </a:pPr>
            <a:r>
              <a:rPr lang="en-CH" dirty="0"/>
              <a:t>difficulty 	count_texts 	mean 		median</a:t>
            </a:r>
          </a:p>
          <a:p>
            <a:r>
              <a:rPr lang="en-CH" dirty="0"/>
              <a:t>0 		6489 		0.260 		0.251</a:t>
            </a:r>
          </a:p>
          <a:p>
            <a:r>
              <a:rPr lang="en-CH" dirty="0"/>
              <a:t>1 		975 		0.267 		0.271</a:t>
            </a:r>
          </a:p>
          <a:p>
            <a:r>
              <a:rPr lang="en-CH" dirty="0"/>
              <a:t>2 		438 		0.276 		0.267</a:t>
            </a:r>
          </a:p>
          <a:p>
            <a:r>
              <a:rPr lang="en-CH" dirty="0"/>
              <a:t>3 		185 		0.338	 	0.325</a:t>
            </a:r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62C563-97AF-F9F3-DC60-7855C4981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722B6-06FF-0D34-BB39-F3A371849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FDAF0-8E38-66DD-5E87-40BA888CB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15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B4AB5B99-64A9-59C6-3A91-96117C4260EB}"/>
              </a:ext>
            </a:extLst>
          </p:cNvPr>
          <p:cNvSpPr/>
          <p:nvPr/>
        </p:nvSpPr>
        <p:spPr>
          <a:xfrm>
            <a:off x="6762345" y="5113473"/>
            <a:ext cx="3949430" cy="956587"/>
          </a:xfrm>
          <a:prstGeom prst="wedgeRoundRectCallout">
            <a:avLst>
              <a:gd name="adj1" fmla="val -63468"/>
              <a:gd name="adj2" fmla="val 5765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chemeClr val="tx1"/>
                </a:solidFill>
              </a:rPr>
              <a:t>L</a:t>
            </a:r>
            <a:r>
              <a:rPr lang="en-CH" dirty="0">
                <a:solidFill>
                  <a:schemeClr val="tx1"/>
                </a:solidFill>
              </a:rPr>
              <a:t>eichter positiver Trend</a:t>
            </a:r>
          </a:p>
          <a:p>
            <a:r>
              <a:rPr lang="en-CH" dirty="0">
                <a:solidFill>
                  <a:schemeClr val="tx1"/>
                </a:solidFill>
              </a:rPr>
              <a:t>Sentiment steigt, Schwierigkeit wird höher</a:t>
            </a:r>
          </a:p>
        </p:txBody>
      </p:sp>
    </p:spTree>
    <p:extLst>
      <p:ext uri="{BB962C8B-B14F-4D97-AF65-F5344CB8AC3E}">
        <p14:creationId xmlns:p14="http://schemas.microsoft.com/office/powerpoint/2010/main" val="2363137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00302-ED21-2393-6CCB-7349AE912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H" dirty="0"/>
              <a:t>Wortfrequenz bad Predictions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4C977-5AEC-A87D-1D24-43BF540DD9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de-CH" dirty="0" err="1"/>
              <a:t>CountVectorizer</a:t>
            </a:r>
            <a:r>
              <a:rPr lang="de-CH" dirty="0"/>
              <a:t> (Bag-</a:t>
            </a:r>
            <a:r>
              <a:rPr lang="de-CH" dirty="0" err="1"/>
              <a:t>of</a:t>
            </a:r>
            <a:r>
              <a:rPr lang="de-CH" dirty="0"/>
              <a:t>-Words)</a:t>
            </a:r>
          </a:p>
          <a:p>
            <a:r>
              <a:rPr lang="de-CH" dirty="0" err="1"/>
              <a:t>Stopwords</a:t>
            </a:r>
            <a:endParaRPr lang="de-CH" dirty="0"/>
          </a:p>
          <a:p>
            <a:r>
              <a:rPr lang="de-CH" dirty="0"/>
              <a:t>Top 50 Wörter</a:t>
            </a:r>
          </a:p>
          <a:p>
            <a:r>
              <a:rPr lang="de-CH" dirty="0"/>
              <a:t> </a:t>
            </a:r>
            <a:r>
              <a:rPr lang="de-CH" dirty="0" err="1"/>
              <a:t>word</a:t>
            </a:r>
            <a:r>
              <a:rPr lang="de-CH" dirty="0"/>
              <a:t>  </a:t>
            </a:r>
            <a:r>
              <a:rPr lang="de-CH" dirty="0" err="1"/>
              <a:t>freq</a:t>
            </a:r>
            <a:endParaRPr lang="de-CH" dirty="0"/>
          </a:p>
          <a:p>
            <a:r>
              <a:rPr lang="de-CH" dirty="0" err="1"/>
              <a:t>disc</a:t>
            </a:r>
            <a:r>
              <a:rPr lang="de-CH" dirty="0"/>
              <a:t>    84</a:t>
            </a:r>
          </a:p>
          <a:p>
            <a:r>
              <a:rPr lang="de-CH" dirty="0" err="1"/>
              <a:t>great</a:t>
            </a:r>
            <a:r>
              <a:rPr lang="de-CH" dirty="0"/>
              <a:t>    41</a:t>
            </a:r>
          </a:p>
          <a:p>
            <a:r>
              <a:rPr lang="de-CH" dirty="0" err="1"/>
              <a:t>good</a:t>
            </a:r>
            <a:r>
              <a:rPr lang="de-CH" dirty="0"/>
              <a:t>    37</a:t>
            </a:r>
          </a:p>
          <a:p>
            <a:r>
              <a:rPr lang="de-CH" dirty="0" err="1"/>
              <a:t>love</a:t>
            </a:r>
            <a:r>
              <a:rPr lang="de-CH" dirty="0"/>
              <a:t>    31</a:t>
            </a:r>
          </a:p>
          <a:p>
            <a:r>
              <a:rPr lang="de-CH" dirty="0" err="1"/>
              <a:t>format</a:t>
            </a:r>
            <a:r>
              <a:rPr lang="de-CH" dirty="0"/>
              <a:t>    26</a:t>
            </a:r>
          </a:p>
          <a:p>
            <a:r>
              <a:rPr lang="de-CH" dirty="0" err="1"/>
              <a:t>manual</a:t>
            </a:r>
            <a:r>
              <a:rPr lang="de-CH" dirty="0"/>
              <a:t>    23</a:t>
            </a:r>
          </a:p>
          <a:p>
            <a:r>
              <a:rPr lang="de-CH" dirty="0" err="1"/>
              <a:t>book</a:t>
            </a:r>
            <a:r>
              <a:rPr lang="de-CH" dirty="0"/>
              <a:t>    20</a:t>
            </a:r>
          </a:p>
          <a:p>
            <a:r>
              <a:rPr lang="de-CH" dirty="0"/>
              <a:t>cd    19</a:t>
            </a:r>
          </a:p>
          <a:p>
            <a:r>
              <a:rPr lang="de-CH" dirty="0" err="1"/>
              <a:t>read</a:t>
            </a:r>
            <a:r>
              <a:rPr lang="de-CH" dirty="0"/>
              <a:t>    19</a:t>
            </a:r>
          </a:p>
          <a:p>
            <a:r>
              <a:rPr lang="de-CH" dirty="0"/>
              <a:t>easy    18</a:t>
            </a:r>
          </a:p>
          <a:p>
            <a:r>
              <a:rPr lang="de-CH" dirty="0" err="1"/>
              <a:t>dog</a:t>
            </a:r>
            <a:r>
              <a:rPr lang="de-CH" dirty="0"/>
              <a:t>    16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8D2D2A-E1E7-AF08-3F74-3EAA6F4BC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1DF519-D397-9206-3978-667B2E85E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3A3DE6-BC6E-1016-C513-1D4CCA0D7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16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12B5939C-00FB-2DB7-7C8A-BDC713898811}"/>
              </a:ext>
            </a:extLst>
          </p:cNvPr>
          <p:cNvSpPr/>
          <p:nvPr/>
        </p:nvSpPr>
        <p:spPr>
          <a:xfrm>
            <a:off x="4855724" y="3245764"/>
            <a:ext cx="2683212" cy="684212"/>
          </a:xfrm>
          <a:prstGeom prst="wedgeRoundRectCallout">
            <a:avLst>
              <a:gd name="adj1" fmla="val -63468"/>
              <a:gd name="adj2" fmla="val 5765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dirty="0">
                <a:solidFill>
                  <a:schemeClr val="tx1"/>
                </a:solidFill>
              </a:rPr>
              <a:t>Great, </a:t>
            </a:r>
            <a:r>
              <a:rPr lang="de-CH" dirty="0" err="1">
                <a:solidFill>
                  <a:schemeClr val="tx1"/>
                </a:solidFill>
              </a:rPr>
              <a:t>good</a:t>
            </a:r>
            <a:r>
              <a:rPr lang="de-CH" dirty="0">
                <a:solidFill>
                  <a:schemeClr val="tx1"/>
                </a:solidFill>
              </a:rPr>
              <a:t>, </a:t>
            </a:r>
            <a:r>
              <a:rPr lang="de-CH" dirty="0" err="1">
                <a:solidFill>
                  <a:schemeClr val="tx1"/>
                </a:solidFill>
              </a:rPr>
              <a:t>love</a:t>
            </a:r>
            <a:r>
              <a:rPr lang="de-CH" dirty="0">
                <a:solidFill>
                  <a:schemeClr val="tx1"/>
                </a:solidFill>
              </a:rPr>
              <a:t> 👎🏻</a:t>
            </a:r>
            <a:endParaRPr lang="en-CH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03222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0FCBD-11AF-2890-1169-632E0CC0E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Embeddings</a:t>
            </a:r>
            <a:r>
              <a:rPr lang="de-CH" dirty="0"/>
              <a:t> PCA, TSNE, UMAP…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706B76-DF3F-E4FB-2F4E-64E02221D2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Transformer: </a:t>
            </a:r>
            <a:r>
              <a:rPr lang="en-CH" dirty="0"/>
              <a:t>BAAI/bge-base-en-v1.5</a:t>
            </a:r>
          </a:p>
          <a:p>
            <a:r>
              <a:rPr lang="de-CH" dirty="0"/>
              <a:t>Dimensionsreduktion und Darstellung auf Plot</a:t>
            </a:r>
          </a:p>
          <a:p>
            <a:r>
              <a:rPr lang="en-CH" dirty="0"/>
              <a:t>Rot/Blau gemischt → Fehler verteilen sich gleichmässig im Semantikraum. Es hat kein strukturelles Muster</a:t>
            </a:r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3BCD11-496E-279C-80E2-9DC9FA51A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B0016-9F80-20DE-FA2D-B80DB12CC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B82D64-4F04-F2A9-97F9-560FF9B3A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17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972951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A9EC5-4BB1-B24F-C221-B3E739738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TSNE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320F55-DA85-72B3-5C22-F2CD6EF0E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788377-38C2-071C-EAAF-6E838949B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F8EE49-87F4-2B53-678F-BB813BB05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18</a:t>
            </a:fld>
            <a:endParaRPr lang="en-CH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C11215E-3E17-B6F6-018C-A879E55E86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9332" y="937082"/>
            <a:ext cx="7894558" cy="5920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4622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8824-902F-A7CD-96B9-5B0EC43F4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UMAP 2D Embedding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BAFA41-5C8E-4B46-968F-1CD774533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>
                <a:hlinkClick r:id="rId2"/>
              </a:rPr>
              <a:t>13_umap_embedding_space.html</a:t>
            </a:r>
            <a:endParaRPr lang="de-CH" dirty="0"/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0B57C-48FE-2C3C-75B7-23E5374B52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E66B3B6E-7E09-0142-B960-3BF02BFEB55D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8B4F4E-D000-78BE-BBE0-29BBD4F9D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72F66-EA16-EBB6-D9B1-3C25CCF5E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21FD296-2B0C-4A4B-AFAC-2E3A842869F0}" type="slidenum">
              <a:rPr lang="en-CH" smtClean="0"/>
              <a:t>19</a:t>
            </a:fld>
            <a:endParaRPr lang="en-CH"/>
          </a:p>
        </p:txBody>
      </p:sp>
      <p:pic>
        <p:nvPicPr>
          <p:cNvPr id="7" name="Content Placeholder 5" descr="Monitor with solid fill">
            <a:extLst>
              <a:ext uri="{FF2B5EF4-FFF2-40B4-BE49-F238E27FC236}">
                <a16:creationId xmlns:a16="http://schemas.microsoft.com/office/drawing/2014/main" id="{8FC53FA5-1E52-97FF-70EB-5F1038E70B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35076" y="1930475"/>
            <a:ext cx="4448220" cy="4448220"/>
          </a:xfrm>
          <a:prstGeom prst="rect">
            <a:avLst/>
          </a:prstGeom>
        </p:spPr>
      </p:pic>
      <p:pic>
        <p:nvPicPr>
          <p:cNvPr id="8" name="Graphic 7" descr="Bar chart with solid fill">
            <a:extLst>
              <a:ext uri="{FF2B5EF4-FFF2-40B4-BE49-F238E27FC236}">
                <a16:creationId xmlns:a16="http://schemas.microsoft.com/office/drawing/2014/main" id="{C195EA94-734A-61CB-F2A0-09F4D8343B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59186" y="3210470"/>
            <a:ext cx="1497994" cy="1462114"/>
          </a:xfrm>
          <a:prstGeom prst="rect">
            <a:avLst/>
          </a:prstGeom>
        </p:spPr>
      </p:pic>
      <p:pic>
        <p:nvPicPr>
          <p:cNvPr id="9" name="Graphic 8" descr="Home with solid fill">
            <a:extLst>
              <a:ext uri="{FF2B5EF4-FFF2-40B4-BE49-F238E27FC236}">
                <a16:creationId xmlns:a16="http://schemas.microsoft.com/office/drawing/2014/main" id="{922C611A-E30F-7252-CCB9-455407456B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66932" y="2950639"/>
            <a:ext cx="1732509" cy="1721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779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2805F-9EE1-5644-FCD9-ACFCDA321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H" dirty="0"/>
              <a:t>Was macht es schwer, richtig zu Klassifizieren?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9F2555-33A2-94BC-ADFE-902207060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H" dirty="0"/>
              <a:t>welche Features erklären Vorhersage-Schwierigkeit? (mit RF)</a:t>
            </a:r>
          </a:p>
          <a:p>
            <a:r>
              <a:rPr lang="en-GB" dirty="0"/>
              <a:t>Feature Importance:</a:t>
            </a:r>
          </a:p>
          <a:p>
            <a:r>
              <a:rPr lang="en-GB" dirty="0"/>
              <a:t>  </a:t>
            </a:r>
            <a:r>
              <a:rPr lang="en-GB" dirty="0" err="1"/>
              <a:t>avg_word_len</a:t>
            </a:r>
            <a:r>
              <a:rPr lang="en-GB" dirty="0"/>
              <a:t>              	28.5%</a:t>
            </a:r>
          </a:p>
          <a:p>
            <a:r>
              <a:rPr lang="en-GB" dirty="0"/>
              <a:t>  </a:t>
            </a:r>
            <a:r>
              <a:rPr lang="en-GB" dirty="0" err="1"/>
              <a:t>uppercase_ratio</a:t>
            </a:r>
            <a:r>
              <a:rPr lang="en-GB" dirty="0"/>
              <a:t>           	25.3%</a:t>
            </a:r>
          </a:p>
          <a:p>
            <a:r>
              <a:rPr lang="en-GB" dirty="0"/>
              <a:t>  </a:t>
            </a:r>
            <a:r>
              <a:rPr lang="en-GB" dirty="0" err="1"/>
              <a:t>char_len</a:t>
            </a:r>
            <a:r>
              <a:rPr lang="en-GB" dirty="0"/>
              <a:t>                  	25.1%</a:t>
            </a:r>
          </a:p>
          <a:p>
            <a:r>
              <a:rPr lang="en-GB" dirty="0"/>
              <a:t>  </a:t>
            </a:r>
            <a:r>
              <a:rPr lang="en-GB" dirty="0" err="1"/>
              <a:t>word_len</a:t>
            </a:r>
            <a:r>
              <a:rPr lang="en-GB" dirty="0"/>
              <a:t>                  	9.2%</a:t>
            </a:r>
          </a:p>
          <a:p>
            <a:r>
              <a:rPr lang="en-GB" dirty="0"/>
              <a:t>  </a:t>
            </a:r>
            <a:r>
              <a:rPr lang="en-GB" dirty="0" err="1"/>
              <a:t>sentence_count</a:t>
            </a:r>
            <a:r>
              <a:rPr lang="en-GB" dirty="0"/>
              <a:t>            7.7%</a:t>
            </a:r>
          </a:p>
          <a:p>
            <a:r>
              <a:rPr lang="en-GB" dirty="0"/>
              <a:t>  </a:t>
            </a:r>
            <a:r>
              <a:rPr lang="en-GB" dirty="0" err="1"/>
              <a:t>exclamation_count</a:t>
            </a:r>
            <a:r>
              <a:rPr lang="en-GB" dirty="0"/>
              <a:t> 	3.8%</a:t>
            </a:r>
          </a:p>
          <a:p>
            <a:r>
              <a:rPr lang="en-GB" dirty="0"/>
              <a:t>  </a:t>
            </a:r>
            <a:r>
              <a:rPr lang="en-GB" dirty="0" err="1"/>
              <a:t>question_count</a:t>
            </a:r>
            <a:r>
              <a:rPr lang="en-GB" dirty="0"/>
              <a:t>            0.4%</a:t>
            </a:r>
            <a:endParaRPr lang="en-CH" dirty="0"/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E8D05-4B0C-DE8F-957A-D035CF06D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15.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AB726F-11F4-A734-B7F5-9349EB932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DE6C6C-E49E-5A08-5EFE-57410C3D7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20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0F1D92C1-2561-182F-558C-174DBE8C0998}"/>
              </a:ext>
            </a:extLst>
          </p:cNvPr>
          <p:cNvSpPr/>
          <p:nvPr/>
        </p:nvSpPr>
        <p:spPr>
          <a:xfrm>
            <a:off x="6372427" y="3239311"/>
            <a:ext cx="4476345" cy="1786663"/>
          </a:xfrm>
          <a:prstGeom prst="wedgeRoundRectCallout">
            <a:avLst>
              <a:gd name="adj1" fmla="val -63468"/>
              <a:gd name="adj2" fmla="val 5765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solidFill>
                  <a:schemeClr val="tx1"/>
                </a:solidFill>
              </a:rPr>
              <a:t>Die Schwierigkeit der Modellvorhersagen wird hauptsächlich durch einfache stilistische Eigenschaften des Textes bestimmt, insbesondere Länge, Wortstruktur und Grossschreibung.</a:t>
            </a:r>
          </a:p>
        </p:txBody>
      </p:sp>
    </p:spTree>
    <p:extLst>
      <p:ext uri="{BB962C8B-B14F-4D97-AF65-F5344CB8AC3E}">
        <p14:creationId xmlns:p14="http://schemas.microsoft.com/office/powerpoint/2010/main" val="9519599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F640F-0583-663B-488C-719C4101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43C89-52C3-55C1-E592-460A7BF25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Lessons</a:t>
            </a:r>
            <a:r>
              <a:rPr lang="de-CH" dirty="0"/>
              <a:t> </a:t>
            </a:r>
            <a:r>
              <a:rPr lang="de-CH" dirty="0" err="1"/>
              <a:t>learned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F0B65-5BC9-92BA-3863-40AAECB965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CH" dirty="0"/>
              <a:t>xxx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C5934E-B049-8F00-977D-1AF08C716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B57C1C-5954-2D86-3BB9-3D0CCC63F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21FD296-2B0C-4A4B-AFAC-2E3A842869F0}" type="slidenum">
              <a:rPr lang="en-CH" smtClean="0"/>
              <a:t>21</a:t>
            </a:fld>
            <a:endParaRPr lang="en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1696BC9-3254-9262-8B07-499647881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DD2E1766-9633-E747-BBED-E122B4E61F73}" type="datetime4">
              <a:rPr lang="de-CH" smtClean="0"/>
              <a:t>15. Juni 2026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1080557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581</TotalTime>
  <Words>1218</Words>
  <Application>Microsoft Macintosh PowerPoint</Application>
  <PresentationFormat>Widescreen</PresentationFormat>
  <Paragraphs>219</Paragraphs>
  <Slides>21</Slides>
  <Notes>8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  <vt:variant>
        <vt:lpstr>Custom Shows</vt:lpstr>
      </vt:variant>
      <vt:variant>
        <vt:i4>2</vt:i4>
      </vt:variant>
    </vt:vector>
  </HeadingPairs>
  <TitlesOfParts>
    <vt:vector size="28" baseType="lpstr">
      <vt:lpstr>Arial</vt:lpstr>
      <vt:lpstr>Calibri</vt:lpstr>
      <vt:lpstr>Calibri Light</vt:lpstr>
      <vt:lpstr>Wingdings</vt:lpstr>
      <vt:lpstr>Office Theme</vt:lpstr>
      <vt:lpstr>Fake reviews</vt:lpstr>
      <vt:lpstr>Projektidee</vt:lpstr>
      <vt:lpstr>Dataset</vt:lpstr>
      <vt:lpstr>Overview Classification Pipeline</vt:lpstr>
      <vt:lpstr>Output bei allen…</vt:lpstr>
      <vt:lpstr>Over all performance</vt:lpstr>
      <vt:lpstr>Category Analysis</vt:lpstr>
      <vt:lpstr>Rating Analysis</vt:lpstr>
      <vt:lpstr>Errors - Cat among all-fail cases</vt:lpstr>
      <vt:lpstr>Accuracy by Text Length</vt:lpstr>
      <vt:lpstr>Features Engineering</vt:lpstr>
      <vt:lpstr>Korrelation Schwierigkeit / Features</vt:lpstr>
      <vt:lpstr>Ling. Schwierigkeit - # Named Entities</vt:lpstr>
      <vt:lpstr>Ambiguität / abstrakte Wörter</vt:lpstr>
      <vt:lpstr>Sentiment pro Difficulty Level</vt:lpstr>
      <vt:lpstr>Wortfrequenz bad Predictions</vt:lpstr>
      <vt:lpstr>Embeddings PCA, TSNE, UMAP…</vt:lpstr>
      <vt:lpstr>TSNE</vt:lpstr>
      <vt:lpstr>UMAP 2D Embedding Space</vt:lpstr>
      <vt:lpstr>Was macht es schwer, richtig zu Klassifizieren?</vt:lpstr>
      <vt:lpstr>Lessons learned</vt:lpstr>
      <vt:lpstr>Machine-Leaning</vt:lpstr>
      <vt:lpstr>Streaming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dave b</dc:creator>
  <cp:lastModifiedBy>dave b</cp:lastModifiedBy>
  <cp:revision>66</cp:revision>
  <cp:lastPrinted>2026-04-12T14:11:19Z</cp:lastPrinted>
  <dcterms:created xsi:type="dcterms:W3CDTF">2025-12-15T17:20:02Z</dcterms:created>
  <dcterms:modified xsi:type="dcterms:W3CDTF">2026-06-15T15:10:35Z</dcterms:modified>
</cp:coreProperties>
</file>