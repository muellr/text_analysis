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0" r:id="rId13"/>
    <p:sldId id="303" r:id="rId14"/>
    <p:sldId id="304" r:id="rId15"/>
    <p:sldId id="271" r:id="rId16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94"/>
    <p:restoredTop sz="94671"/>
  </p:normalViewPr>
  <p:slideViewPr>
    <p:cSldViewPr snapToGrid="0">
      <p:cViewPr varScale="1">
        <p:scale>
          <a:sx n="160" d="100"/>
          <a:sy n="160" d="100"/>
        </p:scale>
        <p:origin x="10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8" name="Shape 10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5" name="Shape 1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160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1" name="Shape 1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Zum Modell:</a:t>
            </a:r>
          </a:p>
          <a:p>
            <a:r>
              <a:t>•   Herkunft: BAAI = Beijing Academy of Artificial Intelligence, open source via HuggingFace</a:t>
            </a:r>
          </a:p>
          <a:p>
            <a:r>
              <a:t>•   110M Parameter, max. Sequenzlänge 512 Tokens, trainiert auf großen Paardaten mit Contrastive Learning arxiv</a:t>
            </a:r>
          </a:p>
          <a:p>
            <a:r>
              <a:t>•   v1.5 bringt verbesserte Similarity-Score-Verteilung und stärkere Retrieval-Performance gegenüber dem Vorgänger OpenRouter</a:t>
            </a:r>
          </a:p>
          <a:p>
            <a:r>
              <a:t>•   Einsatzgebiete: Retrieval, Klassifikation, Clustering, Semantic Search Together AI</a:t>
            </a:r>
          </a:p>
          <a:p>
            <a:r>
              <a:t>•   War zeitweise State-of-the-Art auf dem MTEB Leaderboard (Platz 1, Juli 2024) arxiv</a:t>
            </a:r>
          </a:p>
          <a:p>
            <a:endParaRPr/>
          </a:p>
          <a:p>
            <a:r>
              <a:t>Für diesen Use Case ist es eine solide Wahl: die Embeddings sind bereits L2-normalisiert, daher kein StandardScaler nötig (wie im Code kommentiert), und gelu-Aktivierung harmoniert gut mit SBERT-artigen Embeddings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406B0D-CDB9-7342-BFE1-3BBA81393C61}" type="slidenum">
              <a:rPr lang="de-CH" smtClean="0"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1525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32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5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54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Title Text"/>
          <p:cNvSpPr txBox="1">
            <a:spLocks noGrp="1"/>
          </p:cNvSpPr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6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85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8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53;p13" descr="Google Shape;53;p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99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10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3;p13" descr="Google Shape;53;p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5155" y="133783"/>
            <a:ext cx="1998646" cy="108339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oogle Shape;54;p13"/>
          <p:cNvSpPr/>
          <p:nvPr/>
        </p:nvSpPr>
        <p:spPr>
          <a:xfrm>
            <a:off x="39584" y="1362579"/>
            <a:ext cx="12053456" cy="1"/>
          </a:xfrm>
          <a:prstGeom prst="line">
            <a:avLst/>
          </a:prstGeom>
          <a:ln w="31750">
            <a:solidFill>
              <a:srgbClr val="2266AB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13_umap_embedding_space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57221"/>
            <a:ext cx="12387264" cy="8258176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Rectangle 3"/>
          <p:cNvSpPr/>
          <p:nvPr/>
        </p:nvSpPr>
        <p:spPr>
          <a:xfrm>
            <a:off x="5820528" y="195133"/>
            <a:ext cx="6566735" cy="1584061"/>
          </a:xfrm>
          <a:prstGeom prst="rect">
            <a:avLst/>
          </a:prstGeom>
          <a:solidFill>
            <a:srgbClr val="E7E6E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2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6095999" y="1083179"/>
            <a:ext cx="6015794" cy="57292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r">
              <a:defRPr sz="3600" b="1">
                <a:solidFill>
                  <a:srgbClr val="FFFFFF"/>
                </a:solidFill>
              </a:defRPr>
            </a:lvl1pPr>
          </a:lstStyle>
          <a:p>
            <a:r>
              <a:t>Amazon Product Reviews 2018</a:t>
            </a:r>
          </a:p>
        </p:txBody>
      </p:sp>
      <p:sp>
        <p:nvSpPr>
          <p:cNvPr id="113" name="Title 1"/>
          <p:cNvSpPr txBox="1">
            <a:spLocks noGrp="1"/>
          </p:cNvSpPr>
          <p:nvPr>
            <p:ph type="ctrTitle"/>
          </p:nvPr>
        </p:nvSpPr>
        <p:spPr>
          <a:xfrm>
            <a:off x="5820528" y="370914"/>
            <a:ext cx="6291260" cy="84355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algn="r" defTabSz="813816">
              <a:defRPr sz="5874" b="1"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r>
              <a:t>Fake reviews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118" name="Title 1"/>
          <p:cNvSpPr txBox="1">
            <a:spLocks noGrp="1"/>
          </p:cNvSpPr>
          <p:nvPr>
            <p:ph type="title"/>
          </p:nvPr>
        </p:nvSpPr>
        <p:spPr>
          <a:xfrm>
            <a:off x="342900" y="148206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Projektidee &amp; Dataset</a:t>
            </a:r>
          </a:p>
        </p:txBody>
      </p:sp>
      <p:sp>
        <p:nvSpPr>
          <p:cNvPr id="11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215900" y="1507986"/>
            <a:ext cx="11677650" cy="4351338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121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122" name="Text 3"/>
          <p:cNvSpPr txBox="1"/>
          <p:nvPr/>
        </p:nvSpPr>
        <p:spPr>
          <a:xfrm>
            <a:off x="603504" y="859536"/>
            <a:ext cx="6126480" cy="274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50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Fake-Reviews erschliessen und klassifizieren</a:t>
            </a:r>
          </a:p>
        </p:txBody>
      </p:sp>
      <p:sp>
        <p:nvSpPr>
          <p:cNvPr id="123" name="Shape 4"/>
          <p:cNvSpPr/>
          <p:nvPr/>
        </p:nvSpPr>
        <p:spPr>
          <a:xfrm>
            <a:off x="594359" y="1234439"/>
            <a:ext cx="10972801" cy="1"/>
          </a:xfrm>
          <a:prstGeom prst="line">
            <a:avLst/>
          </a:prstGeom>
          <a:ln w="12700">
            <a:solidFill>
              <a:srgbClr val="D7E0EC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24" name="Shape 5"/>
          <p:cNvSpPr/>
          <p:nvPr/>
        </p:nvSpPr>
        <p:spPr>
          <a:xfrm>
            <a:off x="190589" y="1536191"/>
            <a:ext cx="5746661" cy="420625"/>
          </a:xfrm>
          <a:prstGeom prst="roundRect">
            <a:avLst>
              <a:gd name="adj" fmla="val 13043"/>
            </a:avLst>
          </a:prstGeom>
          <a:solidFill>
            <a:srgbClr val="193B6A"/>
          </a:solidFill>
          <a:ln w="12700">
            <a:solidFill>
              <a:srgbClr val="193B6A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25" name="Text 6"/>
          <p:cNvSpPr txBox="1"/>
          <p:nvPr/>
        </p:nvSpPr>
        <p:spPr>
          <a:xfrm>
            <a:off x="594359" y="1609344"/>
            <a:ext cx="5120642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algn="ctr" defTabSz="822959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Projektziele</a:t>
            </a:r>
          </a:p>
        </p:txBody>
      </p:sp>
      <p:sp>
        <p:nvSpPr>
          <p:cNvPr id="126" name="Shape 7"/>
          <p:cNvSpPr/>
          <p:nvPr/>
        </p:nvSpPr>
        <p:spPr>
          <a:xfrm>
            <a:off x="6172200" y="1536191"/>
            <a:ext cx="5746661" cy="420625"/>
          </a:xfrm>
          <a:prstGeom prst="roundRect">
            <a:avLst>
              <a:gd name="adj" fmla="val 13043"/>
            </a:avLst>
          </a:prstGeom>
          <a:solidFill>
            <a:srgbClr val="193B6A"/>
          </a:solidFill>
          <a:ln w="12700">
            <a:solidFill>
              <a:srgbClr val="193B6A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27" name="Text 8"/>
          <p:cNvSpPr txBox="1"/>
          <p:nvPr/>
        </p:nvSpPr>
        <p:spPr>
          <a:xfrm>
            <a:off x="6172200" y="1609344"/>
            <a:ext cx="5349241" cy="2011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algn="ctr" defTabSz="822959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Datensatz</a:t>
            </a:r>
          </a:p>
        </p:txBody>
      </p:sp>
      <p:sp>
        <p:nvSpPr>
          <p:cNvPr id="128" name="Shape 9"/>
          <p:cNvSpPr/>
          <p:nvPr/>
        </p:nvSpPr>
        <p:spPr>
          <a:xfrm>
            <a:off x="804672" y="2176272"/>
            <a:ext cx="384049" cy="384049"/>
          </a:xfrm>
          <a:prstGeom prst="ellipse">
            <a:avLst/>
          </a:prstGeom>
          <a:solidFill>
            <a:srgbClr val="EAF2FB"/>
          </a:solidFill>
          <a:ln w="12700">
            <a:solidFill>
              <a:srgbClr val="C6DAF0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29" name="Text 10"/>
          <p:cNvSpPr txBox="1"/>
          <p:nvPr/>
        </p:nvSpPr>
        <p:spPr>
          <a:xfrm>
            <a:off x="804672" y="2258567"/>
            <a:ext cx="384049" cy="16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algn="ctr">
              <a:defRPr sz="1100" b="1">
                <a:solidFill>
                  <a:srgbClr val="193B6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</a:t>
            </a:r>
          </a:p>
        </p:txBody>
      </p:sp>
      <p:sp>
        <p:nvSpPr>
          <p:cNvPr id="130" name="Text 11"/>
          <p:cNvSpPr txBox="1"/>
          <p:nvPr/>
        </p:nvSpPr>
        <p:spPr>
          <a:xfrm>
            <a:off x="1371600" y="2194560"/>
            <a:ext cx="4005072" cy="402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Datensatz Fake-Reviews erschliessen</a:t>
            </a:r>
          </a:p>
        </p:txBody>
      </p:sp>
      <p:sp>
        <p:nvSpPr>
          <p:cNvPr id="131" name="Shape 12"/>
          <p:cNvSpPr/>
          <p:nvPr/>
        </p:nvSpPr>
        <p:spPr>
          <a:xfrm>
            <a:off x="804672" y="2944367"/>
            <a:ext cx="384049" cy="384049"/>
          </a:xfrm>
          <a:prstGeom prst="ellipse">
            <a:avLst/>
          </a:prstGeom>
          <a:solidFill>
            <a:srgbClr val="EAF2FB"/>
          </a:solidFill>
          <a:ln w="12700">
            <a:solidFill>
              <a:srgbClr val="C6DAF0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32" name="Text 13"/>
          <p:cNvSpPr txBox="1"/>
          <p:nvPr/>
        </p:nvSpPr>
        <p:spPr>
          <a:xfrm>
            <a:off x="804672" y="3026664"/>
            <a:ext cx="384049" cy="16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algn="ctr">
              <a:defRPr sz="1100" b="1">
                <a:solidFill>
                  <a:srgbClr val="193B6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133" name="Text 14"/>
          <p:cNvSpPr txBox="1"/>
          <p:nvPr/>
        </p:nvSpPr>
        <p:spPr>
          <a:xfrm>
            <a:off x="1371600" y="2962655"/>
            <a:ext cx="4005072" cy="402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822959">
              <a:defRPr sz="135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Verschiedene Klassifikations-Modelle erstellen und lernen</a:t>
            </a:r>
          </a:p>
        </p:txBody>
      </p:sp>
      <p:sp>
        <p:nvSpPr>
          <p:cNvPr id="134" name="Shape 15"/>
          <p:cNvSpPr/>
          <p:nvPr/>
        </p:nvSpPr>
        <p:spPr>
          <a:xfrm>
            <a:off x="804672" y="3767328"/>
            <a:ext cx="384049" cy="384049"/>
          </a:xfrm>
          <a:prstGeom prst="ellipse">
            <a:avLst/>
          </a:prstGeom>
          <a:solidFill>
            <a:srgbClr val="EAF2FB"/>
          </a:solidFill>
          <a:ln w="12700">
            <a:solidFill>
              <a:srgbClr val="C6DAF0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35" name="Text 16"/>
          <p:cNvSpPr txBox="1"/>
          <p:nvPr/>
        </p:nvSpPr>
        <p:spPr>
          <a:xfrm>
            <a:off x="804672" y="3849623"/>
            <a:ext cx="384049" cy="168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algn="ctr">
              <a:defRPr sz="1100" b="1">
                <a:solidFill>
                  <a:srgbClr val="193B6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</a:t>
            </a:r>
          </a:p>
        </p:txBody>
      </p:sp>
      <p:sp>
        <p:nvSpPr>
          <p:cNvPr id="136" name="Text 17"/>
          <p:cNvSpPr txBox="1"/>
          <p:nvPr/>
        </p:nvSpPr>
        <p:spPr>
          <a:xfrm>
            <a:off x="1371600" y="3785615"/>
            <a:ext cx="4005072" cy="402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Auswertung der Erkenntnisse</a:t>
            </a:r>
          </a:p>
        </p:txBody>
      </p:sp>
      <p:sp>
        <p:nvSpPr>
          <p:cNvPr id="137" name="Shape 18"/>
          <p:cNvSpPr/>
          <p:nvPr/>
        </p:nvSpPr>
        <p:spPr>
          <a:xfrm>
            <a:off x="822960" y="4626864"/>
            <a:ext cx="4553713" cy="1"/>
          </a:xfrm>
          <a:prstGeom prst="line">
            <a:avLst/>
          </a:prstGeom>
          <a:ln w="12700">
            <a:solidFill>
              <a:srgbClr val="D7E0EC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38" name="Text 19"/>
          <p:cNvSpPr txBox="1"/>
          <p:nvPr/>
        </p:nvSpPr>
        <p:spPr>
          <a:xfrm>
            <a:off x="822959" y="4800600"/>
            <a:ext cx="4663442" cy="420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841247">
              <a:defRPr sz="1380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Ziel: echte und künstlich generierte Reviews unterscheiden.</a:t>
            </a:r>
          </a:p>
        </p:txBody>
      </p:sp>
      <p:sp>
        <p:nvSpPr>
          <p:cNvPr id="139" name="Shape 20"/>
          <p:cNvSpPr/>
          <p:nvPr/>
        </p:nvSpPr>
        <p:spPr>
          <a:xfrm flipH="1">
            <a:off x="6054724" y="1559303"/>
            <a:ext cx="1" cy="4334257"/>
          </a:xfrm>
          <a:prstGeom prst="line">
            <a:avLst/>
          </a:prstGeom>
          <a:ln w="12700">
            <a:solidFill>
              <a:srgbClr val="D7E0EC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40" name="Text 21"/>
          <p:cNvSpPr txBox="1"/>
          <p:nvPr/>
        </p:nvSpPr>
        <p:spPr>
          <a:xfrm>
            <a:off x="6355079" y="2139695"/>
            <a:ext cx="4892042" cy="2560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886968">
              <a:defRPr sz="1746" b="1">
                <a:solidFill>
                  <a:srgbClr val="193B6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Fake Reviews Dataset, Amazon</a:t>
            </a:r>
          </a:p>
        </p:txBody>
      </p:sp>
      <p:sp>
        <p:nvSpPr>
          <p:cNvPr id="141" name="Shape 22"/>
          <p:cNvSpPr/>
          <p:nvPr/>
        </p:nvSpPr>
        <p:spPr>
          <a:xfrm>
            <a:off x="6355079" y="2633472"/>
            <a:ext cx="1042417" cy="566928"/>
          </a:xfrm>
          <a:prstGeom prst="roundRect">
            <a:avLst>
              <a:gd name="adj" fmla="val 6452"/>
            </a:avLst>
          </a:prstGeom>
          <a:solidFill>
            <a:srgbClr val="2E75B6"/>
          </a:solidFill>
          <a:ln w="12700">
            <a:solidFill>
              <a:srgbClr val="2E75B6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42" name="Text 23"/>
          <p:cNvSpPr txBox="1"/>
          <p:nvPr/>
        </p:nvSpPr>
        <p:spPr>
          <a:xfrm>
            <a:off x="6519671" y="2761488"/>
            <a:ext cx="713233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algn="ctr" defTabSz="676655">
              <a:defRPr sz="148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40k</a:t>
            </a:r>
          </a:p>
        </p:txBody>
      </p:sp>
      <p:sp>
        <p:nvSpPr>
          <p:cNvPr id="143" name="Text 24"/>
          <p:cNvSpPr txBox="1"/>
          <p:nvPr/>
        </p:nvSpPr>
        <p:spPr>
          <a:xfrm>
            <a:off x="7543800" y="2761488"/>
            <a:ext cx="3429000" cy="237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50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gelabelte Reviews, balanciert</a:t>
            </a:r>
          </a:p>
        </p:txBody>
      </p:sp>
      <p:sp>
        <p:nvSpPr>
          <p:cNvPr id="144" name="Text 25"/>
          <p:cNvSpPr txBox="1"/>
          <p:nvPr/>
        </p:nvSpPr>
        <p:spPr>
          <a:xfrm>
            <a:off x="6355079" y="3474720"/>
            <a:ext cx="91440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400" b="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Features:</a:t>
            </a:r>
          </a:p>
        </p:txBody>
      </p:sp>
      <p:sp>
        <p:nvSpPr>
          <p:cNvPr id="145" name="Text 26"/>
          <p:cNvSpPr txBox="1"/>
          <p:nvPr/>
        </p:nvSpPr>
        <p:spPr>
          <a:xfrm>
            <a:off x="7351776" y="3474720"/>
            <a:ext cx="4023360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category · rating (1–5) · label (OR, CG) · text_</a:t>
            </a:r>
          </a:p>
        </p:txBody>
      </p:sp>
      <p:sp>
        <p:nvSpPr>
          <p:cNvPr id="146" name="Text 27"/>
          <p:cNvSpPr txBox="1"/>
          <p:nvPr/>
        </p:nvSpPr>
        <p:spPr>
          <a:xfrm>
            <a:off x="6355079" y="3950208"/>
            <a:ext cx="86868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400" b="1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Labels:</a:t>
            </a:r>
          </a:p>
        </p:txBody>
      </p:sp>
      <p:sp>
        <p:nvSpPr>
          <p:cNvPr id="147" name="Text 28"/>
          <p:cNvSpPr txBox="1"/>
          <p:nvPr/>
        </p:nvSpPr>
        <p:spPr>
          <a:xfrm>
            <a:off x="7351776" y="3950208"/>
            <a:ext cx="416052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886968">
              <a:defRPr sz="1358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OR = Original Reviews   |   CG = Computer Generated</a:t>
            </a:r>
          </a:p>
        </p:txBody>
      </p:sp>
      <p:sp>
        <p:nvSpPr>
          <p:cNvPr id="148" name="Shape 29"/>
          <p:cNvSpPr/>
          <p:nvPr/>
        </p:nvSpPr>
        <p:spPr>
          <a:xfrm>
            <a:off x="6355079" y="4590288"/>
            <a:ext cx="5074921" cy="566929"/>
          </a:xfrm>
          <a:prstGeom prst="roundRect">
            <a:avLst>
              <a:gd name="adj" fmla="val 6452"/>
            </a:avLst>
          </a:prstGeom>
          <a:solidFill>
            <a:srgbClr val="F1F6FC"/>
          </a:solidFill>
          <a:ln w="12700">
            <a:solidFill>
              <a:srgbClr val="D7E0EC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49" name="Text 30"/>
          <p:cNvSpPr txBox="1"/>
          <p:nvPr/>
        </p:nvSpPr>
        <p:spPr>
          <a:xfrm>
            <a:off x="6537959" y="4736591"/>
            <a:ext cx="4709161" cy="2194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>
              <a:defRPr sz="1400">
                <a:solidFill>
                  <a:srgbClr val="132238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Hinweis: CG wahrscheinlich mit GPT-2 von 2021 generiert</a:t>
            </a:r>
          </a:p>
        </p:txBody>
      </p:sp>
      <p:sp>
        <p:nvSpPr>
          <p:cNvPr id="150" name="Shape 31"/>
          <p:cNvSpPr/>
          <p:nvPr/>
        </p:nvSpPr>
        <p:spPr>
          <a:xfrm>
            <a:off x="594359" y="6080759"/>
            <a:ext cx="10972801" cy="1"/>
          </a:xfrm>
          <a:prstGeom prst="line">
            <a:avLst/>
          </a:prstGeom>
          <a:ln w="12700">
            <a:solidFill>
              <a:srgbClr val="D7E0EC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151" name="Text 32"/>
          <p:cNvSpPr txBox="1"/>
          <p:nvPr/>
        </p:nvSpPr>
        <p:spPr>
          <a:xfrm>
            <a:off x="892219" y="5327396"/>
            <a:ext cx="43434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832104">
              <a:defRPr sz="1092" b="1">
                <a:solidFill>
                  <a:srgbClr val="193B6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Projektverzeichnis: github.zhaw.ch/muellral/</a:t>
            </a:r>
          </a:p>
        </p:txBody>
      </p:sp>
      <p:sp>
        <p:nvSpPr>
          <p:cNvPr id="152" name="Text 33"/>
          <p:cNvSpPr txBox="1"/>
          <p:nvPr/>
        </p:nvSpPr>
        <p:spPr>
          <a:xfrm>
            <a:off x="6400799" y="5353811"/>
            <a:ext cx="388620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lnSpcReduction="10000"/>
          </a:bodyPr>
          <a:lstStyle>
            <a:lvl1pPr defTabSz="832104">
              <a:defRPr sz="1092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Dataset: Kaggle · muqaddasejaz/fake-reviews-dataset</a:t>
            </a:r>
          </a:p>
        </p:txBody>
      </p:sp>
      <p:sp>
        <p:nvSpPr>
          <p:cNvPr id="153" name="Text 34"/>
          <p:cNvSpPr txBox="1"/>
          <p:nvPr/>
        </p:nvSpPr>
        <p:spPr>
          <a:xfrm>
            <a:off x="6400799" y="5582167"/>
            <a:ext cx="2240281" cy="1645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>
            <a:lvl1pPr defTabSz="758951">
              <a:defRPr sz="996">
                <a:solidFill>
                  <a:srgbClr val="6474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Quelle: Fake Reviews Dataset, Amazon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156" name="Title 1"/>
          <p:cNvSpPr txBox="1">
            <a:spLocks noGrp="1"/>
          </p:cNvSpPr>
          <p:nvPr>
            <p:ph type="title"/>
          </p:nvPr>
        </p:nvSpPr>
        <p:spPr>
          <a:xfrm>
            <a:off x="203200" y="24945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Overview Classification Pipeline</a:t>
            </a:r>
          </a:p>
        </p:txBody>
      </p:sp>
      <p:sp>
        <p:nvSpPr>
          <p:cNvPr id="157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15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pic>
        <p:nvPicPr>
          <p:cNvPr id="159" name="Content Placeholder 9" descr="Content Placeholder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232982"/>
            <a:ext cx="10424188" cy="54884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Footer Placeholder 4"/>
          <p:cNvSpPr txBox="1"/>
          <p:nvPr/>
        </p:nvSpPr>
        <p:spPr>
          <a:xfrm>
            <a:off x="4054631" y="6168983"/>
            <a:ext cx="4023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16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LLM Fake Review Klassifikator</a:t>
            </a:r>
          </a:p>
        </p:txBody>
      </p:sp>
      <p:sp>
        <p:nvSpPr>
          <p:cNvPr id="165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16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0789506" y="3303817"/>
            <a:ext cx="181383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  <p:sp>
        <p:nvSpPr>
          <p:cNvPr id="167" name="Oval 2"/>
          <p:cNvSpPr/>
          <p:nvPr/>
        </p:nvSpPr>
        <p:spPr>
          <a:xfrm>
            <a:off x="12312996" y="-387827"/>
            <a:ext cx="1463041" cy="1737361"/>
          </a:xfrm>
          <a:prstGeom prst="ellipse">
            <a:avLst/>
          </a:prstGeom>
          <a:ln w="25400">
            <a:solidFill>
              <a:srgbClr val="DCE6F1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TextBox 9"/>
          <p:cNvSpPr txBox="1"/>
          <p:nvPr/>
        </p:nvSpPr>
        <p:spPr>
          <a:xfrm>
            <a:off x="368140" y="1666363"/>
            <a:ext cx="283464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Projekt-Pipeline</a:t>
            </a:r>
          </a:p>
        </p:txBody>
      </p:sp>
      <p:sp>
        <p:nvSpPr>
          <p:cNvPr id="169" name="Oval 10"/>
          <p:cNvSpPr/>
          <p:nvPr/>
        </p:nvSpPr>
        <p:spPr>
          <a:xfrm>
            <a:off x="432148" y="2215004"/>
            <a:ext cx="475489" cy="475489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0" name="TextBox 11"/>
          <p:cNvSpPr txBox="1"/>
          <p:nvPr/>
        </p:nvSpPr>
        <p:spPr>
          <a:xfrm>
            <a:off x="432148" y="2333876"/>
            <a:ext cx="4754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</a:t>
            </a:r>
          </a:p>
        </p:txBody>
      </p:sp>
      <p:sp>
        <p:nvSpPr>
          <p:cNvPr id="171" name="TextBox 12"/>
          <p:cNvSpPr txBox="1"/>
          <p:nvPr/>
        </p:nvSpPr>
        <p:spPr>
          <a:xfrm>
            <a:off x="1072228" y="2242435"/>
            <a:ext cx="24231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Datensatz laden</a:t>
            </a:r>
          </a:p>
        </p:txBody>
      </p:sp>
      <p:sp>
        <p:nvSpPr>
          <p:cNvPr id="172" name="TextBox 13"/>
          <p:cNvSpPr txBox="1"/>
          <p:nvPr/>
        </p:nvSpPr>
        <p:spPr>
          <a:xfrm>
            <a:off x="1072228" y="2599052"/>
            <a:ext cx="2377441" cy="29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32.345 Trainingsreviews</a:t>
            </a:r>
          </a:p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8.087 Testreviews</a:t>
            </a:r>
          </a:p>
        </p:txBody>
      </p:sp>
      <p:sp>
        <p:nvSpPr>
          <p:cNvPr id="173" name="Connector 14"/>
          <p:cNvSpPr/>
          <p:nvPr/>
        </p:nvSpPr>
        <p:spPr>
          <a:xfrm flipH="1">
            <a:off x="669892" y="2727068"/>
            <a:ext cx="1" cy="347473"/>
          </a:xfrm>
          <a:prstGeom prst="line">
            <a:avLst/>
          </a:prstGeom>
          <a:ln w="19050">
            <a:solidFill>
              <a:srgbClr val="A3B8C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174" name="Oval 15"/>
          <p:cNvSpPr/>
          <p:nvPr/>
        </p:nvSpPr>
        <p:spPr>
          <a:xfrm>
            <a:off x="432148" y="3239132"/>
            <a:ext cx="475489" cy="475489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TextBox 16"/>
          <p:cNvSpPr txBox="1"/>
          <p:nvPr/>
        </p:nvSpPr>
        <p:spPr>
          <a:xfrm>
            <a:off x="432148" y="3358004"/>
            <a:ext cx="4754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176" name="TextBox 17"/>
          <p:cNvSpPr txBox="1"/>
          <p:nvPr/>
        </p:nvSpPr>
        <p:spPr>
          <a:xfrm>
            <a:off x="1072228" y="3266564"/>
            <a:ext cx="24231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GPT-4o prompten</a:t>
            </a:r>
          </a:p>
        </p:txBody>
      </p:sp>
      <p:sp>
        <p:nvSpPr>
          <p:cNvPr id="177" name="TextBox 18"/>
          <p:cNvSpPr txBox="1"/>
          <p:nvPr/>
        </p:nvSpPr>
        <p:spPr>
          <a:xfrm>
            <a:off x="1072228" y="3623180"/>
            <a:ext cx="2377441" cy="29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Kategorie, Rating</a:t>
            </a:r>
          </a:p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und Review-Text</a:t>
            </a:r>
          </a:p>
        </p:txBody>
      </p:sp>
      <p:sp>
        <p:nvSpPr>
          <p:cNvPr id="178" name="Connector 19"/>
          <p:cNvSpPr/>
          <p:nvPr/>
        </p:nvSpPr>
        <p:spPr>
          <a:xfrm flipH="1">
            <a:off x="669892" y="3751196"/>
            <a:ext cx="1" cy="347473"/>
          </a:xfrm>
          <a:prstGeom prst="line">
            <a:avLst/>
          </a:prstGeom>
          <a:ln w="19050">
            <a:solidFill>
              <a:srgbClr val="A3B8C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179" name="Oval 20"/>
          <p:cNvSpPr/>
          <p:nvPr/>
        </p:nvSpPr>
        <p:spPr>
          <a:xfrm>
            <a:off x="432148" y="4263260"/>
            <a:ext cx="475489" cy="475489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" name="TextBox 21"/>
          <p:cNvSpPr txBox="1"/>
          <p:nvPr/>
        </p:nvSpPr>
        <p:spPr>
          <a:xfrm>
            <a:off x="432148" y="4382132"/>
            <a:ext cx="4754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</a:t>
            </a:r>
          </a:p>
        </p:txBody>
      </p:sp>
      <p:sp>
        <p:nvSpPr>
          <p:cNvPr id="181" name="TextBox 22"/>
          <p:cNvSpPr txBox="1"/>
          <p:nvPr/>
        </p:nvSpPr>
        <p:spPr>
          <a:xfrm>
            <a:off x="1072228" y="4290692"/>
            <a:ext cx="24231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Prompt iterieren</a:t>
            </a:r>
          </a:p>
        </p:txBody>
      </p:sp>
      <p:sp>
        <p:nvSpPr>
          <p:cNvPr id="182" name="TextBox 23"/>
          <p:cNvSpPr txBox="1"/>
          <p:nvPr/>
        </p:nvSpPr>
        <p:spPr>
          <a:xfrm>
            <a:off x="1072228" y="4647308"/>
            <a:ext cx="2377441" cy="29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Einfach → Beispiele</a:t>
            </a:r>
          </a:p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→ Fehlerbeispiele</a:t>
            </a:r>
          </a:p>
        </p:txBody>
      </p:sp>
      <p:sp>
        <p:nvSpPr>
          <p:cNvPr id="183" name="Connector 24"/>
          <p:cNvSpPr/>
          <p:nvPr/>
        </p:nvSpPr>
        <p:spPr>
          <a:xfrm flipH="1">
            <a:off x="669892" y="4775324"/>
            <a:ext cx="1" cy="347473"/>
          </a:xfrm>
          <a:prstGeom prst="line">
            <a:avLst/>
          </a:prstGeom>
          <a:ln w="19050">
            <a:solidFill>
              <a:srgbClr val="A3B8CD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184" name="Oval 25"/>
          <p:cNvSpPr/>
          <p:nvPr/>
        </p:nvSpPr>
        <p:spPr>
          <a:xfrm>
            <a:off x="432148" y="5287388"/>
            <a:ext cx="475489" cy="475489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5" name="TextBox 26"/>
          <p:cNvSpPr txBox="1"/>
          <p:nvPr/>
        </p:nvSpPr>
        <p:spPr>
          <a:xfrm>
            <a:off x="432148" y="5406260"/>
            <a:ext cx="475488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4</a:t>
            </a:r>
          </a:p>
        </p:txBody>
      </p:sp>
      <p:sp>
        <p:nvSpPr>
          <p:cNvPr id="186" name="TextBox 27"/>
          <p:cNvSpPr txBox="1"/>
          <p:nvPr/>
        </p:nvSpPr>
        <p:spPr>
          <a:xfrm>
            <a:off x="1072228" y="5314820"/>
            <a:ext cx="24231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5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Auswerten</a:t>
            </a:r>
          </a:p>
        </p:txBody>
      </p:sp>
      <p:sp>
        <p:nvSpPr>
          <p:cNvPr id="187" name="TextBox 28"/>
          <p:cNvSpPr txBox="1"/>
          <p:nvPr/>
        </p:nvSpPr>
        <p:spPr>
          <a:xfrm>
            <a:off x="1072228" y="5671436"/>
            <a:ext cx="2377441" cy="294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Accuracy, Confusion Matrix</a:t>
            </a:r>
          </a:p>
          <a:p>
            <a:pPr defTabSz="457200">
              <a:lnSpc>
                <a:spcPct val="93000"/>
              </a:lnSpc>
              <a:defRPr sz="10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und Fehlklassifikationen</a:t>
            </a:r>
          </a:p>
        </p:txBody>
      </p:sp>
      <p:sp>
        <p:nvSpPr>
          <p:cNvPr id="188" name="TextBox 29"/>
          <p:cNvSpPr txBox="1"/>
          <p:nvPr/>
        </p:nvSpPr>
        <p:spPr>
          <a:xfrm>
            <a:off x="3071204" y="1653063"/>
            <a:ext cx="374904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Prompt-Evolution</a:t>
            </a:r>
          </a:p>
        </p:txBody>
      </p:sp>
      <p:sp>
        <p:nvSpPr>
          <p:cNvPr id="189" name="TextBox 30"/>
          <p:cNvSpPr txBox="1"/>
          <p:nvPr/>
        </p:nvSpPr>
        <p:spPr>
          <a:xfrm>
            <a:off x="3071204" y="2046256"/>
            <a:ext cx="416052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Iteratives Prompt Engineering mit Fehleranalyse</a:t>
            </a:r>
          </a:p>
        </p:txBody>
      </p:sp>
      <p:sp>
        <p:nvSpPr>
          <p:cNvPr id="190" name="Rounded Rectangle 31"/>
          <p:cNvSpPr/>
          <p:nvPr/>
        </p:nvSpPr>
        <p:spPr>
          <a:xfrm>
            <a:off x="3071204" y="2476024"/>
            <a:ext cx="1417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6D8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1" name="Oval 32"/>
          <p:cNvSpPr/>
          <p:nvPr/>
        </p:nvSpPr>
        <p:spPr>
          <a:xfrm>
            <a:off x="3180932" y="2631472"/>
            <a:ext cx="310897" cy="310897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2" name="TextBox 33"/>
          <p:cNvSpPr txBox="1"/>
          <p:nvPr/>
        </p:nvSpPr>
        <p:spPr>
          <a:xfrm>
            <a:off x="3180932" y="2709196"/>
            <a:ext cx="3108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</a:t>
            </a:r>
          </a:p>
        </p:txBody>
      </p:sp>
      <p:sp>
        <p:nvSpPr>
          <p:cNvPr id="193" name="TextBox 34"/>
          <p:cNvSpPr txBox="1"/>
          <p:nvPr/>
        </p:nvSpPr>
        <p:spPr>
          <a:xfrm>
            <a:off x="3546693" y="2594896"/>
            <a:ext cx="80467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Einfacher Prompt</a:t>
            </a:r>
          </a:p>
        </p:txBody>
      </p:sp>
      <p:sp>
        <p:nvSpPr>
          <p:cNvPr id="194" name="TextBox 35"/>
          <p:cNvSpPr txBox="1"/>
          <p:nvPr/>
        </p:nvSpPr>
        <p:spPr>
          <a:xfrm>
            <a:off x="3199220" y="3143536"/>
            <a:ext cx="116128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kurze Regeln für CG/OR</a:t>
            </a:r>
          </a:p>
        </p:txBody>
      </p:sp>
      <p:sp>
        <p:nvSpPr>
          <p:cNvPr id="195" name="TextBox 36"/>
          <p:cNvSpPr txBox="1"/>
          <p:nvPr/>
        </p:nvSpPr>
        <p:spPr>
          <a:xfrm>
            <a:off x="3199220" y="3646456"/>
            <a:ext cx="100584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E60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86%</a:t>
            </a:r>
          </a:p>
        </p:txBody>
      </p:sp>
      <p:sp>
        <p:nvSpPr>
          <p:cNvPr id="196" name="TextBox 37"/>
          <p:cNvSpPr txBox="1"/>
          <p:nvPr/>
        </p:nvSpPr>
        <p:spPr>
          <a:xfrm>
            <a:off x="3199220" y="3966496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N=50</a:t>
            </a:r>
          </a:p>
        </p:txBody>
      </p:sp>
      <p:sp>
        <p:nvSpPr>
          <p:cNvPr id="197" name="Right Arrow 38"/>
          <p:cNvSpPr/>
          <p:nvPr/>
        </p:nvSpPr>
        <p:spPr>
          <a:xfrm>
            <a:off x="4552532" y="3234976"/>
            <a:ext cx="201169" cy="1554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B7D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8" name="Rounded Rectangle 39"/>
          <p:cNvSpPr/>
          <p:nvPr/>
        </p:nvSpPr>
        <p:spPr>
          <a:xfrm>
            <a:off x="4808564" y="2476024"/>
            <a:ext cx="1417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6D8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9" name="Oval 40"/>
          <p:cNvSpPr/>
          <p:nvPr/>
        </p:nvSpPr>
        <p:spPr>
          <a:xfrm>
            <a:off x="4918291" y="2631472"/>
            <a:ext cx="310897" cy="310897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0" name="TextBox 41"/>
          <p:cNvSpPr txBox="1"/>
          <p:nvPr/>
        </p:nvSpPr>
        <p:spPr>
          <a:xfrm>
            <a:off x="4918291" y="2709196"/>
            <a:ext cx="3108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201" name="TextBox 42"/>
          <p:cNvSpPr txBox="1"/>
          <p:nvPr/>
        </p:nvSpPr>
        <p:spPr>
          <a:xfrm>
            <a:off x="5284052" y="2594896"/>
            <a:ext cx="804673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Prompt mit Beispielen</a:t>
            </a:r>
          </a:p>
        </p:txBody>
      </p:sp>
      <p:sp>
        <p:nvSpPr>
          <p:cNvPr id="202" name="TextBox 43"/>
          <p:cNvSpPr txBox="1"/>
          <p:nvPr/>
        </p:nvSpPr>
        <p:spPr>
          <a:xfrm>
            <a:off x="4936579" y="3143536"/>
            <a:ext cx="116128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typische Muster + Beispielreviews</a:t>
            </a:r>
          </a:p>
        </p:txBody>
      </p:sp>
      <p:sp>
        <p:nvSpPr>
          <p:cNvPr id="203" name="TextBox 44"/>
          <p:cNvSpPr txBox="1"/>
          <p:nvPr/>
        </p:nvSpPr>
        <p:spPr>
          <a:xfrm>
            <a:off x="4936579" y="3646456"/>
            <a:ext cx="100584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E60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83,6%</a:t>
            </a:r>
          </a:p>
        </p:txBody>
      </p:sp>
      <p:sp>
        <p:nvSpPr>
          <p:cNvPr id="204" name="TextBox 45"/>
          <p:cNvSpPr txBox="1"/>
          <p:nvPr/>
        </p:nvSpPr>
        <p:spPr>
          <a:xfrm>
            <a:off x="4936579" y="3966496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N=500</a:t>
            </a:r>
          </a:p>
        </p:txBody>
      </p:sp>
      <p:sp>
        <p:nvSpPr>
          <p:cNvPr id="205" name="Right Arrow 46"/>
          <p:cNvSpPr/>
          <p:nvPr/>
        </p:nvSpPr>
        <p:spPr>
          <a:xfrm>
            <a:off x="6289891" y="3234976"/>
            <a:ext cx="201169" cy="1554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9BB7D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6" name="Rounded Rectangle 47"/>
          <p:cNvSpPr/>
          <p:nvPr/>
        </p:nvSpPr>
        <p:spPr>
          <a:xfrm>
            <a:off x="6545925" y="2476024"/>
            <a:ext cx="1417321" cy="182880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6D8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Oval 48"/>
          <p:cNvSpPr/>
          <p:nvPr/>
        </p:nvSpPr>
        <p:spPr>
          <a:xfrm>
            <a:off x="6655651" y="2631472"/>
            <a:ext cx="310897" cy="310897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8" name="TextBox 49"/>
          <p:cNvSpPr txBox="1"/>
          <p:nvPr/>
        </p:nvSpPr>
        <p:spPr>
          <a:xfrm>
            <a:off x="6655651" y="2709196"/>
            <a:ext cx="31089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</a:t>
            </a:r>
          </a:p>
        </p:txBody>
      </p:sp>
      <p:sp>
        <p:nvSpPr>
          <p:cNvPr id="209" name="TextBox 50"/>
          <p:cNvSpPr txBox="1"/>
          <p:nvPr/>
        </p:nvSpPr>
        <p:spPr>
          <a:xfrm>
            <a:off x="7021411" y="2594896"/>
            <a:ext cx="80467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0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Analyse</a:t>
            </a:r>
          </a:p>
        </p:txBody>
      </p:sp>
      <p:sp>
        <p:nvSpPr>
          <p:cNvPr id="210" name="TextBox 51"/>
          <p:cNvSpPr txBox="1"/>
          <p:nvPr/>
        </p:nvSpPr>
        <p:spPr>
          <a:xfrm>
            <a:off x="6673941" y="3143536"/>
            <a:ext cx="116128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10 falsche Vorhersagen als neue Beispiele ergänzt</a:t>
            </a:r>
          </a:p>
        </p:txBody>
      </p:sp>
      <p:sp>
        <p:nvSpPr>
          <p:cNvPr id="211" name="TextBox 52"/>
          <p:cNvSpPr txBox="1"/>
          <p:nvPr/>
        </p:nvSpPr>
        <p:spPr>
          <a:xfrm>
            <a:off x="6673941" y="3646456"/>
            <a:ext cx="100584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E6091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88%</a:t>
            </a:r>
          </a:p>
        </p:txBody>
      </p:sp>
      <p:sp>
        <p:nvSpPr>
          <p:cNvPr id="212" name="TextBox 53"/>
          <p:cNvSpPr txBox="1"/>
          <p:nvPr/>
        </p:nvSpPr>
        <p:spPr>
          <a:xfrm>
            <a:off x="6673941" y="3966496"/>
            <a:ext cx="1143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8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N=492 gültig</a:t>
            </a:r>
          </a:p>
        </p:txBody>
      </p:sp>
      <p:sp>
        <p:nvSpPr>
          <p:cNvPr id="213" name="TextBox 54"/>
          <p:cNvSpPr txBox="1"/>
          <p:nvPr/>
        </p:nvSpPr>
        <p:spPr>
          <a:xfrm>
            <a:off x="4179568" y="4618445"/>
            <a:ext cx="3200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400" b="1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Accuracy-Verlauf</a:t>
            </a:r>
          </a:p>
        </p:txBody>
      </p:sp>
      <p:sp>
        <p:nvSpPr>
          <p:cNvPr id="214" name="Connector 55"/>
          <p:cNvSpPr/>
          <p:nvPr/>
        </p:nvSpPr>
        <p:spPr>
          <a:xfrm>
            <a:off x="3311002" y="6071169"/>
            <a:ext cx="4069081" cy="1"/>
          </a:xfrm>
          <a:prstGeom prst="line">
            <a:avLst/>
          </a:prstGeom>
          <a:ln w="12700">
            <a:solidFill>
              <a:srgbClr val="C0CDDA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215" name="Oval 56"/>
          <p:cNvSpPr/>
          <p:nvPr/>
        </p:nvSpPr>
        <p:spPr>
          <a:xfrm>
            <a:off x="3432393" y="5406676"/>
            <a:ext cx="100585" cy="100585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6" name="TextBox 57"/>
          <p:cNvSpPr txBox="1"/>
          <p:nvPr/>
        </p:nvSpPr>
        <p:spPr>
          <a:xfrm>
            <a:off x="3254084" y="5109496"/>
            <a:ext cx="457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86%</a:t>
            </a:r>
          </a:p>
        </p:txBody>
      </p:sp>
      <p:sp>
        <p:nvSpPr>
          <p:cNvPr id="217" name="TextBox 58"/>
          <p:cNvSpPr txBox="1"/>
          <p:nvPr/>
        </p:nvSpPr>
        <p:spPr>
          <a:xfrm>
            <a:off x="3363812" y="5668039"/>
            <a:ext cx="6766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7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einfach</a:t>
            </a:r>
          </a:p>
        </p:txBody>
      </p:sp>
      <p:sp>
        <p:nvSpPr>
          <p:cNvPr id="218" name="Oval 59"/>
          <p:cNvSpPr/>
          <p:nvPr/>
        </p:nvSpPr>
        <p:spPr>
          <a:xfrm>
            <a:off x="5169752" y="5659050"/>
            <a:ext cx="100585" cy="100585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9" name="TextBox 60"/>
          <p:cNvSpPr txBox="1"/>
          <p:nvPr/>
        </p:nvSpPr>
        <p:spPr>
          <a:xfrm>
            <a:off x="4991444" y="5361870"/>
            <a:ext cx="457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83,6%</a:t>
            </a:r>
          </a:p>
        </p:txBody>
      </p:sp>
      <p:sp>
        <p:nvSpPr>
          <p:cNvPr id="220" name="TextBox 61"/>
          <p:cNvSpPr txBox="1"/>
          <p:nvPr/>
        </p:nvSpPr>
        <p:spPr>
          <a:xfrm>
            <a:off x="4881716" y="5907444"/>
            <a:ext cx="6766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7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mit Beispielen</a:t>
            </a:r>
          </a:p>
        </p:txBody>
      </p:sp>
      <p:sp>
        <p:nvSpPr>
          <p:cNvPr id="221" name="Oval 62"/>
          <p:cNvSpPr/>
          <p:nvPr/>
        </p:nvSpPr>
        <p:spPr>
          <a:xfrm>
            <a:off x="6907113" y="5196364"/>
            <a:ext cx="100585" cy="100585"/>
          </a:xfrm>
          <a:prstGeom prst="ellipse">
            <a:avLst/>
          </a:prstGeom>
          <a:solidFill>
            <a:srgbClr val="265688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2" name="TextBox 63"/>
          <p:cNvSpPr txBox="1"/>
          <p:nvPr/>
        </p:nvSpPr>
        <p:spPr>
          <a:xfrm>
            <a:off x="6728804" y="4899184"/>
            <a:ext cx="457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9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88%</a:t>
            </a:r>
          </a:p>
        </p:txBody>
      </p:sp>
      <p:sp>
        <p:nvSpPr>
          <p:cNvPr id="223" name="TextBox 64"/>
          <p:cNvSpPr txBox="1"/>
          <p:nvPr/>
        </p:nvSpPr>
        <p:spPr>
          <a:xfrm>
            <a:off x="6712478" y="5410388"/>
            <a:ext cx="6766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700">
                <a:solidFill>
                  <a:srgbClr val="506B87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verbessert</a:t>
            </a:r>
          </a:p>
        </p:txBody>
      </p:sp>
      <p:sp>
        <p:nvSpPr>
          <p:cNvPr id="224" name="Connector 65"/>
          <p:cNvSpPr/>
          <p:nvPr/>
        </p:nvSpPr>
        <p:spPr>
          <a:xfrm>
            <a:off x="3482684" y="5456968"/>
            <a:ext cx="1737361" cy="252375"/>
          </a:xfrm>
          <a:prstGeom prst="line">
            <a:avLst/>
          </a:prstGeom>
          <a:ln w="25400">
            <a:solidFill>
              <a:srgbClr val="598CB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225" name="Connector 66"/>
          <p:cNvSpPr/>
          <p:nvPr/>
        </p:nvSpPr>
        <p:spPr>
          <a:xfrm flipV="1">
            <a:off x="5220044" y="5246656"/>
            <a:ext cx="1737361" cy="462687"/>
          </a:xfrm>
          <a:prstGeom prst="line">
            <a:avLst/>
          </a:prstGeom>
          <a:ln w="25400">
            <a:solidFill>
              <a:srgbClr val="598CB4"/>
            </a:solidFill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</p:spPr>
        <p:txBody>
          <a:bodyPr lIns="45719" rIns="45719"/>
          <a:lstStyle/>
          <a:p>
            <a:pPr defTabSz="457200"/>
            <a:endParaRPr/>
          </a:p>
        </p:txBody>
      </p:sp>
      <p:sp>
        <p:nvSpPr>
          <p:cNvPr id="226" name="TextBox 68"/>
          <p:cNvSpPr txBox="1"/>
          <p:nvPr/>
        </p:nvSpPr>
        <p:spPr>
          <a:xfrm>
            <a:off x="8437718" y="1666363"/>
            <a:ext cx="35661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20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LLM-Leistungsdetails</a:t>
            </a:r>
          </a:p>
        </p:txBody>
      </p:sp>
      <p:sp>
        <p:nvSpPr>
          <p:cNvPr id="227" name="Rectangle 70"/>
          <p:cNvSpPr/>
          <p:nvPr/>
        </p:nvSpPr>
        <p:spPr>
          <a:xfrm>
            <a:off x="9429582" y="3366900"/>
            <a:ext cx="1005840" cy="457201"/>
          </a:xfrm>
          <a:prstGeom prst="rect">
            <a:avLst/>
          </a:prstGeom>
          <a:solidFill>
            <a:srgbClr val="DCEBF7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8" name="TextBox 71"/>
          <p:cNvSpPr txBox="1"/>
          <p:nvPr/>
        </p:nvSpPr>
        <p:spPr>
          <a:xfrm>
            <a:off x="9475302" y="3531492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Vorh. CG</a:t>
            </a:r>
          </a:p>
        </p:txBody>
      </p:sp>
      <p:sp>
        <p:nvSpPr>
          <p:cNvPr id="229" name="Rectangle 72"/>
          <p:cNvSpPr/>
          <p:nvPr/>
        </p:nvSpPr>
        <p:spPr>
          <a:xfrm>
            <a:off x="10435422" y="3366900"/>
            <a:ext cx="1005840" cy="457201"/>
          </a:xfrm>
          <a:prstGeom prst="rect">
            <a:avLst/>
          </a:prstGeom>
          <a:solidFill>
            <a:srgbClr val="DCEBF7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0" name="TextBox 73"/>
          <p:cNvSpPr txBox="1"/>
          <p:nvPr/>
        </p:nvSpPr>
        <p:spPr>
          <a:xfrm>
            <a:off x="10481142" y="3531492"/>
            <a:ext cx="914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Vorh. OR</a:t>
            </a:r>
          </a:p>
        </p:txBody>
      </p:sp>
      <p:sp>
        <p:nvSpPr>
          <p:cNvPr id="231" name="Rectangle 74"/>
          <p:cNvSpPr/>
          <p:nvPr/>
        </p:nvSpPr>
        <p:spPr>
          <a:xfrm>
            <a:off x="8423742" y="3824100"/>
            <a:ext cx="1005840" cy="457201"/>
          </a:xfrm>
          <a:prstGeom prst="rect">
            <a:avLst/>
          </a:prstGeom>
          <a:solidFill>
            <a:srgbClr val="DCEBF7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2" name="TextBox 75"/>
          <p:cNvSpPr txBox="1"/>
          <p:nvPr/>
        </p:nvSpPr>
        <p:spPr>
          <a:xfrm>
            <a:off x="8496894" y="3988692"/>
            <a:ext cx="8595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Wahr CG</a:t>
            </a:r>
          </a:p>
        </p:txBody>
      </p:sp>
      <p:sp>
        <p:nvSpPr>
          <p:cNvPr id="233" name="Rectangle 76"/>
          <p:cNvSpPr/>
          <p:nvPr/>
        </p:nvSpPr>
        <p:spPr>
          <a:xfrm>
            <a:off x="9429582" y="3824100"/>
            <a:ext cx="1005840" cy="457201"/>
          </a:xfrm>
          <a:prstGeom prst="rect">
            <a:avLst/>
          </a:prstGeom>
          <a:solidFill>
            <a:srgbClr val="E0EFE4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4" name="TextBox 77"/>
          <p:cNvSpPr txBox="1"/>
          <p:nvPr/>
        </p:nvSpPr>
        <p:spPr>
          <a:xfrm>
            <a:off x="9521022" y="3952116"/>
            <a:ext cx="822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400" b="1">
                <a:solidFill>
                  <a:srgbClr val="286E3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207</a:t>
            </a:r>
          </a:p>
        </p:txBody>
      </p:sp>
      <p:sp>
        <p:nvSpPr>
          <p:cNvPr id="235" name="Rectangle 78"/>
          <p:cNvSpPr/>
          <p:nvPr/>
        </p:nvSpPr>
        <p:spPr>
          <a:xfrm>
            <a:off x="10435422" y="3824100"/>
            <a:ext cx="1005840" cy="457201"/>
          </a:xfrm>
          <a:prstGeom prst="rect">
            <a:avLst/>
          </a:prstGeom>
          <a:solidFill>
            <a:srgbClr val="F6E0D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6" name="TextBox 79"/>
          <p:cNvSpPr txBox="1"/>
          <p:nvPr/>
        </p:nvSpPr>
        <p:spPr>
          <a:xfrm>
            <a:off x="10526861" y="3952116"/>
            <a:ext cx="822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400" b="1">
                <a:solidFill>
                  <a:srgbClr val="AA42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52</a:t>
            </a:r>
          </a:p>
        </p:txBody>
      </p:sp>
      <p:sp>
        <p:nvSpPr>
          <p:cNvPr id="237" name="Rectangle 80"/>
          <p:cNvSpPr/>
          <p:nvPr/>
        </p:nvSpPr>
        <p:spPr>
          <a:xfrm>
            <a:off x="8423742" y="4281300"/>
            <a:ext cx="1005840" cy="457201"/>
          </a:xfrm>
          <a:prstGeom prst="rect">
            <a:avLst/>
          </a:prstGeom>
          <a:solidFill>
            <a:srgbClr val="DCEBF7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8" name="TextBox 81"/>
          <p:cNvSpPr txBox="1"/>
          <p:nvPr/>
        </p:nvSpPr>
        <p:spPr>
          <a:xfrm>
            <a:off x="8496894" y="4445892"/>
            <a:ext cx="85953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8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Wahr OR</a:t>
            </a:r>
          </a:p>
        </p:txBody>
      </p:sp>
      <p:sp>
        <p:nvSpPr>
          <p:cNvPr id="239" name="Rectangle 82"/>
          <p:cNvSpPr/>
          <p:nvPr/>
        </p:nvSpPr>
        <p:spPr>
          <a:xfrm>
            <a:off x="9429582" y="4281300"/>
            <a:ext cx="1005840" cy="457201"/>
          </a:xfrm>
          <a:prstGeom prst="rect">
            <a:avLst/>
          </a:prstGeom>
          <a:solidFill>
            <a:srgbClr val="F6E0DE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TextBox 83"/>
          <p:cNvSpPr txBox="1"/>
          <p:nvPr/>
        </p:nvSpPr>
        <p:spPr>
          <a:xfrm>
            <a:off x="9521022" y="4409316"/>
            <a:ext cx="822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400" b="1">
                <a:solidFill>
                  <a:srgbClr val="AA423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30</a:t>
            </a:r>
          </a:p>
        </p:txBody>
      </p:sp>
      <p:sp>
        <p:nvSpPr>
          <p:cNvPr id="241" name="Rectangle 84"/>
          <p:cNvSpPr/>
          <p:nvPr/>
        </p:nvSpPr>
        <p:spPr>
          <a:xfrm>
            <a:off x="10435422" y="4281300"/>
            <a:ext cx="1005840" cy="457201"/>
          </a:xfrm>
          <a:prstGeom prst="rect">
            <a:avLst/>
          </a:prstGeom>
          <a:solidFill>
            <a:srgbClr val="E0EFE4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2" name="TextBox 85"/>
          <p:cNvSpPr txBox="1"/>
          <p:nvPr/>
        </p:nvSpPr>
        <p:spPr>
          <a:xfrm>
            <a:off x="10526861" y="4409316"/>
            <a:ext cx="8229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400" b="1">
                <a:solidFill>
                  <a:srgbClr val="286E3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211</a:t>
            </a:r>
          </a:p>
        </p:txBody>
      </p:sp>
      <p:sp>
        <p:nvSpPr>
          <p:cNvPr id="243" name="TextBox 86"/>
          <p:cNvSpPr txBox="1"/>
          <p:nvPr/>
        </p:nvSpPr>
        <p:spPr>
          <a:xfrm>
            <a:off x="8393010" y="5164791"/>
            <a:ext cx="333756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200">
                <a:solidFill>
                  <a:srgbClr val="1E395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Nach Ergänzung von Fehlerbeispielen erreichte der LLM 88% Precision, Recall, F1-Score und Accuracy.</a:t>
            </a:r>
          </a:p>
        </p:txBody>
      </p:sp>
      <p:sp>
        <p:nvSpPr>
          <p:cNvPr id="244" name="Rounded Rectangle 88"/>
          <p:cNvSpPr/>
          <p:nvPr/>
        </p:nvSpPr>
        <p:spPr>
          <a:xfrm>
            <a:off x="8355162" y="2489740"/>
            <a:ext cx="3154681" cy="594361"/>
          </a:xfrm>
          <a:prstGeom prst="roundRect">
            <a:avLst>
              <a:gd name="adj" fmla="val 16667"/>
            </a:avLst>
          </a:prstGeom>
          <a:solidFill>
            <a:srgbClr val="E8F2FA"/>
          </a:solidFill>
          <a:ln w="12700">
            <a:solidFill>
              <a:srgbClr val="AECCE6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5" name="TextBox 89"/>
          <p:cNvSpPr txBox="1"/>
          <p:nvPr/>
        </p:nvSpPr>
        <p:spPr>
          <a:xfrm>
            <a:off x="8521150" y="2674090"/>
            <a:ext cx="2788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algn="ctr" defTabSz="457200">
              <a:defRPr sz="1300" b="1">
                <a:solidFill>
                  <a:srgbClr val="154369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GPT-4o + 500 zufällige Reviews</a:t>
            </a:r>
          </a:p>
        </p:txBody>
      </p:sp>
      <p:sp>
        <p:nvSpPr>
          <p:cNvPr id="246" name="Rounded Rectangle 90"/>
          <p:cNvSpPr/>
          <p:nvPr/>
        </p:nvSpPr>
        <p:spPr>
          <a:xfrm>
            <a:off x="195416" y="6195895"/>
            <a:ext cx="11801169" cy="548641"/>
          </a:xfrm>
          <a:prstGeom prst="roundRect">
            <a:avLst>
              <a:gd name="adj" fmla="val 16667"/>
            </a:avLst>
          </a:prstGeom>
          <a:solidFill>
            <a:srgbClr val="154369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7" name="TextBox 91"/>
          <p:cNvSpPr txBox="1"/>
          <p:nvPr/>
        </p:nvSpPr>
        <p:spPr>
          <a:xfrm>
            <a:off x="329276" y="6380541"/>
            <a:ext cx="11795761" cy="16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Kernaussage: Prompt Engineering und Fehleranalyse verbesserten die LLM-Accuracy auf 88%; die Confusion Matrix zeigt die wichtigsten Fehlertypen (CG→OR und OR→CG).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Over all performance</a:t>
            </a:r>
          </a:p>
        </p:txBody>
      </p:sp>
      <p:grpSp>
        <p:nvGrpSpPr>
          <p:cNvPr id="252" name="Rounded Rectangular Callout 6"/>
          <p:cNvGrpSpPr/>
          <p:nvPr/>
        </p:nvGrpSpPr>
        <p:grpSpPr>
          <a:xfrm>
            <a:off x="8554930" y="2045470"/>
            <a:ext cx="3599096" cy="1297158"/>
            <a:chOff x="0" y="0"/>
            <a:chExt cx="3599094" cy="1297157"/>
          </a:xfrm>
        </p:grpSpPr>
        <p:sp>
          <p:nvSpPr>
            <p:cNvPr id="250" name="Shape"/>
            <p:cNvSpPr/>
            <p:nvPr/>
          </p:nvSpPr>
          <p:spPr>
            <a:xfrm>
              <a:off x="0" y="0"/>
              <a:ext cx="3536363" cy="12971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310" y="3600"/>
                  </a:moveTo>
                  <a:cubicBezTo>
                    <a:pt x="6310" y="1612"/>
                    <a:pt x="6901" y="0"/>
                    <a:pt x="7630" y="0"/>
                  </a:cubicBezTo>
                  <a:lnTo>
                    <a:pt x="8858" y="0"/>
                  </a:lnTo>
                  <a:lnTo>
                    <a:pt x="20279" y="0"/>
                  </a:lnTo>
                  <a:cubicBezTo>
                    <a:pt x="21009" y="0"/>
                    <a:pt x="21600" y="1612"/>
                    <a:pt x="21600" y="3600"/>
                  </a:cubicBezTo>
                  <a:lnTo>
                    <a:pt x="21600" y="3600"/>
                  </a:lnTo>
                  <a:lnTo>
                    <a:pt x="21600" y="18000"/>
                  </a:lnTo>
                  <a:cubicBezTo>
                    <a:pt x="21600" y="19988"/>
                    <a:pt x="21009" y="21600"/>
                    <a:pt x="20279" y="21600"/>
                  </a:cubicBezTo>
                  <a:lnTo>
                    <a:pt x="7630" y="21600"/>
                  </a:lnTo>
                  <a:cubicBezTo>
                    <a:pt x="6901" y="21600"/>
                    <a:pt x="6310" y="19988"/>
                    <a:pt x="6310" y="18000"/>
                  </a:cubicBezTo>
                  <a:lnTo>
                    <a:pt x="6310" y="9000"/>
                  </a:lnTo>
                  <a:lnTo>
                    <a:pt x="0" y="8773"/>
                  </a:lnTo>
                  <a:lnTo>
                    <a:pt x="6310" y="3600"/>
                  </a:lnTo>
                  <a:close/>
                </a:path>
              </a:pathLst>
            </a:custGeom>
            <a:solidFill>
              <a:srgbClr val="FFF2CC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1" name="Fehler unterschiedlich…"/>
            <p:cNvSpPr txBox="1"/>
            <p:nvPr/>
          </p:nvSpPr>
          <p:spPr>
            <a:xfrm>
              <a:off x="1306510" y="278083"/>
              <a:ext cx="2292585" cy="74099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/>
            <a:p>
              <a:r>
                <a:t>Fehler unterschiedlich </a:t>
              </a:r>
            </a:p>
            <a:p>
              <a:r>
                <a:t>verteilt </a:t>
              </a:r>
            </a:p>
            <a:p>
              <a:r>
                <a:t>nicht </a:t>
              </a:r>
            </a:p>
            <a:p>
              <a:endParaRPr/>
            </a:p>
            <a:p>
              <a:r>
                <a:t>systematisch gleich</a:t>
              </a:r>
            </a:p>
          </p:txBody>
        </p:sp>
      </p:grpSp>
      <p:sp>
        <p:nvSpPr>
          <p:cNvPr id="253" name="Shape 4"/>
          <p:cNvSpPr/>
          <p:nvPr/>
        </p:nvSpPr>
        <p:spPr>
          <a:xfrm>
            <a:off x="483731" y="1664207"/>
            <a:ext cx="8185875" cy="4233674"/>
          </a:xfrm>
          <a:prstGeom prst="roundRect">
            <a:avLst>
              <a:gd name="adj" fmla="val 2189"/>
            </a:avLst>
          </a:prstGeom>
          <a:solidFill>
            <a:srgbClr val="FFFFFF"/>
          </a:solidFill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54" name="Text 5"/>
          <p:cNvSpPr txBox="1"/>
          <p:nvPr/>
        </p:nvSpPr>
        <p:spPr>
          <a:xfrm>
            <a:off x="960119" y="1958848"/>
            <a:ext cx="3931922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Modell-Accuracy (Testset)</a:t>
            </a:r>
          </a:p>
        </p:txBody>
      </p:sp>
      <p:sp>
        <p:nvSpPr>
          <p:cNvPr id="255" name="Text 6"/>
          <p:cNvSpPr txBox="1"/>
          <p:nvPr/>
        </p:nvSpPr>
        <p:spPr>
          <a:xfrm>
            <a:off x="7618434" y="2041398"/>
            <a:ext cx="9144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 b="1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Accuracy</a:t>
            </a:r>
          </a:p>
        </p:txBody>
      </p:sp>
      <p:sp>
        <p:nvSpPr>
          <p:cNvPr id="256" name="Shape 7"/>
          <p:cNvSpPr/>
          <p:nvPr/>
        </p:nvSpPr>
        <p:spPr>
          <a:xfrm flipH="1">
            <a:off x="3337559" y="2487167"/>
            <a:ext cx="1" cy="2587754"/>
          </a:xfrm>
          <a:prstGeom prst="line">
            <a:avLst/>
          </a:prstGeom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57" name="Shape 8"/>
          <p:cNvSpPr/>
          <p:nvPr/>
        </p:nvSpPr>
        <p:spPr>
          <a:xfrm>
            <a:off x="960119" y="2395727"/>
            <a:ext cx="320041" cy="320042"/>
          </a:xfrm>
          <a:prstGeom prst="ellipse">
            <a:avLst/>
          </a:prstGeom>
          <a:solidFill>
            <a:srgbClr val="0B63B6"/>
          </a:solidFill>
          <a:ln w="12700">
            <a:solidFill>
              <a:srgbClr val="0B63B6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58" name="Text 9"/>
          <p:cNvSpPr txBox="1"/>
          <p:nvPr/>
        </p:nvSpPr>
        <p:spPr>
          <a:xfrm>
            <a:off x="960119" y="2459482"/>
            <a:ext cx="320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1</a:t>
            </a:r>
          </a:p>
        </p:txBody>
      </p:sp>
      <p:sp>
        <p:nvSpPr>
          <p:cNvPr id="259" name="Text 10"/>
          <p:cNvSpPr txBox="1"/>
          <p:nvPr/>
        </p:nvSpPr>
        <p:spPr>
          <a:xfrm>
            <a:off x="1600200" y="2446020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ensemble</a:t>
            </a:r>
          </a:p>
        </p:txBody>
      </p:sp>
      <p:sp>
        <p:nvSpPr>
          <p:cNvPr id="260" name="Shape 11"/>
          <p:cNvSpPr/>
          <p:nvPr/>
        </p:nvSpPr>
        <p:spPr>
          <a:xfrm>
            <a:off x="3577838" y="2552317"/>
            <a:ext cx="3919221" cy="283465"/>
          </a:xfrm>
          <a:prstGeom prst="rect">
            <a:avLst/>
          </a:prstGeom>
          <a:solidFill>
            <a:srgbClr val="0B63B6"/>
          </a:solidFill>
          <a:ln w="12700">
            <a:solidFill>
              <a:srgbClr val="0B63B6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61" name="Text 12"/>
          <p:cNvSpPr txBox="1"/>
          <p:nvPr/>
        </p:nvSpPr>
        <p:spPr>
          <a:xfrm>
            <a:off x="7801314" y="2490470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0.92</a:t>
            </a:r>
          </a:p>
        </p:txBody>
      </p:sp>
      <p:sp>
        <p:nvSpPr>
          <p:cNvPr id="262" name="Shape 13"/>
          <p:cNvSpPr/>
          <p:nvPr/>
        </p:nvSpPr>
        <p:spPr>
          <a:xfrm>
            <a:off x="960119" y="2916935"/>
            <a:ext cx="320041" cy="320041"/>
          </a:xfrm>
          <a:prstGeom prst="ellipse">
            <a:avLst/>
          </a:prstGeom>
          <a:solidFill>
            <a:srgbClr val="DCEEFF"/>
          </a:solidFill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63" name="Text 14"/>
          <p:cNvSpPr txBox="1"/>
          <p:nvPr/>
        </p:nvSpPr>
        <p:spPr>
          <a:xfrm>
            <a:off x="960119" y="2980689"/>
            <a:ext cx="320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</a:t>
            </a:r>
          </a:p>
        </p:txBody>
      </p:sp>
      <p:sp>
        <p:nvSpPr>
          <p:cNvPr id="264" name="Text 15"/>
          <p:cNvSpPr txBox="1"/>
          <p:nvPr/>
        </p:nvSpPr>
        <p:spPr>
          <a:xfrm>
            <a:off x="1600200" y="2967227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xgboost</a:t>
            </a:r>
          </a:p>
        </p:txBody>
      </p:sp>
      <p:sp>
        <p:nvSpPr>
          <p:cNvPr id="265" name="Shape 16"/>
          <p:cNvSpPr/>
          <p:nvPr/>
        </p:nvSpPr>
        <p:spPr>
          <a:xfrm>
            <a:off x="3611879" y="2962655"/>
            <a:ext cx="3851138" cy="283465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66" name="Text 17"/>
          <p:cNvSpPr txBox="1"/>
          <p:nvPr/>
        </p:nvSpPr>
        <p:spPr>
          <a:xfrm>
            <a:off x="7801314" y="3011677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0.91</a:t>
            </a:r>
          </a:p>
        </p:txBody>
      </p:sp>
      <p:sp>
        <p:nvSpPr>
          <p:cNvPr id="267" name="Shape 18"/>
          <p:cNvSpPr/>
          <p:nvPr/>
        </p:nvSpPr>
        <p:spPr>
          <a:xfrm>
            <a:off x="960119" y="3438144"/>
            <a:ext cx="320041" cy="320041"/>
          </a:xfrm>
          <a:prstGeom prst="ellipse">
            <a:avLst/>
          </a:prstGeom>
          <a:solidFill>
            <a:srgbClr val="DCEEFF"/>
          </a:solidFill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68" name="Text 19"/>
          <p:cNvSpPr txBox="1"/>
          <p:nvPr/>
        </p:nvSpPr>
        <p:spPr>
          <a:xfrm>
            <a:off x="960119" y="3501897"/>
            <a:ext cx="320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</a:t>
            </a:r>
          </a:p>
        </p:txBody>
      </p:sp>
      <p:sp>
        <p:nvSpPr>
          <p:cNvPr id="269" name="Text 20"/>
          <p:cNvSpPr txBox="1"/>
          <p:nvPr/>
        </p:nvSpPr>
        <p:spPr>
          <a:xfrm>
            <a:off x="1600200" y="3488435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class_fcnn_bge</a:t>
            </a:r>
          </a:p>
        </p:txBody>
      </p:sp>
      <p:sp>
        <p:nvSpPr>
          <p:cNvPr id="270" name="Shape 21"/>
          <p:cNvSpPr/>
          <p:nvPr/>
        </p:nvSpPr>
        <p:spPr>
          <a:xfrm>
            <a:off x="3611879" y="3483864"/>
            <a:ext cx="3738586" cy="283465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71" name="Text 22"/>
          <p:cNvSpPr txBox="1"/>
          <p:nvPr/>
        </p:nvSpPr>
        <p:spPr>
          <a:xfrm>
            <a:off x="7801314" y="3532885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0.90</a:t>
            </a:r>
          </a:p>
        </p:txBody>
      </p:sp>
      <p:sp>
        <p:nvSpPr>
          <p:cNvPr id="272" name="Shape 23"/>
          <p:cNvSpPr/>
          <p:nvPr/>
        </p:nvSpPr>
        <p:spPr>
          <a:xfrm>
            <a:off x="960119" y="3959352"/>
            <a:ext cx="320041" cy="320041"/>
          </a:xfrm>
          <a:prstGeom prst="ellipse">
            <a:avLst/>
          </a:prstGeom>
          <a:solidFill>
            <a:srgbClr val="DCEEFF"/>
          </a:solidFill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73" name="Text 24"/>
          <p:cNvSpPr txBox="1"/>
          <p:nvPr/>
        </p:nvSpPr>
        <p:spPr>
          <a:xfrm>
            <a:off x="960119" y="4023105"/>
            <a:ext cx="320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4</a:t>
            </a:r>
          </a:p>
        </p:txBody>
      </p:sp>
      <p:sp>
        <p:nvSpPr>
          <p:cNvPr id="274" name="Text 25"/>
          <p:cNvSpPr txBox="1"/>
          <p:nvPr/>
        </p:nvSpPr>
        <p:spPr>
          <a:xfrm>
            <a:off x="1600200" y="4009644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random_forest</a:t>
            </a:r>
          </a:p>
        </p:txBody>
      </p:sp>
      <p:sp>
        <p:nvSpPr>
          <p:cNvPr id="275" name="Shape 26"/>
          <p:cNvSpPr/>
          <p:nvPr/>
        </p:nvSpPr>
        <p:spPr>
          <a:xfrm>
            <a:off x="3611879" y="4005071"/>
            <a:ext cx="3586396" cy="283465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76" name="Text 27"/>
          <p:cNvSpPr txBox="1"/>
          <p:nvPr/>
        </p:nvSpPr>
        <p:spPr>
          <a:xfrm>
            <a:off x="7801314" y="4054093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0.88</a:t>
            </a:r>
          </a:p>
        </p:txBody>
      </p:sp>
      <p:sp>
        <p:nvSpPr>
          <p:cNvPr id="277" name="Shape 28"/>
          <p:cNvSpPr/>
          <p:nvPr/>
        </p:nvSpPr>
        <p:spPr>
          <a:xfrm>
            <a:off x="960119" y="4480559"/>
            <a:ext cx="320041" cy="320041"/>
          </a:xfrm>
          <a:prstGeom prst="ellipse">
            <a:avLst/>
          </a:prstGeom>
          <a:solidFill>
            <a:srgbClr val="DCEEFF"/>
          </a:solidFill>
          <a:ln w="12700">
            <a:solidFill>
              <a:srgbClr val="BCD3EB"/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78" name="Text 29"/>
          <p:cNvSpPr txBox="1"/>
          <p:nvPr/>
        </p:nvSpPr>
        <p:spPr>
          <a:xfrm>
            <a:off x="960119" y="4544314"/>
            <a:ext cx="3200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 b="1">
                <a:solidFill>
                  <a:srgbClr val="0B3D75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5</a:t>
            </a:r>
          </a:p>
        </p:txBody>
      </p:sp>
      <p:sp>
        <p:nvSpPr>
          <p:cNvPr id="279" name="Text 30"/>
          <p:cNvSpPr txBox="1"/>
          <p:nvPr/>
        </p:nvSpPr>
        <p:spPr>
          <a:xfrm>
            <a:off x="1600200" y="4530851"/>
            <a:ext cx="173736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5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llm</a:t>
            </a:r>
          </a:p>
        </p:txBody>
      </p:sp>
      <p:sp>
        <p:nvSpPr>
          <p:cNvPr id="280" name="Shape 31"/>
          <p:cNvSpPr/>
          <p:nvPr/>
        </p:nvSpPr>
        <p:spPr>
          <a:xfrm>
            <a:off x="3611879" y="4526279"/>
            <a:ext cx="3586396" cy="283465"/>
          </a:xfrm>
          <a:prstGeom prst="rect">
            <a:avLst/>
          </a:prstGeom>
          <a:solidFill>
            <a:srgbClr val="DCEEFF"/>
          </a:solidFill>
          <a:ln w="12700">
            <a:solidFill>
              <a:srgbClr val="DCEEFF">
                <a:alpha val="0"/>
              </a:srgbClr>
            </a:solidFill>
          </a:ln>
        </p:spPr>
        <p:txBody>
          <a:bodyPr lIns="45719" rIns="45719"/>
          <a:lstStyle/>
          <a:p>
            <a:pPr>
              <a:defRPr>
                <a:latin typeface="Aptos"/>
                <a:ea typeface="Aptos"/>
                <a:cs typeface="Aptos"/>
                <a:sym typeface="Aptos"/>
              </a:defRPr>
            </a:pPr>
            <a:endParaRPr/>
          </a:p>
        </p:txBody>
      </p:sp>
      <p:sp>
        <p:nvSpPr>
          <p:cNvPr id="281" name="Text 32"/>
          <p:cNvSpPr txBox="1"/>
          <p:nvPr/>
        </p:nvSpPr>
        <p:spPr>
          <a:xfrm>
            <a:off x="7801314" y="4575301"/>
            <a:ext cx="59436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F172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0.88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284" name="Title 1"/>
          <p:cNvSpPr txBox="1">
            <a:spLocks noGrp="1"/>
          </p:cNvSpPr>
          <p:nvPr>
            <p:ph type="title"/>
          </p:nvPr>
        </p:nvSpPr>
        <p:spPr>
          <a:xfrm>
            <a:off x="558800" y="1238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Category Analysis</a:t>
            </a:r>
          </a:p>
        </p:txBody>
      </p:sp>
      <p:sp>
        <p:nvSpPr>
          <p:cNvPr id="285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286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6</a:t>
            </a:fld>
            <a:endParaRPr/>
          </a:p>
        </p:txBody>
      </p:sp>
      <p:pic>
        <p:nvPicPr>
          <p:cNvPr id="287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42" y="1425635"/>
            <a:ext cx="7412916" cy="4941944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90" name="Rounded Rectangular Callout 2"/>
          <p:cNvGrpSpPr/>
          <p:nvPr/>
        </p:nvGrpSpPr>
        <p:grpSpPr>
          <a:xfrm>
            <a:off x="7777842" y="2115692"/>
            <a:ext cx="3842659" cy="2626616"/>
            <a:chOff x="0" y="0"/>
            <a:chExt cx="3842658" cy="2626615"/>
          </a:xfrm>
        </p:grpSpPr>
        <p:sp>
          <p:nvSpPr>
            <p:cNvPr id="288" name="Shape"/>
            <p:cNvSpPr/>
            <p:nvPr/>
          </p:nvSpPr>
          <p:spPr>
            <a:xfrm>
              <a:off x="0" y="0"/>
              <a:ext cx="3842659" cy="2626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3179"/>
                  </a:moveTo>
                  <a:cubicBezTo>
                    <a:pt x="0" y="1423"/>
                    <a:pt x="973" y="0"/>
                    <a:pt x="2173" y="0"/>
                  </a:cubicBezTo>
                  <a:lnTo>
                    <a:pt x="3600" y="0"/>
                  </a:lnTo>
                  <a:lnTo>
                    <a:pt x="19427" y="0"/>
                  </a:lnTo>
                  <a:cubicBezTo>
                    <a:pt x="20627" y="0"/>
                    <a:pt x="21600" y="1423"/>
                    <a:pt x="21600" y="3179"/>
                  </a:cubicBezTo>
                  <a:lnTo>
                    <a:pt x="21600" y="15892"/>
                  </a:lnTo>
                  <a:cubicBezTo>
                    <a:pt x="21600" y="17648"/>
                    <a:pt x="20627" y="19071"/>
                    <a:pt x="19427" y="19071"/>
                  </a:cubicBezTo>
                  <a:lnTo>
                    <a:pt x="9000" y="19071"/>
                  </a:lnTo>
                  <a:lnTo>
                    <a:pt x="3952" y="21600"/>
                  </a:lnTo>
                  <a:lnTo>
                    <a:pt x="3600" y="19071"/>
                  </a:lnTo>
                  <a:lnTo>
                    <a:pt x="2173" y="19071"/>
                  </a:lnTo>
                  <a:cubicBezTo>
                    <a:pt x="973" y="19071"/>
                    <a:pt x="0" y="17648"/>
                    <a:pt x="0" y="15892"/>
                  </a:cubicBezTo>
                  <a:lnTo>
                    <a:pt x="0" y="15892"/>
                  </a:lnTo>
                  <a:lnTo>
                    <a:pt x="0" y="11125"/>
                  </a:lnTo>
                  <a:close/>
                </a:path>
              </a:pathLst>
            </a:custGeom>
            <a:solidFill>
              <a:srgbClr val="FFF2CC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/>
            </a:p>
          </p:txBody>
        </p:sp>
        <p:sp>
          <p:nvSpPr>
            <p:cNvPr id="289" name="Xgboost fast überall am besten…"/>
            <p:cNvSpPr txBox="1"/>
            <p:nvPr/>
          </p:nvSpPr>
          <p:spPr>
            <a:xfrm>
              <a:off x="165277" y="116686"/>
              <a:ext cx="3512105" cy="20856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r>
                <a:t>Xgboost fast überall am besten</a:t>
              </a:r>
              <a:endParaRPr>
                <a:solidFill>
                  <a:srgbClr val="FFFFFF"/>
                </a:solidFill>
              </a:endParaRPr>
            </a:p>
            <a:p>
              <a:r>
                <a:t>Kindle_Store für FCNN ungewöhnlich einfach</a:t>
              </a:r>
              <a:endParaRPr>
                <a:solidFill>
                  <a:srgbClr val="FFFFFF"/>
                </a:solidFill>
              </a:endParaRPr>
            </a:p>
            <a:p>
              <a:r>
                <a:t>Sports &amp; Outdoors ist auffällig. xgboost 5% besser als FCNN</a:t>
              </a:r>
              <a:endParaRPr>
                <a:solidFill>
                  <a:srgbClr val="FFFFFF"/>
                </a:solidFill>
              </a:endParaRPr>
            </a:p>
            <a:p>
              <a:r>
                <a:t>Movies_and_TV für alle schwierig</a:t>
              </a:r>
            </a:p>
          </p:txBody>
        </p:sp>
      </p:grp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293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Rating Analysis</a:t>
            </a:r>
          </a:p>
        </p:txBody>
      </p:sp>
      <p:sp>
        <p:nvSpPr>
          <p:cNvPr id="294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295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pic>
        <p:nvPicPr>
          <p:cNvPr id="296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08" y="1470446"/>
            <a:ext cx="8979257" cy="5387554"/>
          </a:xfrm>
          <a:prstGeom prst="rect">
            <a:avLst/>
          </a:prstGeom>
          <a:ln w="12700">
            <a:miter lim="400000"/>
          </a:ln>
        </p:spPr>
      </p:pic>
      <p:graphicFrame>
        <p:nvGraphicFramePr>
          <p:cNvPr id="297" name="Table 2"/>
          <p:cNvGraphicFramePr/>
          <p:nvPr/>
        </p:nvGraphicFramePr>
        <p:xfrm>
          <a:off x="9637486" y="2728685"/>
          <a:ext cx="2208605" cy="164384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7118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71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9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Rating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Records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Anteil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2155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5%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2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1967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5%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3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3786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9%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4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7965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20%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3974"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5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24559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200"/>
                        <a:t>61%</a:t>
                      </a:r>
                    </a:p>
                  </a:txBody>
                  <a:tcPr marL="9525" marR="9525" marT="9525" marB="9525" anchor="b" horzOverflow="overflow">
                    <a:solidFill>
                      <a:srgbClr val="E8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30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Accuracy by Text Length</a:t>
            </a:r>
          </a:p>
        </p:txBody>
      </p:sp>
      <p:sp>
        <p:nvSpPr>
          <p:cNvPr id="307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30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2418" y="6414760"/>
            <a:ext cx="181383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  <p:pic>
        <p:nvPicPr>
          <p:cNvPr id="309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960" y="1507986"/>
            <a:ext cx="10515840" cy="525792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12" name="Rounded Rectangular Callout 8"/>
          <p:cNvGrpSpPr/>
          <p:nvPr/>
        </p:nvGrpSpPr>
        <p:grpSpPr>
          <a:xfrm>
            <a:off x="8590149" y="3428999"/>
            <a:ext cx="3345521" cy="1605778"/>
            <a:chOff x="0" y="0"/>
            <a:chExt cx="3345520" cy="1605776"/>
          </a:xfrm>
        </p:grpSpPr>
        <p:sp>
          <p:nvSpPr>
            <p:cNvPr id="310" name="Shape"/>
            <p:cNvSpPr/>
            <p:nvPr/>
          </p:nvSpPr>
          <p:spPr>
            <a:xfrm>
              <a:off x="0" y="0"/>
              <a:ext cx="3345521" cy="1605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6773" y="3600"/>
                  </a:moveTo>
                  <a:cubicBezTo>
                    <a:pt x="6773" y="1612"/>
                    <a:pt x="7547" y="0"/>
                    <a:pt x="8501" y="0"/>
                  </a:cubicBezTo>
                  <a:lnTo>
                    <a:pt x="9244" y="0"/>
                  </a:lnTo>
                  <a:lnTo>
                    <a:pt x="19872" y="0"/>
                  </a:lnTo>
                  <a:cubicBezTo>
                    <a:pt x="20826" y="0"/>
                    <a:pt x="21600" y="1612"/>
                    <a:pt x="21600" y="3600"/>
                  </a:cubicBezTo>
                  <a:lnTo>
                    <a:pt x="21600" y="3600"/>
                  </a:lnTo>
                  <a:lnTo>
                    <a:pt x="21600" y="18000"/>
                  </a:lnTo>
                  <a:cubicBezTo>
                    <a:pt x="21600" y="19988"/>
                    <a:pt x="20826" y="21600"/>
                    <a:pt x="19872" y="21600"/>
                  </a:cubicBezTo>
                  <a:lnTo>
                    <a:pt x="8501" y="21600"/>
                  </a:lnTo>
                  <a:cubicBezTo>
                    <a:pt x="7547" y="21600"/>
                    <a:pt x="6773" y="19988"/>
                    <a:pt x="6773" y="18000"/>
                  </a:cubicBezTo>
                  <a:lnTo>
                    <a:pt x="6773" y="9000"/>
                  </a:lnTo>
                  <a:lnTo>
                    <a:pt x="0" y="4519"/>
                  </a:lnTo>
                  <a:lnTo>
                    <a:pt x="6773" y="3600"/>
                  </a:lnTo>
                  <a:close/>
                </a:path>
              </a:pathLst>
            </a:custGeom>
            <a:solidFill>
              <a:srgbClr val="FFF2CC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1" name="Je länger der Text, desto besser die Klassifikation…"/>
            <p:cNvSpPr txBox="1"/>
            <p:nvPr/>
          </p:nvSpPr>
          <p:spPr>
            <a:xfrm>
              <a:off x="1179540" y="344244"/>
              <a:ext cx="2035523" cy="9172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r>
                <a:t>Je länger der Text, desto besser die Klassifikation…</a:t>
              </a:r>
            </a:p>
          </p:txBody>
        </p:sp>
      </p:grp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Footer Placeholder 4"/>
          <p:cNvSpPr txBox="1"/>
          <p:nvPr/>
        </p:nvSpPr>
        <p:spPr>
          <a:xfrm>
            <a:off x="4155759" y="6188243"/>
            <a:ext cx="4023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315" name="Title 1"/>
          <p:cNvSpPr txBox="1">
            <a:spLocks noGrp="1"/>
          </p:cNvSpPr>
          <p:nvPr>
            <p:ph type="title"/>
          </p:nvPr>
        </p:nvSpPr>
        <p:spPr>
          <a:xfrm>
            <a:off x="266700" y="136205"/>
            <a:ext cx="10515600" cy="852046"/>
          </a:xfrm>
          <a:prstGeom prst="rect">
            <a:avLst/>
          </a:prstGeom>
        </p:spPr>
        <p:txBody>
          <a:bodyPr/>
          <a:lstStyle>
            <a:lvl1pPr>
              <a:defRPr sz="3900"/>
            </a:lvl1pPr>
          </a:lstStyle>
          <a:p>
            <a:r>
              <a:t>Feature Engineering</a:t>
            </a:r>
          </a:p>
        </p:txBody>
      </p:sp>
      <p:sp>
        <p:nvSpPr>
          <p:cNvPr id="316" name="Date Placeholder 3"/>
          <p:cNvSpPr txBox="1"/>
          <p:nvPr/>
        </p:nvSpPr>
        <p:spPr>
          <a:xfrm>
            <a:off x="955359" y="6188243"/>
            <a:ext cx="26517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317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243857" y="6188243"/>
            <a:ext cx="181383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318" name="TextBox 3"/>
          <p:cNvSpPr txBox="1"/>
          <p:nvPr/>
        </p:nvSpPr>
        <p:spPr>
          <a:xfrm>
            <a:off x="274000" y="923861"/>
            <a:ext cx="6270388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60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Wichtige Merkmale und Einfluss auf die Klassifikations-Schwierigkeit</a:t>
            </a:r>
          </a:p>
        </p:txBody>
      </p:sp>
      <p:sp>
        <p:nvSpPr>
          <p:cNvPr id="319" name="Rounded Rectangle 5"/>
          <p:cNvSpPr/>
          <p:nvPr/>
        </p:nvSpPr>
        <p:spPr>
          <a:xfrm>
            <a:off x="655319" y="1515923"/>
            <a:ext cx="5212081" cy="4526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D6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0" name="TextBox 6"/>
          <p:cNvSpPr txBox="1"/>
          <p:nvPr/>
        </p:nvSpPr>
        <p:spPr>
          <a:xfrm>
            <a:off x="1021079" y="1717091"/>
            <a:ext cx="2701192" cy="396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2000" b="1">
                <a:solidFill>
                  <a:srgbClr val="193E7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Features Engineering</a:t>
            </a:r>
          </a:p>
        </p:txBody>
      </p:sp>
      <p:grpSp>
        <p:nvGrpSpPr>
          <p:cNvPr id="323" name="Rounded Rectangle 7"/>
          <p:cNvGrpSpPr/>
          <p:nvPr/>
        </p:nvGrpSpPr>
        <p:grpSpPr>
          <a:xfrm>
            <a:off x="975359" y="2156003"/>
            <a:ext cx="1325881" cy="310897"/>
            <a:chOff x="0" y="0"/>
            <a:chExt cx="1325880" cy="310895"/>
          </a:xfrm>
        </p:grpSpPr>
        <p:sp>
          <p:nvSpPr>
            <p:cNvPr id="321" name="Rounded Rectangle"/>
            <p:cNvSpPr/>
            <p:nvPr/>
          </p:nvSpPr>
          <p:spPr>
            <a:xfrm>
              <a:off x="0" y="0"/>
              <a:ext cx="1325881" cy="310896"/>
            </a:xfrm>
            <a:prstGeom prst="roundRect">
              <a:avLst>
                <a:gd name="adj" fmla="val 16667"/>
              </a:avLst>
            </a:prstGeom>
            <a:solidFill>
              <a:srgbClr val="EBF3FC"/>
            </a:solidFill>
            <a:ln w="9525" cap="flat">
              <a:solidFill>
                <a:srgbClr val="EBF3F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2" name="Textlänge"/>
            <p:cNvSpPr txBox="1"/>
            <p:nvPr/>
          </p:nvSpPr>
          <p:spPr>
            <a:xfrm>
              <a:off x="65659" y="27177"/>
              <a:ext cx="1194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Textlänge</a:t>
              </a:r>
            </a:p>
          </p:txBody>
        </p:sp>
      </p:grpSp>
      <p:sp>
        <p:nvSpPr>
          <p:cNvPr id="324" name="TextBox 8"/>
          <p:cNvSpPr txBox="1"/>
          <p:nvPr/>
        </p:nvSpPr>
        <p:spPr>
          <a:xfrm>
            <a:off x="2484120" y="2146859"/>
            <a:ext cx="3154681" cy="3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char_len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Anzahl Zeichen</a:t>
            </a:r>
          </a:p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word_len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Anzahl Wörter</a:t>
            </a:r>
          </a:p>
        </p:txBody>
      </p:sp>
      <p:grpSp>
        <p:nvGrpSpPr>
          <p:cNvPr id="327" name="Rounded Rectangle 9"/>
          <p:cNvGrpSpPr/>
          <p:nvPr/>
        </p:nvGrpSpPr>
        <p:grpSpPr>
          <a:xfrm>
            <a:off x="975359" y="2814371"/>
            <a:ext cx="1325881" cy="310897"/>
            <a:chOff x="0" y="0"/>
            <a:chExt cx="1325880" cy="310895"/>
          </a:xfrm>
        </p:grpSpPr>
        <p:sp>
          <p:nvSpPr>
            <p:cNvPr id="325" name="Rounded Rectangle"/>
            <p:cNvSpPr/>
            <p:nvPr/>
          </p:nvSpPr>
          <p:spPr>
            <a:xfrm>
              <a:off x="0" y="0"/>
              <a:ext cx="1325881" cy="310896"/>
            </a:xfrm>
            <a:prstGeom prst="roundRect">
              <a:avLst>
                <a:gd name="adj" fmla="val 16667"/>
              </a:avLst>
            </a:prstGeom>
            <a:solidFill>
              <a:srgbClr val="EBF3FC"/>
            </a:solidFill>
            <a:ln w="9525" cap="flat">
              <a:solidFill>
                <a:srgbClr val="EBF3F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26" name="Satzstruktur"/>
            <p:cNvSpPr txBox="1"/>
            <p:nvPr/>
          </p:nvSpPr>
          <p:spPr>
            <a:xfrm>
              <a:off x="65659" y="27177"/>
              <a:ext cx="1194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Satzstruktur</a:t>
              </a:r>
            </a:p>
          </p:txBody>
        </p:sp>
      </p:grpSp>
      <p:sp>
        <p:nvSpPr>
          <p:cNvPr id="328" name="TextBox 10"/>
          <p:cNvSpPr txBox="1"/>
          <p:nvPr/>
        </p:nvSpPr>
        <p:spPr>
          <a:xfrm>
            <a:off x="2484120" y="2805227"/>
            <a:ext cx="3154681" cy="170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sentence_count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Anzahl Sätze im Text</a:t>
            </a:r>
          </a:p>
        </p:txBody>
      </p:sp>
      <p:grpSp>
        <p:nvGrpSpPr>
          <p:cNvPr id="331" name="Rounded Rectangle 11"/>
          <p:cNvGrpSpPr/>
          <p:nvPr/>
        </p:nvGrpSpPr>
        <p:grpSpPr>
          <a:xfrm>
            <a:off x="975359" y="3472739"/>
            <a:ext cx="1325881" cy="310897"/>
            <a:chOff x="0" y="0"/>
            <a:chExt cx="1325880" cy="310895"/>
          </a:xfrm>
        </p:grpSpPr>
        <p:sp>
          <p:nvSpPr>
            <p:cNvPr id="329" name="Rounded Rectangle"/>
            <p:cNvSpPr/>
            <p:nvPr/>
          </p:nvSpPr>
          <p:spPr>
            <a:xfrm>
              <a:off x="0" y="0"/>
              <a:ext cx="1325881" cy="310896"/>
            </a:xfrm>
            <a:prstGeom prst="roundRect">
              <a:avLst>
                <a:gd name="adj" fmla="val 16667"/>
              </a:avLst>
            </a:prstGeom>
            <a:solidFill>
              <a:srgbClr val="EBF3FC"/>
            </a:solidFill>
            <a:ln w="9525" cap="flat">
              <a:solidFill>
                <a:srgbClr val="EBF3F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0" name="Wortstruktur"/>
            <p:cNvSpPr txBox="1"/>
            <p:nvPr/>
          </p:nvSpPr>
          <p:spPr>
            <a:xfrm>
              <a:off x="65659" y="27177"/>
              <a:ext cx="1194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Wortstruktur</a:t>
              </a:r>
            </a:p>
          </p:txBody>
        </p:sp>
      </p:grpSp>
      <p:sp>
        <p:nvSpPr>
          <p:cNvPr id="332" name="TextBox 12"/>
          <p:cNvSpPr txBox="1"/>
          <p:nvPr/>
        </p:nvSpPr>
        <p:spPr>
          <a:xfrm>
            <a:off x="2484120" y="3463595"/>
            <a:ext cx="3154681" cy="170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avg_word_len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durchschnittliche Wortlänge</a:t>
            </a:r>
          </a:p>
        </p:txBody>
      </p:sp>
      <p:grpSp>
        <p:nvGrpSpPr>
          <p:cNvPr id="335" name="Rounded Rectangle 13"/>
          <p:cNvGrpSpPr/>
          <p:nvPr/>
        </p:nvGrpSpPr>
        <p:grpSpPr>
          <a:xfrm>
            <a:off x="975359" y="4131107"/>
            <a:ext cx="1325881" cy="310897"/>
            <a:chOff x="0" y="0"/>
            <a:chExt cx="1325880" cy="310895"/>
          </a:xfrm>
        </p:grpSpPr>
        <p:sp>
          <p:nvSpPr>
            <p:cNvPr id="333" name="Rounded Rectangle"/>
            <p:cNvSpPr/>
            <p:nvPr/>
          </p:nvSpPr>
          <p:spPr>
            <a:xfrm>
              <a:off x="0" y="0"/>
              <a:ext cx="1325881" cy="310896"/>
            </a:xfrm>
            <a:prstGeom prst="roundRect">
              <a:avLst>
                <a:gd name="adj" fmla="val 16667"/>
              </a:avLst>
            </a:prstGeom>
            <a:solidFill>
              <a:srgbClr val="EBF3FC"/>
            </a:solidFill>
            <a:ln w="9525" cap="flat">
              <a:solidFill>
                <a:srgbClr val="EBF3F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4" name="Satzzeichen"/>
            <p:cNvSpPr txBox="1"/>
            <p:nvPr/>
          </p:nvSpPr>
          <p:spPr>
            <a:xfrm>
              <a:off x="65659" y="27177"/>
              <a:ext cx="1194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Satzzeichen</a:t>
              </a:r>
            </a:p>
          </p:txBody>
        </p:sp>
      </p:grpSp>
      <p:sp>
        <p:nvSpPr>
          <p:cNvPr id="336" name="TextBox 14"/>
          <p:cNvSpPr txBox="1"/>
          <p:nvPr/>
        </p:nvSpPr>
        <p:spPr>
          <a:xfrm>
            <a:off x="2484120" y="4121963"/>
            <a:ext cx="3154681" cy="3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exclamation_count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Anzahl „!“</a:t>
            </a:r>
          </a:p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question_count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Anzahl „?“</a:t>
            </a:r>
          </a:p>
        </p:txBody>
      </p:sp>
      <p:grpSp>
        <p:nvGrpSpPr>
          <p:cNvPr id="339" name="Rounded Rectangle 15"/>
          <p:cNvGrpSpPr/>
          <p:nvPr/>
        </p:nvGrpSpPr>
        <p:grpSpPr>
          <a:xfrm>
            <a:off x="975359" y="4789475"/>
            <a:ext cx="1325881" cy="310897"/>
            <a:chOff x="0" y="0"/>
            <a:chExt cx="1325880" cy="310895"/>
          </a:xfrm>
        </p:grpSpPr>
        <p:sp>
          <p:nvSpPr>
            <p:cNvPr id="337" name="Rounded Rectangle"/>
            <p:cNvSpPr/>
            <p:nvPr/>
          </p:nvSpPr>
          <p:spPr>
            <a:xfrm>
              <a:off x="0" y="0"/>
              <a:ext cx="1325881" cy="310896"/>
            </a:xfrm>
            <a:prstGeom prst="roundRect">
              <a:avLst>
                <a:gd name="adj" fmla="val 16667"/>
              </a:avLst>
            </a:prstGeom>
            <a:solidFill>
              <a:srgbClr val="EBF3FC"/>
            </a:solidFill>
            <a:ln w="9525" cap="flat">
              <a:solidFill>
                <a:srgbClr val="EBF3FC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38" name="Schreibstil"/>
            <p:cNvSpPr txBox="1"/>
            <p:nvPr/>
          </p:nvSpPr>
          <p:spPr>
            <a:xfrm>
              <a:off x="65659" y="27177"/>
              <a:ext cx="1194562" cy="2565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Schreibstil</a:t>
              </a:r>
            </a:p>
          </p:txBody>
        </p:sp>
      </p:grpSp>
      <p:sp>
        <p:nvSpPr>
          <p:cNvPr id="340" name="TextBox 16"/>
          <p:cNvSpPr txBox="1"/>
          <p:nvPr/>
        </p:nvSpPr>
        <p:spPr>
          <a:xfrm>
            <a:off x="2484120" y="4780331"/>
            <a:ext cx="3154681" cy="33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1100" b="1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uppercase_ratio</a:t>
            </a:r>
            <a:r>
              <a:rPr b="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rPr>
              <a:t> → Anteil Großbuchstaben im Text</a:t>
            </a:r>
          </a:p>
        </p:txBody>
      </p:sp>
      <p:sp>
        <p:nvSpPr>
          <p:cNvPr id="341" name="Rounded Rectangle 17"/>
          <p:cNvSpPr/>
          <p:nvPr/>
        </p:nvSpPr>
        <p:spPr>
          <a:xfrm>
            <a:off x="6096000" y="1515923"/>
            <a:ext cx="5440681" cy="4526281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9D6E8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2" name="TextBox 18"/>
          <p:cNvSpPr txBox="1"/>
          <p:nvPr/>
        </p:nvSpPr>
        <p:spPr>
          <a:xfrm>
            <a:off x="6461759" y="1717091"/>
            <a:ext cx="4480561" cy="853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457200">
              <a:defRPr b="1">
                <a:solidFill>
                  <a:srgbClr val="193E7E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Was macht es schwer, richtig zu klassifizieren?</a:t>
            </a:r>
          </a:p>
          <a:p>
            <a:pPr defTabSz="457200">
              <a:spcBef>
                <a:spcPts val="200"/>
              </a:spcBef>
              <a:defRPr sz="1200">
                <a:solidFill>
                  <a:srgbClr val="66758A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Feature Importance (Random Forest)</a:t>
            </a:r>
          </a:p>
        </p:txBody>
      </p:sp>
      <p:grpSp>
        <p:nvGrpSpPr>
          <p:cNvPr id="345" name="Rounded Rectangle 19"/>
          <p:cNvGrpSpPr/>
          <p:nvPr/>
        </p:nvGrpSpPr>
        <p:grpSpPr>
          <a:xfrm>
            <a:off x="6438900" y="2312338"/>
            <a:ext cx="4754881" cy="438913"/>
            <a:chOff x="0" y="0"/>
            <a:chExt cx="4754879" cy="438912"/>
          </a:xfrm>
        </p:grpSpPr>
        <p:sp>
          <p:nvSpPr>
            <p:cNvPr id="343" name="Rounded Rectangle"/>
            <p:cNvSpPr/>
            <p:nvPr/>
          </p:nvSpPr>
          <p:spPr>
            <a:xfrm>
              <a:off x="0" y="0"/>
              <a:ext cx="4754880" cy="438913"/>
            </a:xfrm>
            <a:prstGeom prst="roundRect">
              <a:avLst>
                <a:gd name="adj" fmla="val 16667"/>
              </a:avLst>
            </a:prstGeom>
            <a:solidFill>
              <a:srgbClr val="E6EEFA"/>
            </a:solidFill>
            <a:ln w="9525" cap="flat">
              <a:solidFill>
                <a:srgbClr val="E6EEFA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4" name="Top 3 Features erklären zusammen 78.9 % der Vorhersage-Schwierigkeit"/>
            <p:cNvSpPr txBox="1"/>
            <p:nvPr/>
          </p:nvSpPr>
          <p:spPr>
            <a:xfrm>
              <a:off x="71908" y="8636"/>
              <a:ext cx="4611064" cy="421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11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Top 3 Features erklären zusammen 78.9 % der Vorhersage-Schwierigkeit</a:t>
              </a:r>
            </a:p>
          </p:txBody>
        </p:sp>
      </p:grpSp>
      <p:sp>
        <p:nvSpPr>
          <p:cNvPr id="346" name="TextBox 20"/>
          <p:cNvSpPr txBox="1"/>
          <p:nvPr/>
        </p:nvSpPr>
        <p:spPr>
          <a:xfrm>
            <a:off x="6489192" y="2777795"/>
            <a:ext cx="1110144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avg_word_len</a:t>
            </a:r>
          </a:p>
        </p:txBody>
      </p:sp>
      <p:sp>
        <p:nvSpPr>
          <p:cNvPr id="347" name="Rounded Rectangle 21"/>
          <p:cNvSpPr/>
          <p:nvPr/>
        </p:nvSpPr>
        <p:spPr>
          <a:xfrm>
            <a:off x="8363712" y="2814371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8" name="Rounded Rectangle 22"/>
          <p:cNvSpPr/>
          <p:nvPr/>
        </p:nvSpPr>
        <p:spPr>
          <a:xfrm>
            <a:off x="8363712" y="2814371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2E66BE"/>
          </a:solidFill>
          <a:ln>
            <a:solidFill>
              <a:srgbClr val="2E66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9" name="TextBox 23"/>
          <p:cNvSpPr txBox="1"/>
          <p:nvPr/>
        </p:nvSpPr>
        <p:spPr>
          <a:xfrm>
            <a:off x="10624947" y="2768651"/>
            <a:ext cx="50025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 b="1">
                <a:solidFill>
                  <a:srgbClr val="193E7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28.5%</a:t>
            </a:r>
          </a:p>
        </p:txBody>
      </p:sp>
      <p:sp>
        <p:nvSpPr>
          <p:cNvPr id="350" name="TextBox 24"/>
          <p:cNvSpPr txBox="1"/>
          <p:nvPr/>
        </p:nvSpPr>
        <p:spPr>
          <a:xfrm>
            <a:off x="6489192" y="3170987"/>
            <a:ext cx="136164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uppercase_ratio</a:t>
            </a:r>
          </a:p>
        </p:txBody>
      </p:sp>
      <p:sp>
        <p:nvSpPr>
          <p:cNvPr id="351" name="Rounded Rectangle 25"/>
          <p:cNvSpPr/>
          <p:nvPr/>
        </p:nvSpPr>
        <p:spPr>
          <a:xfrm>
            <a:off x="8363712" y="3207563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2" name="Rounded Rectangle 26"/>
          <p:cNvSpPr/>
          <p:nvPr/>
        </p:nvSpPr>
        <p:spPr>
          <a:xfrm>
            <a:off x="8363712" y="3207563"/>
            <a:ext cx="1988740" cy="173737"/>
          </a:xfrm>
          <a:prstGeom prst="roundRect">
            <a:avLst>
              <a:gd name="adj" fmla="val 16667"/>
            </a:avLst>
          </a:prstGeom>
          <a:solidFill>
            <a:srgbClr val="2E66BE"/>
          </a:solidFill>
          <a:ln>
            <a:solidFill>
              <a:srgbClr val="2E66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3" name="TextBox 27"/>
          <p:cNvSpPr txBox="1"/>
          <p:nvPr/>
        </p:nvSpPr>
        <p:spPr>
          <a:xfrm>
            <a:off x="10624947" y="3161843"/>
            <a:ext cx="50025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 b="1">
                <a:solidFill>
                  <a:srgbClr val="193E7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25.3%</a:t>
            </a:r>
          </a:p>
        </p:txBody>
      </p:sp>
      <p:sp>
        <p:nvSpPr>
          <p:cNvPr id="354" name="TextBox 28"/>
          <p:cNvSpPr txBox="1"/>
          <p:nvPr/>
        </p:nvSpPr>
        <p:spPr>
          <a:xfrm>
            <a:off x="6489192" y="3564179"/>
            <a:ext cx="77481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char_len</a:t>
            </a:r>
          </a:p>
        </p:txBody>
      </p:sp>
      <p:sp>
        <p:nvSpPr>
          <p:cNvPr id="355" name="Rounded Rectangle 29"/>
          <p:cNvSpPr/>
          <p:nvPr/>
        </p:nvSpPr>
        <p:spPr>
          <a:xfrm>
            <a:off x="8363712" y="3600755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6" name="Rounded Rectangle 30"/>
          <p:cNvSpPr/>
          <p:nvPr/>
        </p:nvSpPr>
        <p:spPr>
          <a:xfrm>
            <a:off x="8363712" y="3600755"/>
            <a:ext cx="1973019" cy="173737"/>
          </a:xfrm>
          <a:prstGeom prst="roundRect">
            <a:avLst>
              <a:gd name="adj" fmla="val 16667"/>
            </a:avLst>
          </a:prstGeom>
          <a:solidFill>
            <a:srgbClr val="2E66BE"/>
          </a:solidFill>
          <a:ln>
            <a:solidFill>
              <a:srgbClr val="2E66BE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57" name="TextBox 31"/>
          <p:cNvSpPr txBox="1"/>
          <p:nvPr/>
        </p:nvSpPr>
        <p:spPr>
          <a:xfrm>
            <a:off x="10624947" y="3555035"/>
            <a:ext cx="500253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 b="1">
                <a:solidFill>
                  <a:srgbClr val="193E7E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25.1%</a:t>
            </a:r>
          </a:p>
        </p:txBody>
      </p:sp>
      <p:sp>
        <p:nvSpPr>
          <p:cNvPr id="358" name="TextBox 32"/>
          <p:cNvSpPr txBox="1"/>
          <p:nvPr/>
        </p:nvSpPr>
        <p:spPr>
          <a:xfrm>
            <a:off x="6489192" y="3957371"/>
            <a:ext cx="774810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word_len</a:t>
            </a:r>
          </a:p>
        </p:txBody>
      </p:sp>
      <p:sp>
        <p:nvSpPr>
          <p:cNvPr id="359" name="Rounded Rectangle 33"/>
          <p:cNvSpPr/>
          <p:nvPr/>
        </p:nvSpPr>
        <p:spPr>
          <a:xfrm>
            <a:off x="8363712" y="3993947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0" name="Rounded Rectangle 34"/>
          <p:cNvSpPr/>
          <p:nvPr/>
        </p:nvSpPr>
        <p:spPr>
          <a:xfrm>
            <a:off x="8363712" y="3993947"/>
            <a:ext cx="723179" cy="173737"/>
          </a:xfrm>
          <a:prstGeom prst="roundRect">
            <a:avLst>
              <a:gd name="adj" fmla="val 16667"/>
            </a:avLst>
          </a:prstGeom>
          <a:solidFill>
            <a:srgbClr val="769BD5"/>
          </a:solidFill>
          <a:ln>
            <a:solidFill>
              <a:srgbClr val="769BD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1" name="TextBox 35"/>
          <p:cNvSpPr txBox="1"/>
          <p:nvPr/>
        </p:nvSpPr>
        <p:spPr>
          <a:xfrm>
            <a:off x="10702641" y="3948227"/>
            <a:ext cx="42255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>
                <a:solidFill>
                  <a:srgbClr val="212B3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9.2%</a:t>
            </a:r>
          </a:p>
        </p:txBody>
      </p:sp>
      <p:sp>
        <p:nvSpPr>
          <p:cNvPr id="362" name="TextBox 36"/>
          <p:cNvSpPr txBox="1"/>
          <p:nvPr/>
        </p:nvSpPr>
        <p:spPr>
          <a:xfrm>
            <a:off x="6489192" y="4350563"/>
            <a:ext cx="12778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sentence_count</a:t>
            </a:r>
          </a:p>
        </p:txBody>
      </p:sp>
      <p:sp>
        <p:nvSpPr>
          <p:cNvPr id="363" name="Rounded Rectangle 37"/>
          <p:cNvSpPr/>
          <p:nvPr/>
        </p:nvSpPr>
        <p:spPr>
          <a:xfrm>
            <a:off x="8363712" y="4387139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4" name="Rounded Rectangle 38"/>
          <p:cNvSpPr/>
          <p:nvPr/>
        </p:nvSpPr>
        <p:spPr>
          <a:xfrm>
            <a:off x="8363712" y="4387139"/>
            <a:ext cx="605269" cy="173737"/>
          </a:xfrm>
          <a:prstGeom prst="roundRect">
            <a:avLst>
              <a:gd name="adj" fmla="val 16667"/>
            </a:avLst>
          </a:prstGeom>
          <a:solidFill>
            <a:srgbClr val="769BD5"/>
          </a:solidFill>
          <a:ln>
            <a:solidFill>
              <a:srgbClr val="769BD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5" name="TextBox 39"/>
          <p:cNvSpPr txBox="1"/>
          <p:nvPr/>
        </p:nvSpPr>
        <p:spPr>
          <a:xfrm>
            <a:off x="10702641" y="4341419"/>
            <a:ext cx="42255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>
                <a:solidFill>
                  <a:srgbClr val="212B3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7.7%</a:t>
            </a:r>
          </a:p>
        </p:txBody>
      </p:sp>
      <p:sp>
        <p:nvSpPr>
          <p:cNvPr id="366" name="TextBox 40"/>
          <p:cNvSpPr txBox="1"/>
          <p:nvPr/>
        </p:nvSpPr>
        <p:spPr>
          <a:xfrm>
            <a:off x="6489192" y="4743755"/>
            <a:ext cx="15293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exclamation_count</a:t>
            </a:r>
          </a:p>
        </p:txBody>
      </p:sp>
      <p:sp>
        <p:nvSpPr>
          <p:cNvPr id="367" name="Rounded Rectangle 41"/>
          <p:cNvSpPr/>
          <p:nvPr/>
        </p:nvSpPr>
        <p:spPr>
          <a:xfrm>
            <a:off x="8363712" y="4780331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8" name="Rounded Rectangle 42"/>
          <p:cNvSpPr/>
          <p:nvPr/>
        </p:nvSpPr>
        <p:spPr>
          <a:xfrm>
            <a:off x="8363712" y="4780331"/>
            <a:ext cx="298705" cy="173737"/>
          </a:xfrm>
          <a:prstGeom prst="roundRect">
            <a:avLst>
              <a:gd name="adj" fmla="val 16667"/>
            </a:avLst>
          </a:prstGeom>
          <a:solidFill>
            <a:srgbClr val="769BD5"/>
          </a:solidFill>
          <a:ln>
            <a:solidFill>
              <a:srgbClr val="769BD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9" name="TextBox 43"/>
          <p:cNvSpPr txBox="1"/>
          <p:nvPr/>
        </p:nvSpPr>
        <p:spPr>
          <a:xfrm>
            <a:off x="10702641" y="4734611"/>
            <a:ext cx="42255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>
                <a:solidFill>
                  <a:srgbClr val="212B3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3.8%</a:t>
            </a:r>
          </a:p>
        </p:txBody>
      </p:sp>
      <p:sp>
        <p:nvSpPr>
          <p:cNvPr id="370" name="TextBox 44"/>
          <p:cNvSpPr txBox="1"/>
          <p:nvPr/>
        </p:nvSpPr>
        <p:spPr>
          <a:xfrm>
            <a:off x="6489192" y="5136947"/>
            <a:ext cx="1277812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100">
                <a:solidFill>
                  <a:srgbClr val="212B3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r>
              <a:t>question_count</a:t>
            </a:r>
          </a:p>
        </p:txBody>
      </p:sp>
      <p:sp>
        <p:nvSpPr>
          <p:cNvPr id="371" name="Rounded Rectangle 45"/>
          <p:cNvSpPr/>
          <p:nvPr/>
        </p:nvSpPr>
        <p:spPr>
          <a:xfrm>
            <a:off x="8363712" y="5173523"/>
            <a:ext cx="2240281" cy="173737"/>
          </a:xfrm>
          <a:prstGeom prst="roundRect">
            <a:avLst>
              <a:gd name="adj" fmla="val 16667"/>
            </a:avLst>
          </a:prstGeom>
          <a:solidFill>
            <a:srgbClr val="EBF3FC"/>
          </a:solidFill>
          <a:ln>
            <a:solidFill>
              <a:srgbClr val="EBF3FC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2" name="Rounded Rectangle 46"/>
          <p:cNvSpPr/>
          <p:nvPr/>
        </p:nvSpPr>
        <p:spPr>
          <a:xfrm>
            <a:off x="8363712" y="5173523"/>
            <a:ext cx="31443" cy="173737"/>
          </a:xfrm>
          <a:prstGeom prst="roundRect">
            <a:avLst>
              <a:gd name="adj" fmla="val 16667"/>
            </a:avLst>
          </a:prstGeom>
          <a:solidFill>
            <a:srgbClr val="769BD5"/>
          </a:solidFill>
          <a:ln>
            <a:solidFill>
              <a:srgbClr val="769BD5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73" name="TextBox 47"/>
          <p:cNvSpPr txBox="1"/>
          <p:nvPr/>
        </p:nvSpPr>
        <p:spPr>
          <a:xfrm>
            <a:off x="10702641" y="5127803"/>
            <a:ext cx="422559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algn="r" defTabSz="457200">
              <a:defRPr sz="1100">
                <a:solidFill>
                  <a:srgbClr val="212B36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0.4%</a:t>
            </a:r>
          </a:p>
        </p:txBody>
      </p:sp>
      <p:grpSp>
        <p:nvGrpSpPr>
          <p:cNvPr id="376" name="Rounded Rectangle 48"/>
          <p:cNvGrpSpPr/>
          <p:nvPr/>
        </p:nvGrpSpPr>
        <p:grpSpPr>
          <a:xfrm>
            <a:off x="655319" y="6197651"/>
            <a:ext cx="10881361" cy="420625"/>
            <a:chOff x="0" y="0"/>
            <a:chExt cx="10881359" cy="420623"/>
          </a:xfrm>
        </p:grpSpPr>
        <p:sp>
          <p:nvSpPr>
            <p:cNvPr id="374" name="Rounded Rectangle"/>
            <p:cNvSpPr/>
            <p:nvPr/>
          </p:nvSpPr>
          <p:spPr>
            <a:xfrm>
              <a:off x="0" y="0"/>
              <a:ext cx="10881360" cy="420624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9525" cap="flat">
              <a:solidFill>
                <a:srgbClr val="C9D6E8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5" name="Interpretation: Wortlänge, Großbuchstaben und Textlänge sind die wichtigsten Hinweise darauf, ob eine Review schwer einzuordnen ist."/>
            <p:cNvSpPr txBox="1"/>
            <p:nvPr/>
          </p:nvSpPr>
          <p:spPr>
            <a:xfrm>
              <a:off x="71015" y="75691"/>
              <a:ext cx="10739330" cy="2692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 defTabSz="457200">
                <a:defRPr sz="1200" b="1">
                  <a:solidFill>
                    <a:srgbClr val="193E7E"/>
                  </a:solidFill>
                  <a:latin typeface="Aptos"/>
                  <a:ea typeface="Aptos"/>
                  <a:cs typeface="Aptos"/>
                  <a:sym typeface="Aptos"/>
                </a:defRPr>
              </a:pPr>
              <a:r>
                <a:t>Interpretation:</a:t>
              </a:r>
              <a:r>
                <a:rPr b="0">
                  <a:solidFill>
                    <a:srgbClr val="212B36"/>
                  </a:solidFill>
                </a:rPr>
                <a:t> Wortlänge, Großbuchstaben und Textlänge sind die wichtigsten Hinweise darauf, ob eine Review schwer einzuordnen ist.</a:t>
              </a:r>
            </a:p>
          </p:txBody>
        </p:sp>
      </p:grp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38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Linguistic Diffic. # Named Entities</a:t>
            </a:r>
          </a:p>
        </p:txBody>
      </p:sp>
      <p:sp>
        <p:nvSpPr>
          <p:cNvPr id="38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Spacy (SW Modul)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endParaRPr/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«I bought an iPhone from Apple for $999 in New York»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entities: iPhone (PRODUCT), Apple (ORG), $999 (MONEY), New York (GPE)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→ entity_count = 4</a:t>
            </a:r>
          </a:p>
          <a:p>
            <a:pPr marL="221742" indent="-221742" defTabSz="886968">
              <a:lnSpc>
                <a:spcPct val="72000"/>
              </a:lnSpc>
              <a:spcBef>
                <a:spcPts val="900"/>
              </a:spcBef>
              <a:defRPr sz="2231"/>
            </a:pPr>
            <a:endParaRPr/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difficulty 	count_texts 	mean_entities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0 		6489 		2.29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1 		975 		1.28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2 		438 		1.13</a:t>
            </a:r>
          </a:p>
          <a:p>
            <a:pPr marL="0" indent="0" defTabSz="886968">
              <a:lnSpc>
                <a:spcPct val="72000"/>
              </a:lnSpc>
              <a:spcBef>
                <a:spcPts val="900"/>
              </a:spcBef>
              <a:buSzTx/>
              <a:buNone/>
              <a:defRPr sz="2231"/>
            </a:pPr>
            <a:r>
              <a:t>3 		185 		0.76</a:t>
            </a:r>
          </a:p>
        </p:txBody>
      </p:sp>
      <p:sp>
        <p:nvSpPr>
          <p:cNvPr id="390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391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grpSp>
        <p:nvGrpSpPr>
          <p:cNvPr id="394" name="Rounded Rectangular Callout 6"/>
          <p:cNvGrpSpPr/>
          <p:nvPr/>
        </p:nvGrpSpPr>
        <p:grpSpPr>
          <a:xfrm>
            <a:off x="6707090" y="4553942"/>
            <a:ext cx="4481340" cy="1326138"/>
            <a:chOff x="0" y="0"/>
            <a:chExt cx="4481338" cy="1326136"/>
          </a:xfrm>
        </p:grpSpPr>
        <p:sp>
          <p:nvSpPr>
            <p:cNvPr id="392" name="Shape"/>
            <p:cNvSpPr/>
            <p:nvPr/>
          </p:nvSpPr>
          <p:spPr>
            <a:xfrm>
              <a:off x="0" y="0"/>
              <a:ext cx="4481339" cy="1326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64" y="3600"/>
                  </a:moveTo>
                  <a:cubicBezTo>
                    <a:pt x="2564" y="1612"/>
                    <a:pt x="3041" y="0"/>
                    <a:pt x="3629" y="0"/>
                  </a:cubicBezTo>
                  <a:lnTo>
                    <a:pt x="5736" y="0"/>
                  </a:lnTo>
                  <a:lnTo>
                    <a:pt x="20535" y="0"/>
                  </a:lnTo>
                  <a:cubicBezTo>
                    <a:pt x="2112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23" y="21600"/>
                    <a:pt x="20535" y="21600"/>
                  </a:cubicBezTo>
                  <a:lnTo>
                    <a:pt x="3629" y="21600"/>
                  </a:lnTo>
                  <a:cubicBezTo>
                    <a:pt x="3041" y="21600"/>
                    <a:pt x="2564" y="19988"/>
                    <a:pt x="2564" y="18000"/>
                  </a:cubicBezTo>
                  <a:lnTo>
                    <a:pt x="2564" y="18000"/>
                  </a:lnTo>
                  <a:lnTo>
                    <a:pt x="0" y="12045"/>
                  </a:lnTo>
                  <a:lnTo>
                    <a:pt x="2564" y="12600"/>
                  </a:lnTo>
                  <a:close/>
                </a:path>
              </a:pathLst>
            </a:custGeom>
            <a:solidFill>
              <a:srgbClr val="FFF2CC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3" name="Texte die schwieriger sind haben weniger Named Entities"/>
            <p:cNvSpPr txBox="1"/>
            <p:nvPr/>
          </p:nvSpPr>
          <p:spPr>
            <a:xfrm>
              <a:off x="648715" y="350474"/>
              <a:ext cx="3715817" cy="6251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r>
                <a:t>Texte die schwieriger sind haben weniger Named Entities</a:t>
              </a:r>
            </a:p>
          </p:txBody>
        </p:sp>
      </p:grp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397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Ambiguität / abstrakte Wörter</a:t>
            </a:r>
          </a:p>
        </p:txBody>
      </p:sp>
      <p:sp>
        <p:nvSpPr>
          <p:cNvPr id="398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Nutzung eines Concreteness Lexikons (Brysbaert et al.)</a:t>
            </a:r>
          </a:p>
          <a:p>
            <a:pPr marL="0" indent="0">
              <a:buSzTx/>
              <a:buNone/>
            </a:pPr>
            <a:r>
              <a:t>Jedem Wort ist ein Wert zugeordnet (1-5)</a:t>
            </a:r>
          </a:p>
          <a:p>
            <a:pPr marL="0" lvl="1" indent="457200">
              <a:spcBef>
                <a:spcPts val="500"/>
              </a:spcBef>
              <a:buSzTx/>
              <a:buNone/>
              <a:defRPr sz="2400"/>
            </a:pPr>
            <a:r>
              <a:t>1 sehr abstrakt (idea, good, quality)</a:t>
            </a:r>
          </a:p>
          <a:p>
            <a:pPr marL="0" lvl="1" indent="457200">
              <a:spcBef>
                <a:spcPts val="500"/>
              </a:spcBef>
              <a:buSzTx/>
              <a:buNone/>
              <a:defRPr sz="2400"/>
            </a:pPr>
            <a:r>
              <a:t>5 seht konkret (dog, table)</a:t>
            </a:r>
          </a:p>
          <a:p>
            <a:pPr marL="0" indent="0">
              <a:buSzTx/>
              <a:buNone/>
            </a:pPr>
            <a:r>
              <a:t>Für jeden Text: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Mittelwert aller bekannten Wörter rechnen</a:t>
            </a:r>
          </a:p>
          <a:p>
            <a:pPr marL="0" indent="0">
              <a:buSzTx/>
              <a:buNone/>
            </a:pPr>
            <a:r>
              <a:t>Interpretation</a:t>
            </a:r>
          </a:p>
          <a:p>
            <a:r>
              <a:t>Kein klarer Trend über Difficulty Klassen</a:t>
            </a:r>
          </a:p>
          <a:p>
            <a:pPr marL="685800" lvl="1" indent="-228600">
              <a:spcBef>
                <a:spcPts val="500"/>
              </a:spcBef>
              <a:defRPr sz="2400"/>
            </a:pPr>
            <a:r>
              <a:t>Werte sind sehr ähnlich über alle Klassen, ca. 2.3</a:t>
            </a:r>
          </a:p>
        </p:txBody>
      </p:sp>
      <p:sp>
        <p:nvSpPr>
          <p:cNvPr id="399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400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170557" y="6414760"/>
            <a:ext cx="18324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grpSp>
        <p:nvGrpSpPr>
          <p:cNvPr id="403" name="Rounded Rectangular Callout 6"/>
          <p:cNvGrpSpPr/>
          <p:nvPr/>
        </p:nvGrpSpPr>
        <p:grpSpPr>
          <a:xfrm>
            <a:off x="7096198" y="3226306"/>
            <a:ext cx="4481339" cy="1326137"/>
            <a:chOff x="0" y="0"/>
            <a:chExt cx="4481338" cy="1326136"/>
          </a:xfrm>
        </p:grpSpPr>
        <p:sp>
          <p:nvSpPr>
            <p:cNvPr id="401" name="Shape"/>
            <p:cNvSpPr/>
            <p:nvPr/>
          </p:nvSpPr>
          <p:spPr>
            <a:xfrm>
              <a:off x="0" y="0"/>
              <a:ext cx="4481339" cy="13261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564" y="3600"/>
                  </a:moveTo>
                  <a:cubicBezTo>
                    <a:pt x="2564" y="1612"/>
                    <a:pt x="3041" y="0"/>
                    <a:pt x="3629" y="0"/>
                  </a:cubicBezTo>
                  <a:lnTo>
                    <a:pt x="5736" y="0"/>
                  </a:lnTo>
                  <a:lnTo>
                    <a:pt x="20535" y="0"/>
                  </a:lnTo>
                  <a:cubicBezTo>
                    <a:pt x="21123" y="0"/>
                    <a:pt x="21600" y="1612"/>
                    <a:pt x="21600" y="3600"/>
                  </a:cubicBezTo>
                  <a:lnTo>
                    <a:pt x="21600" y="18000"/>
                  </a:lnTo>
                  <a:cubicBezTo>
                    <a:pt x="21600" y="19988"/>
                    <a:pt x="21123" y="21600"/>
                    <a:pt x="20535" y="21600"/>
                  </a:cubicBezTo>
                  <a:lnTo>
                    <a:pt x="3629" y="21600"/>
                  </a:lnTo>
                  <a:cubicBezTo>
                    <a:pt x="3041" y="21600"/>
                    <a:pt x="2564" y="19988"/>
                    <a:pt x="2564" y="18000"/>
                  </a:cubicBezTo>
                  <a:lnTo>
                    <a:pt x="2564" y="18000"/>
                  </a:lnTo>
                  <a:lnTo>
                    <a:pt x="0" y="12045"/>
                  </a:lnTo>
                  <a:lnTo>
                    <a:pt x="2564" y="12600"/>
                  </a:lnTo>
                  <a:close/>
                </a:path>
              </a:pathLst>
            </a:custGeom>
            <a:solidFill>
              <a:srgbClr val="FFF2CC"/>
            </a:solidFill>
            <a:ln w="12700" cap="flat">
              <a:solidFill>
                <a:srgbClr val="1D3053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2" name="Die difficulty-Klassen lassen sich nicht über Wort-Abstraktheit (Concreteness) unterscheiden"/>
            <p:cNvSpPr txBox="1"/>
            <p:nvPr/>
          </p:nvSpPr>
          <p:spPr>
            <a:xfrm>
              <a:off x="648715" y="204424"/>
              <a:ext cx="3715817" cy="91728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r>
                <a:t>Die difficulty-Klassen lassen sich nicht über Wort-Abstraktheit (Concreteness) unterscheiden</a:t>
              </a:r>
            </a:p>
          </p:txBody>
        </p:sp>
      </p:grp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Footer Placeholder 4"/>
          <p:cNvSpPr txBox="1"/>
          <p:nvPr/>
        </p:nvSpPr>
        <p:spPr>
          <a:xfrm>
            <a:off x="4084319" y="6414760"/>
            <a:ext cx="40233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415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Embeddings PCA, TSNE, UMAP…</a:t>
            </a:r>
          </a:p>
        </p:txBody>
      </p:sp>
      <p:sp>
        <p:nvSpPr>
          <p:cNvPr id="416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sz="2400"/>
            </a:pPr>
            <a:r>
              <a:rPr dirty="0"/>
              <a:t>Transformer:</a:t>
            </a:r>
            <a:br>
              <a:rPr dirty="0"/>
            </a:br>
            <a:r>
              <a:rPr dirty="0"/>
              <a:t>BAAI/bge-base-en-v1.5</a:t>
            </a:r>
          </a:p>
          <a:p>
            <a:pPr>
              <a:defRPr sz="2400"/>
            </a:pPr>
            <a:r>
              <a:rPr dirty="0" err="1"/>
              <a:t>Dimensionsreduktion</a:t>
            </a:r>
            <a:r>
              <a:rPr dirty="0"/>
              <a:t> und </a:t>
            </a:r>
            <a:br>
              <a:rPr dirty="0"/>
            </a:br>
            <a:r>
              <a:rPr dirty="0" err="1"/>
              <a:t>Darstellung</a:t>
            </a:r>
            <a:r>
              <a:rPr dirty="0"/>
              <a:t> auf Plot</a:t>
            </a:r>
          </a:p>
          <a:p>
            <a:pPr>
              <a:defRPr sz="2400"/>
            </a:pPr>
            <a:r>
              <a:rPr dirty="0"/>
              <a:t>Rot/Blau </a:t>
            </a:r>
            <a:r>
              <a:rPr dirty="0" err="1"/>
              <a:t>gemischt</a:t>
            </a:r>
            <a:br>
              <a:rPr dirty="0"/>
            </a:br>
            <a:r>
              <a:rPr dirty="0"/>
              <a:t>Fehler </a:t>
            </a:r>
            <a:r>
              <a:rPr dirty="0" err="1"/>
              <a:t>verteilen</a:t>
            </a:r>
            <a:r>
              <a:rPr dirty="0"/>
              <a:t> </a:t>
            </a:r>
            <a:r>
              <a:rPr dirty="0" err="1"/>
              <a:t>sich</a:t>
            </a:r>
            <a:br>
              <a:rPr dirty="0"/>
            </a:br>
            <a:r>
              <a:rPr dirty="0" err="1"/>
              <a:t>gleichmässig</a:t>
            </a:r>
            <a:r>
              <a:rPr dirty="0"/>
              <a:t> </a:t>
            </a:r>
            <a:r>
              <a:rPr dirty="0" err="1"/>
              <a:t>im</a:t>
            </a:r>
            <a:r>
              <a:rPr dirty="0"/>
              <a:t> </a:t>
            </a:r>
            <a:br>
              <a:rPr dirty="0"/>
            </a:br>
            <a:r>
              <a:rPr dirty="0" err="1"/>
              <a:t>Semantikraum</a:t>
            </a:r>
            <a:r>
              <a:rPr dirty="0"/>
              <a:t>.</a:t>
            </a:r>
          </a:p>
        </p:txBody>
      </p:sp>
      <p:sp>
        <p:nvSpPr>
          <p:cNvPr id="417" name="Date Placeholder 3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418" name="Slide Number Placeholder 5"/>
          <p:cNvSpPr txBox="1">
            <a:spLocks noGrp="1"/>
          </p:cNvSpPr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419" name="Content Placeholder 7" descr="Content Placeholder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043" y="1405051"/>
            <a:ext cx="5975656" cy="4481743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13_umap_embedding_space.html"/>
          <p:cNvSpPr txBox="1"/>
          <p:nvPr/>
        </p:nvSpPr>
        <p:spPr>
          <a:xfrm>
            <a:off x="794786" y="5341015"/>
            <a:ext cx="5084082" cy="4801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9" rIns="45719">
            <a:sp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SzPct val="100000"/>
              <a:buFont typeface="Arial"/>
              <a:buChar char="•"/>
              <a:defRPr sz="2800"/>
            </a:lvl1pPr>
          </a:lstStyle>
          <a:p>
            <a:pPr marL="0" indent="0">
              <a:buNone/>
            </a:pPr>
            <a:r>
              <a:rPr lang="de-CH" dirty="0">
                <a:hlinkClick r:id="rId3"/>
              </a:rPr>
              <a:t>13_umap_embedding_space.html</a:t>
            </a:r>
            <a:endParaRPr lang="de-CH" dirty="0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6D70-64F2-2CBB-9408-A1AAE4BD4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Fake </a:t>
            </a:r>
            <a:r>
              <a:rPr lang="de-CH" dirty="0" err="1"/>
              <a:t>Escaped</a:t>
            </a:r>
            <a:r>
              <a:rPr lang="de-CH" dirty="0"/>
              <a:t> </a:t>
            </a:r>
            <a:r>
              <a:rPr lang="de-CH" sz="3200" dirty="0"/>
              <a:t>(2 Modelle nicht erkannt)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4FE7E-4A83-61AF-CB5B-91FD6EAFB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CH" dirty="0"/>
              <a:t> </a:t>
            </a:r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r>
              <a:rPr lang="de-CH" sz="2000" dirty="0"/>
              <a:t>* </a:t>
            </a:r>
            <a:r>
              <a:rPr lang="en-CH" sz="2000" dirty="0"/>
              <a:t>Anzahl verschiedener Wörter / Gesamtanzahl Wörter</a:t>
            </a:r>
            <a:endParaRPr lang="de-CH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81C101-F90E-6C42-DA68-44ED9406D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15D7BA-2F5F-8E43-91CB-647D382EDB87}" type="datetime4">
              <a:rPr lang="de-CH" smtClean="0"/>
              <a:pPr/>
              <a:t>18. Juni 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9BB55-3D3E-FA78-89D1-7705DCE86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Text Analysis- Svetlana Khominich, Ralph Müller, David Beer </a:t>
            </a:r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16C2A-4B52-16DD-7677-CBE8D692A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1FD296-2B0C-4A4B-AFAC-2E3A842869F0}" type="slidenum">
              <a:rPr lang="en-CH" smtClean="0"/>
              <a:pPr/>
              <a:t>13</a:t>
            </a:fld>
            <a:endParaRPr lang="en-CH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4C2DC1-4D95-EB37-1200-A277C34763A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396331" cy="23743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108">
                  <a:extLst>
                    <a:ext uri="{9D8B030D-6E8A-4147-A177-3AD203B41FA5}">
                      <a16:colId xmlns:a16="http://schemas.microsoft.com/office/drawing/2014/main" val="3486785280"/>
                    </a:ext>
                  </a:extLst>
                </a:gridCol>
                <a:gridCol w="853178">
                  <a:extLst>
                    <a:ext uri="{9D8B030D-6E8A-4147-A177-3AD203B41FA5}">
                      <a16:colId xmlns:a16="http://schemas.microsoft.com/office/drawing/2014/main" val="376518378"/>
                    </a:ext>
                  </a:extLst>
                </a:gridCol>
                <a:gridCol w="1868797">
                  <a:extLst>
                    <a:ext uri="{9D8B030D-6E8A-4147-A177-3AD203B41FA5}">
                      <a16:colId xmlns:a16="http://schemas.microsoft.com/office/drawing/2014/main" val="469667482"/>
                    </a:ext>
                  </a:extLst>
                </a:gridCol>
                <a:gridCol w="1645248">
                  <a:extLst>
                    <a:ext uri="{9D8B030D-6E8A-4147-A177-3AD203B41FA5}">
                      <a16:colId xmlns:a16="http://schemas.microsoft.com/office/drawing/2014/main" val="789048287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3020578800"/>
                    </a:ext>
                  </a:extLst>
                </a:gridCol>
              </a:tblGrid>
              <a:tr h="347449">
                <a:tc>
                  <a:txBody>
                    <a:bodyPr/>
                    <a:lstStyle/>
                    <a:p>
                      <a:endParaRPr lang="de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Echt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Fake erkannt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Fake </a:t>
                      </a:r>
                      <a:r>
                        <a:rPr lang="de-CH" dirty="0" err="1"/>
                        <a:t>escaped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Deutung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29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err="1"/>
                        <a:t>word_len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74.4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65.5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32.6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 err="1"/>
                        <a:t>escaped</a:t>
                      </a:r>
                      <a:r>
                        <a:rPr lang="de-CH" dirty="0"/>
                        <a:t> halb so lang wie </a:t>
                      </a:r>
                      <a:r>
                        <a:rPr lang="de-CH" dirty="0" err="1"/>
                        <a:t>catched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2467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err="1"/>
                        <a:t>sentence_count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2.9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dito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3087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/>
                        <a:t>Typ </a:t>
                      </a:r>
                      <a:r>
                        <a:rPr lang="de-CH" dirty="0" err="1"/>
                        <a:t>token</a:t>
                      </a:r>
                      <a:r>
                        <a:rPr lang="de-CH" dirty="0"/>
                        <a:t> </a:t>
                      </a:r>
                      <a:r>
                        <a:rPr lang="de-CH" dirty="0" err="1"/>
                        <a:t>ratio</a:t>
                      </a:r>
                      <a:r>
                        <a:rPr lang="de-CH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Fakes haben eine höhere lexikarische Diversität als erkannte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9450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err="1"/>
                        <a:t>entity_count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1.38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1.05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H" dirty="0"/>
                        <a:t>weniger konkrete Namen, Orte, Produktreferenzen als echte Reviews</a:t>
                      </a:r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2161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CH" dirty="0" err="1"/>
                        <a:t>adj_noun_ratio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0.75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CH" dirty="0"/>
                        <a:t>Fakes haben mehr Adjektive relativ zu Nomen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639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5220825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5A39A-B9C7-52B8-0C76-B73B31FF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Fakes </a:t>
            </a:r>
            <a:r>
              <a:rPr lang="de-CH" dirty="0" err="1"/>
              <a:t>escaped</a:t>
            </a:r>
            <a:endParaRPr lang="de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5F708-D335-EA27-E186-CD37D377A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H" dirty="0"/>
              <a:t>Die entkommenen Fakes sind </a:t>
            </a:r>
            <a:r>
              <a:rPr lang="en-CH" b="1" dirty="0"/>
              <a:t>kurz</a:t>
            </a:r>
            <a:r>
              <a:rPr lang="en-CH" dirty="0"/>
              <a:t>, </a:t>
            </a:r>
            <a:r>
              <a:rPr lang="en-CH" b="1" dirty="0"/>
              <a:t>strukturlos</a:t>
            </a:r>
            <a:r>
              <a:rPr lang="en-CH" dirty="0"/>
              <a:t> und </a:t>
            </a:r>
            <a:r>
              <a:rPr lang="en-CH" b="1" dirty="0"/>
              <a:t>inhaltsleer</a:t>
            </a:r>
            <a:r>
              <a:rPr lang="en-CH" dirty="0"/>
              <a:t> aber sprachlich nicht arm. </a:t>
            </a:r>
            <a:br>
              <a:rPr lang="en-CH" dirty="0"/>
            </a:br>
            <a:r>
              <a:rPr lang="en-CH" dirty="0"/>
              <a:t>Sie klingen wie ein echter Mensch, der wenig sagt. </a:t>
            </a:r>
            <a:r>
              <a:rPr lang="en-CH" dirty="0">
                <a:sym typeface="Wingdings" pitchFamily="2" charset="2"/>
              </a:rPr>
              <a:t></a:t>
            </a:r>
            <a:r>
              <a:rPr lang="en-CH" dirty="0"/>
              <a:t> das macht sie schwer erkennbar: sie imitieren echte kurze Reviews.</a:t>
            </a:r>
          </a:p>
          <a:p>
            <a:r>
              <a:rPr lang="en-CH" dirty="0"/>
              <a:t>Ein weiteres Modell könnte gezielt bei Reviews unter 40 Wörtern mit wenig Entities ansetzen. Dort liegt der blinde Fleck.</a:t>
            </a:r>
          </a:p>
          <a:p>
            <a:endParaRPr lang="de-C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A52CD-DE9E-7F21-8A52-E94B1787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E15D7BA-2F5F-8E43-91CB-647D382EDB87}" type="datetime4">
              <a:rPr lang="de-CH" smtClean="0"/>
              <a:pPr/>
              <a:t>18. Juni 2026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BF818-976F-B6E2-9262-D66B94DA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Text Analysis- Svetlana Khominich, Ralph Müller, David Beer </a:t>
            </a:r>
            <a:endParaRPr lang="en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A5BC2-8A89-A19B-F2B9-3B13B38F7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CH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1FD296-2B0C-4A4B-AFAC-2E3A842869F0}" type="slidenum">
              <a:rPr lang="en-CH" smtClean="0"/>
              <a:pPr/>
              <a:t>14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6131334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Footer Placeholder 3"/>
          <p:cNvSpPr txBox="1"/>
          <p:nvPr/>
        </p:nvSpPr>
        <p:spPr>
          <a:xfrm>
            <a:off x="3347719" y="6072625"/>
            <a:ext cx="402336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200">
                <a:solidFill>
                  <a:srgbClr val="888888"/>
                </a:solidFill>
              </a:defRPr>
            </a:lvl1pPr>
          </a:lstStyle>
          <a:p>
            <a:r>
              <a:t>Text Analysis- Svetlana Khominich, Ralph Müller, David Beer </a:t>
            </a:r>
          </a:p>
        </p:txBody>
      </p:sp>
      <p:sp>
        <p:nvSpPr>
          <p:cNvPr id="423" name="Title 1"/>
          <p:cNvSpPr txBox="1">
            <a:spLocks noGrp="1"/>
          </p:cNvSpPr>
          <p:nvPr>
            <p:ph type="title"/>
          </p:nvPr>
        </p:nvSpPr>
        <p:spPr>
          <a:xfrm>
            <a:off x="266700" y="288414"/>
            <a:ext cx="10515600" cy="852046"/>
          </a:xfrm>
          <a:prstGeom prst="rect">
            <a:avLst/>
          </a:prstGeom>
        </p:spPr>
        <p:txBody>
          <a:bodyPr/>
          <a:lstStyle/>
          <a:p>
            <a:r>
              <a:t>Fazit &amp; Lessons Learned</a:t>
            </a:r>
          </a:p>
        </p:txBody>
      </p:sp>
      <p:sp>
        <p:nvSpPr>
          <p:cNvPr id="424" name="Slide Number Placeholder 4"/>
          <p:cNvSpPr txBox="1">
            <a:spLocks noGrp="1"/>
          </p:cNvSpPr>
          <p:nvPr>
            <p:ph type="sldNum" sz="quarter" idx="2"/>
          </p:nvPr>
        </p:nvSpPr>
        <p:spPr>
          <a:xfrm>
            <a:off x="10358576" y="6072625"/>
            <a:ext cx="258624" cy="24830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25" name="Date Placeholder 5"/>
          <p:cNvSpPr txBox="1"/>
          <p:nvPr/>
        </p:nvSpPr>
        <p:spPr>
          <a:xfrm>
            <a:off x="883919" y="6414760"/>
            <a:ext cx="26517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888888"/>
                </a:solidFill>
              </a:defRPr>
            </a:lvl1pPr>
          </a:lstStyle>
          <a:p>
            <a:r>
              <a:t>16. Juni 2026</a:t>
            </a:r>
          </a:p>
        </p:txBody>
      </p:sp>
      <p:sp>
        <p:nvSpPr>
          <p:cNvPr id="426" name="Oval 3"/>
          <p:cNvSpPr/>
          <p:nvPr/>
        </p:nvSpPr>
        <p:spPr>
          <a:xfrm>
            <a:off x="9791700" y="6010405"/>
            <a:ext cx="1645921" cy="1645921"/>
          </a:xfrm>
          <a:prstGeom prst="ellipse">
            <a:avLst/>
          </a:prstGeom>
          <a:ln w="25400">
            <a:solidFill>
              <a:srgbClr val="CDD8E2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7" name="TextBox 5"/>
          <p:cNvSpPr txBox="1"/>
          <p:nvPr/>
        </p:nvSpPr>
        <p:spPr>
          <a:xfrm>
            <a:off x="268731" y="939291"/>
            <a:ext cx="8686801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1600">
                <a:solidFill>
                  <a:srgbClr val="566F8B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Klassische Modelle vs. LLM</a:t>
            </a:r>
          </a:p>
        </p:txBody>
      </p:sp>
      <p:grpSp>
        <p:nvGrpSpPr>
          <p:cNvPr id="430" name="Rounded Rectangle 6"/>
          <p:cNvGrpSpPr/>
          <p:nvPr/>
        </p:nvGrpSpPr>
        <p:grpSpPr>
          <a:xfrm>
            <a:off x="123809" y="1507986"/>
            <a:ext cx="5287407" cy="421460"/>
            <a:chOff x="0" y="0"/>
            <a:chExt cx="5287406" cy="421459"/>
          </a:xfrm>
        </p:grpSpPr>
        <p:sp>
          <p:nvSpPr>
            <p:cNvPr id="428" name="Rounded Rectangle"/>
            <p:cNvSpPr/>
            <p:nvPr/>
          </p:nvSpPr>
          <p:spPr>
            <a:xfrm>
              <a:off x="0" y="0"/>
              <a:ext cx="5287407" cy="421460"/>
            </a:xfrm>
            <a:prstGeom prst="roundRect">
              <a:avLst>
                <a:gd name="adj" fmla="val 16667"/>
              </a:avLst>
            </a:prstGeom>
            <a:solidFill>
              <a:srgbClr val="17486F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9" name="Klassische Modelle"/>
            <p:cNvSpPr txBox="1"/>
            <p:nvPr/>
          </p:nvSpPr>
          <p:spPr>
            <a:xfrm>
              <a:off x="58888" y="44699"/>
              <a:ext cx="5169631" cy="33206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457200">
                <a:defRPr sz="2000" b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Klassische Modelle</a:t>
              </a:r>
            </a:p>
          </p:txBody>
        </p:sp>
      </p:grpSp>
      <p:sp>
        <p:nvSpPr>
          <p:cNvPr id="431" name="Rounded Rectangle 7"/>
          <p:cNvSpPr/>
          <p:nvPr/>
        </p:nvSpPr>
        <p:spPr>
          <a:xfrm>
            <a:off x="547116" y="2162743"/>
            <a:ext cx="5059681" cy="3926786"/>
          </a:xfrm>
          <a:prstGeom prst="roundRect">
            <a:avLst>
              <a:gd name="adj" fmla="val 19105"/>
            </a:avLst>
          </a:prstGeom>
          <a:solidFill>
            <a:srgbClr val="F8FBFE"/>
          </a:solidFill>
          <a:ln w="15240">
            <a:solidFill>
              <a:srgbClr val="CDDBE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34" name="Oval 8"/>
          <p:cNvGrpSpPr/>
          <p:nvPr/>
        </p:nvGrpSpPr>
        <p:grpSpPr>
          <a:xfrm>
            <a:off x="734750" y="2534920"/>
            <a:ext cx="384049" cy="384049"/>
            <a:chOff x="0" y="0"/>
            <a:chExt cx="384047" cy="384047"/>
          </a:xfrm>
        </p:grpSpPr>
        <p:sp>
          <p:nvSpPr>
            <p:cNvPr id="432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E0EBF5"/>
            </a:solidFill>
            <a:ln w="9525" cap="flat">
              <a:solidFill>
                <a:srgbClr val="C1D2E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3" name="1"/>
            <p:cNvSpPr txBox="1"/>
            <p:nvPr/>
          </p:nvSpPr>
          <p:spPr>
            <a:xfrm>
              <a:off x="128524" y="109474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 defTabSz="457200">
                <a:defRPr sz="1100" b="1">
                  <a:solidFill>
                    <a:srgbClr val="17486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1</a:t>
              </a:r>
            </a:p>
          </p:txBody>
        </p:sp>
      </p:grpSp>
      <p:sp>
        <p:nvSpPr>
          <p:cNvPr id="435" name="Rectangle 9"/>
          <p:cNvSpPr/>
          <p:nvPr/>
        </p:nvSpPr>
        <p:spPr>
          <a:xfrm>
            <a:off x="1374830" y="2534920"/>
            <a:ext cx="13717" cy="475488"/>
          </a:xfrm>
          <a:prstGeom prst="rect">
            <a:avLst/>
          </a:prstGeom>
          <a:solidFill>
            <a:srgbClr val="96B1C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36" name="TextBox 10"/>
          <p:cNvSpPr txBox="1"/>
          <p:nvPr/>
        </p:nvSpPr>
        <p:spPr>
          <a:xfrm>
            <a:off x="1581078" y="2561828"/>
            <a:ext cx="3840481" cy="2778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Trennen die Klassen zu ca.</a:t>
            </a:r>
          </a:p>
        </p:txBody>
      </p:sp>
      <p:grpSp>
        <p:nvGrpSpPr>
          <p:cNvPr id="439" name="Rounded Rectangle 11"/>
          <p:cNvGrpSpPr/>
          <p:nvPr/>
        </p:nvGrpSpPr>
        <p:grpSpPr>
          <a:xfrm>
            <a:off x="4263136" y="2491868"/>
            <a:ext cx="1051561" cy="502921"/>
            <a:chOff x="0" y="0"/>
            <a:chExt cx="1051560" cy="502919"/>
          </a:xfrm>
        </p:grpSpPr>
        <p:sp>
          <p:nvSpPr>
            <p:cNvPr id="437" name="Rounded Rectangle"/>
            <p:cNvSpPr/>
            <p:nvPr/>
          </p:nvSpPr>
          <p:spPr>
            <a:xfrm>
              <a:off x="0" y="0"/>
              <a:ext cx="1051561" cy="502920"/>
            </a:xfrm>
            <a:prstGeom prst="roundRect">
              <a:avLst>
                <a:gd name="adj" fmla="val 16667"/>
              </a:avLst>
            </a:prstGeom>
            <a:solidFill>
              <a:srgbClr val="265D91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38" name="90 %"/>
            <p:cNvSpPr txBox="1"/>
            <p:nvPr/>
          </p:nvSpPr>
          <p:spPr>
            <a:xfrm>
              <a:off x="70269" y="27939"/>
              <a:ext cx="911022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2300" b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90 %</a:t>
              </a:r>
            </a:p>
          </p:txBody>
        </p:sp>
      </p:grpSp>
      <p:grpSp>
        <p:nvGrpSpPr>
          <p:cNvPr id="442" name="Oval 12"/>
          <p:cNvGrpSpPr/>
          <p:nvPr/>
        </p:nvGrpSpPr>
        <p:grpSpPr>
          <a:xfrm>
            <a:off x="764357" y="3365643"/>
            <a:ext cx="384049" cy="384049"/>
            <a:chOff x="0" y="0"/>
            <a:chExt cx="384047" cy="384047"/>
          </a:xfrm>
        </p:grpSpPr>
        <p:sp>
          <p:nvSpPr>
            <p:cNvPr id="440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E0EBF5"/>
            </a:solidFill>
            <a:ln w="9525" cap="flat">
              <a:solidFill>
                <a:srgbClr val="C1D2E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1" name="2"/>
            <p:cNvSpPr txBox="1"/>
            <p:nvPr/>
          </p:nvSpPr>
          <p:spPr>
            <a:xfrm>
              <a:off x="128524" y="109474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 defTabSz="457200">
                <a:defRPr sz="1100" b="1">
                  <a:solidFill>
                    <a:srgbClr val="17486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2</a:t>
              </a:r>
            </a:p>
          </p:txBody>
        </p:sp>
      </p:grpSp>
      <p:sp>
        <p:nvSpPr>
          <p:cNvPr id="443" name="Rectangle 13"/>
          <p:cNvSpPr/>
          <p:nvPr/>
        </p:nvSpPr>
        <p:spPr>
          <a:xfrm>
            <a:off x="1404437" y="3365643"/>
            <a:ext cx="13717" cy="475488"/>
          </a:xfrm>
          <a:prstGeom prst="rect">
            <a:avLst/>
          </a:prstGeom>
          <a:solidFill>
            <a:srgbClr val="96B1C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4" name="TextBox 14"/>
          <p:cNvSpPr txBox="1"/>
          <p:nvPr/>
        </p:nvSpPr>
        <p:spPr>
          <a:xfrm>
            <a:off x="1642181" y="3411363"/>
            <a:ext cx="3840481" cy="519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/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Kürzere Texte sind schwieriger</a:t>
            </a:r>
          </a:p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zu klassifizieren</a:t>
            </a:r>
          </a:p>
        </p:txBody>
      </p:sp>
      <p:grpSp>
        <p:nvGrpSpPr>
          <p:cNvPr id="447" name="Oval 15"/>
          <p:cNvGrpSpPr/>
          <p:nvPr/>
        </p:nvGrpSpPr>
        <p:grpSpPr>
          <a:xfrm>
            <a:off x="764357" y="4389771"/>
            <a:ext cx="384049" cy="384049"/>
            <a:chOff x="0" y="0"/>
            <a:chExt cx="384047" cy="384047"/>
          </a:xfrm>
        </p:grpSpPr>
        <p:sp>
          <p:nvSpPr>
            <p:cNvPr id="445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E0EBF5"/>
            </a:solidFill>
            <a:ln w="9525" cap="flat">
              <a:solidFill>
                <a:srgbClr val="C1D2E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46" name="3"/>
            <p:cNvSpPr txBox="1"/>
            <p:nvPr/>
          </p:nvSpPr>
          <p:spPr>
            <a:xfrm>
              <a:off x="128524" y="109474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 defTabSz="457200">
                <a:defRPr sz="1100" b="1">
                  <a:solidFill>
                    <a:srgbClr val="17486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3</a:t>
              </a:r>
            </a:p>
          </p:txBody>
        </p:sp>
      </p:grpSp>
      <p:sp>
        <p:nvSpPr>
          <p:cNvPr id="448" name="Rectangle 16"/>
          <p:cNvSpPr/>
          <p:nvPr/>
        </p:nvSpPr>
        <p:spPr>
          <a:xfrm>
            <a:off x="1404437" y="4389771"/>
            <a:ext cx="13717" cy="475488"/>
          </a:xfrm>
          <a:prstGeom prst="rect">
            <a:avLst/>
          </a:prstGeom>
          <a:solidFill>
            <a:srgbClr val="96B1C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9" name="TextBox 17"/>
          <p:cNvSpPr txBox="1"/>
          <p:nvPr/>
        </p:nvSpPr>
        <p:spPr>
          <a:xfrm>
            <a:off x="1642181" y="4435491"/>
            <a:ext cx="3840481" cy="519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/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Höhere Ratings sind schwerer</a:t>
            </a:r>
          </a:p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vorherzusagen</a:t>
            </a:r>
          </a:p>
        </p:txBody>
      </p:sp>
      <p:grpSp>
        <p:nvGrpSpPr>
          <p:cNvPr id="452" name="Oval 18"/>
          <p:cNvGrpSpPr/>
          <p:nvPr/>
        </p:nvGrpSpPr>
        <p:grpSpPr>
          <a:xfrm>
            <a:off x="764357" y="5413899"/>
            <a:ext cx="384049" cy="384049"/>
            <a:chOff x="0" y="0"/>
            <a:chExt cx="384047" cy="384047"/>
          </a:xfrm>
        </p:grpSpPr>
        <p:sp>
          <p:nvSpPr>
            <p:cNvPr id="450" name="Circle"/>
            <p:cNvSpPr/>
            <p:nvPr/>
          </p:nvSpPr>
          <p:spPr>
            <a:xfrm>
              <a:off x="0" y="0"/>
              <a:ext cx="384048" cy="384048"/>
            </a:xfrm>
            <a:prstGeom prst="ellipse">
              <a:avLst/>
            </a:prstGeom>
            <a:solidFill>
              <a:srgbClr val="E0EBF5"/>
            </a:solidFill>
            <a:ln w="9525" cap="flat">
              <a:solidFill>
                <a:srgbClr val="C1D2E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51" name="4"/>
            <p:cNvSpPr txBox="1"/>
            <p:nvPr/>
          </p:nvSpPr>
          <p:spPr>
            <a:xfrm>
              <a:off x="128524" y="109474"/>
              <a:ext cx="127001" cy="1651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0" tIns="0" rIns="0" bIns="0" numCol="1" anchor="ctr">
              <a:spAutoFit/>
            </a:bodyPr>
            <a:lstStyle>
              <a:lvl1pPr algn="ctr" defTabSz="457200">
                <a:defRPr sz="1100" b="1">
                  <a:solidFill>
                    <a:srgbClr val="17486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4</a:t>
              </a:r>
            </a:p>
          </p:txBody>
        </p:sp>
      </p:grpSp>
      <p:sp>
        <p:nvSpPr>
          <p:cNvPr id="453" name="Rectangle 19"/>
          <p:cNvSpPr/>
          <p:nvPr/>
        </p:nvSpPr>
        <p:spPr>
          <a:xfrm>
            <a:off x="1404437" y="5413899"/>
            <a:ext cx="13717" cy="475488"/>
          </a:xfrm>
          <a:prstGeom prst="rect">
            <a:avLst/>
          </a:prstGeom>
          <a:solidFill>
            <a:srgbClr val="96B1CC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54" name="TextBox 20"/>
          <p:cNvSpPr txBox="1"/>
          <p:nvPr/>
        </p:nvSpPr>
        <p:spPr>
          <a:xfrm>
            <a:off x="1642181" y="5459619"/>
            <a:ext cx="3840481" cy="519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/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Der Datensatz enthält vermutlich</a:t>
            </a:r>
          </a:p>
          <a:p>
            <a:pPr defTabSz="457200">
              <a:defRPr sz="16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keine besonders starken Fakes</a:t>
            </a:r>
          </a:p>
        </p:txBody>
      </p:sp>
      <p:sp>
        <p:nvSpPr>
          <p:cNvPr id="455" name="Rectangle 21"/>
          <p:cNvSpPr/>
          <p:nvPr/>
        </p:nvSpPr>
        <p:spPr>
          <a:xfrm>
            <a:off x="6083300" y="1554733"/>
            <a:ext cx="13716" cy="5257801"/>
          </a:xfrm>
          <a:prstGeom prst="rect">
            <a:avLst/>
          </a:prstGeom>
          <a:solidFill>
            <a:srgbClr val="C6D3E0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58" name="Rounded Rectangle 22"/>
          <p:cNvGrpSpPr/>
          <p:nvPr/>
        </p:nvGrpSpPr>
        <p:grpSpPr>
          <a:xfrm>
            <a:off x="6403340" y="1504291"/>
            <a:ext cx="5446431" cy="434137"/>
            <a:chOff x="0" y="0"/>
            <a:chExt cx="5446430" cy="434135"/>
          </a:xfrm>
        </p:grpSpPr>
        <p:sp>
          <p:nvSpPr>
            <p:cNvPr id="456" name="Rounded Rectangle"/>
            <p:cNvSpPr/>
            <p:nvPr/>
          </p:nvSpPr>
          <p:spPr>
            <a:xfrm>
              <a:off x="0" y="0"/>
              <a:ext cx="5446431" cy="434136"/>
            </a:xfrm>
            <a:prstGeom prst="roundRect">
              <a:avLst>
                <a:gd name="adj" fmla="val 16667"/>
              </a:avLst>
            </a:prstGeom>
            <a:solidFill>
              <a:srgbClr val="17486F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57" name="LLM"/>
            <p:cNvSpPr txBox="1"/>
            <p:nvPr/>
          </p:nvSpPr>
          <p:spPr>
            <a:xfrm>
              <a:off x="60659" y="46044"/>
              <a:ext cx="5325113" cy="34204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457200">
                <a:defRPr sz="2000" b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LLM</a:t>
              </a:r>
            </a:p>
          </p:txBody>
        </p:sp>
      </p:grpSp>
      <p:sp>
        <p:nvSpPr>
          <p:cNvPr id="459" name="Rounded Rectangle 23"/>
          <p:cNvSpPr/>
          <p:nvPr/>
        </p:nvSpPr>
        <p:spPr>
          <a:xfrm>
            <a:off x="6403340" y="2309879"/>
            <a:ext cx="5446431" cy="1727452"/>
          </a:xfrm>
          <a:prstGeom prst="roundRect">
            <a:avLst>
              <a:gd name="adj" fmla="val 18659"/>
            </a:avLst>
          </a:prstGeom>
          <a:solidFill>
            <a:srgbClr val="F8FBFE"/>
          </a:solidFill>
          <a:ln w="15240">
            <a:solidFill>
              <a:srgbClr val="CDDBE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0" name="TextBox 24"/>
          <p:cNvSpPr txBox="1"/>
          <p:nvPr/>
        </p:nvSpPr>
        <p:spPr>
          <a:xfrm>
            <a:off x="6769100" y="2405125"/>
            <a:ext cx="1005839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2000" b="1">
                <a:solidFill>
                  <a:srgbClr val="17486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</a:t>
            </a:r>
          </a:p>
        </p:txBody>
      </p:sp>
      <p:sp>
        <p:nvSpPr>
          <p:cNvPr id="461" name="Oval 25"/>
          <p:cNvSpPr/>
          <p:nvPr/>
        </p:nvSpPr>
        <p:spPr>
          <a:xfrm>
            <a:off x="6814819" y="2816605"/>
            <a:ext cx="182881" cy="182881"/>
          </a:xfrm>
          <a:prstGeom prst="ellipse">
            <a:avLst/>
          </a:prstGeom>
          <a:solidFill>
            <a:srgbClr val="265D9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2" name="TextBox 26"/>
          <p:cNvSpPr txBox="1"/>
          <p:nvPr/>
        </p:nvSpPr>
        <p:spPr>
          <a:xfrm>
            <a:off x="7162292" y="2798317"/>
            <a:ext cx="5074921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Schneller Start: kein eigenes Training nötig</a:t>
            </a:r>
          </a:p>
        </p:txBody>
      </p:sp>
      <p:sp>
        <p:nvSpPr>
          <p:cNvPr id="463" name="Oval 27"/>
          <p:cNvSpPr/>
          <p:nvPr/>
        </p:nvSpPr>
        <p:spPr>
          <a:xfrm>
            <a:off x="6814819" y="3392676"/>
            <a:ext cx="182881" cy="182881"/>
          </a:xfrm>
          <a:prstGeom prst="ellipse">
            <a:avLst/>
          </a:prstGeom>
          <a:solidFill>
            <a:srgbClr val="265D9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4" name="TextBox 28"/>
          <p:cNvSpPr txBox="1"/>
          <p:nvPr/>
        </p:nvSpPr>
        <p:spPr>
          <a:xfrm>
            <a:off x="7162292" y="3374389"/>
            <a:ext cx="5074921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/>
          <a:p>
            <a: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Lernt aus Fehlern: bessere Prompts verbessern</a:t>
            </a:r>
          </a:p>
          <a:p>
            <a: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die Ergebnisse</a:t>
            </a:r>
          </a:p>
        </p:txBody>
      </p:sp>
      <p:sp>
        <p:nvSpPr>
          <p:cNvPr id="465" name="Rounded Rectangle 29"/>
          <p:cNvSpPr/>
          <p:nvPr/>
        </p:nvSpPr>
        <p:spPr>
          <a:xfrm>
            <a:off x="6410960" y="4222064"/>
            <a:ext cx="5431191" cy="1981831"/>
          </a:xfrm>
          <a:prstGeom prst="roundRect">
            <a:avLst>
              <a:gd name="adj" fmla="val 18090"/>
            </a:avLst>
          </a:prstGeom>
          <a:solidFill>
            <a:srgbClr val="F8FBFE"/>
          </a:solidFill>
          <a:ln w="15240">
            <a:solidFill>
              <a:srgbClr val="CDDBE7"/>
            </a:solidFill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6" name="TextBox 30"/>
          <p:cNvSpPr txBox="1"/>
          <p:nvPr/>
        </p:nvSpPr>
        <p:spPr>
          <a:xfrm>
            <a:off x="6819900" y="4437637"/>
            <a:ext cx="1463041" cy="341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2000" b="1">
                <a:solidFill>
                  <a:srgbClr val="17486F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Contra</a:t>
            </a:r>
          </a:p>
        </p:txBody>
      </p:sp>
      <p:sp>
        <p:nvSpPr>
          <p:cNvPr id="467" name="Oval 31"/>
          <p:cNvSpPr/>
          <p:nvPr/>
        </p:nvSpPr>
        <p:spPr>
          <a:xfrm>
            <a:off x="6865619" y="4849117"/>
            <a:ext cx="182881" cy="182881"/>
          </a:xfrm>
          <a:prstGeom prst="ellipse">
            <a:avLst/>
          </a:prstGeom>
          <a:solidFill>
            <a:srgbClr val="265D9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8" name="TextBox 32"/>
          <p:cNvSpPr txBox="1"/>
          <p:nvPr/>
        </p:nvSpPr>
        <p:spPr>
          <a:xfrm>
            <a:off x="7213092" y="4830829"/>
            <a:ext cx="5074921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>
            <a:lvl1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lvl1pPr>
          </a:lstStyle>
          <a:p>
            <a:r>
              <a:t>Prompt-sensitiv: kleine Formulierungen beeinflussen die Accuracy</a:t>
            </a:r>
          </a:p>
        </p:txBody>
      </p:sp>
      <p:sp>
        <p:nvSpPr>
          <p:cNvPr id="469" name="Oval 33"/>
          <p:cNvSpPr/>
          <p:nvPr/>
        </p:nvSpPr>
        <p:spPr>
          <a:xfrm>
            <a:off x="6865619" y="5489197"/>
            <a:ext cx="182881" cy="182881"/>
          </a:xfrm>
          <a:prstGeom prst="ellipse">
            <a:avLst/>
          </a:prstGeom>
          <a:solidFill>
            <a:srgbClr val="265D91"/>
          </a:solidFill>
          <a:ln w="12700">
            <a:miter lim="400000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 defTabSz="457200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0" name="TextBox 34"/>
          <p:cNvSpPr txBox="1"/>
          <p:nvPr/>
        </p:nvSpPr>
        <p:spPr>
          <a:xfrm>
            <a:off x="7213092" y="5470909"/>
            <a:ext cx="5074921" cy="468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18288" tIns="18288" rIns="18288" bIns="18288">
            <a:spAutoFit/>
          </a:bodyPr>
          <a:lstStyle/>
          <a:p>
            <a: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Nicht ideal für große Datenmengen: langsamer und</a:t>
            </a:r>
          </a:p>
          <a:p>
            <a:pPr defTabSz="457200">
              <a:defRPr sz="1400">
                <a:solidFill>
                  <a:srgbClr val="1F3854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 teurer bei vielen Reviews</a:t>
            </a:r>
          </a:p>
        </p:txBody>
      </p:sp>
      <p:grpSp>
        <p:nvGrpSpPr>
          <p:cNvPr id="473" name="Rounded Rectangle 35"/>
          <p:cNvGrpSpPr/>
          <p:nvPr/>
        </p:nvGrpSpPr>
        <p:grpSpPr>
          <a:xfrm>
            <a:off x="246654" y="6322826"/>
            <a:ext cx="11698692" cy="443744"/>
            <a:chOff x="0" y="0"/>
            <a:chExt cx="11698691" cy="443743"/>
          </a:xfrm>
        </p:grpSpPr>
        <p:sp>
          <p:nvSpPr>
            <p:cNvPr id="471" name="Rounded Rectangle"/>
            <p:cNvSpPr/>
            <p:nvPr/>
          </p:nvSpPr>
          <p:spPr>
            <a:xfrm>
              <a:off x="0" y="0"/>
              <a:ext cx="11698692" cy="443744"/>
            </a:xfrm>
            <a:prstGeom prst="roundRect">
              <a:avLst>
                <a:gd name="adj" fmla="val 16667"/>
              </a:avLst>
            </a:prstGeom>
            <a:solidFill>
              <a:srgbClr val="17486F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72" name="Kernaussage: Klassische Modelle liefern starke Baseline-Ergebnisse; LLMs sind flexibel, aber prompt- und kostenabhängig."/>
            <p:cNvSpPr txBox="1"/>
            <p:nvPr/>
          </p:nvSpPr>
          <p:spPr>
            <a:xfrm>
              <a:off x="62001" y="91885"/>
              <a:ext cx="11574690" cy="259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noAutofit/>
            </a:bodyPr>
            <a:lstStyle>
              <a:lvl1pPr algn="ctr" defTabSz="457200">
                <a:defRPr sz="1300" b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Kernaussage: Klassische Modelle liefern starke Baseline-Ergebnisse; LLMs sind flexibel, aber prompt- und kostenabhängig.</a:t>
              </a:r>
            </a:p>
          </p:txBody>
        </p:sp>
      </p:grpSp>
      <p:grpSp>
        <p:nvGrpSpPr>
          <p:cNvPr id="476" name="Rounded Rectangle 11"/>
          <p:cNvGrpSpPr/>
          <p:nvPr/>
        </p:nvGrpSpPr>
        <p:grpSpPr>
          <a:xfrm>
            <a:off x="10624058" y="2521204"/>
            <a:ext cx="1051561" cy="502921"/>
            <a:chOff x="0" y="0"/>
            <a:chExt cx="1051560" cy="502919"/>
          </a:xfrm>
        </p:grpSpPr>
        <p:sp>
          <p:nvSpPr>
            <p:cNvPr id="474" name="Rounded Rectangle"/>
            <p:cNvSpPr/>
            <p:nvPr/>
          </p:nvSpPr>
          <p:spPr>
            <a:xfrm>
              <a:off x="0" y="0"/>
              <a:ext cx="1051561" cy="502920"/>
            </a:xfrm>
            <a:prstGeom prst="roundRect">
              <a:avLst>
                <a:gd name="adj" fmla="val 16667"/>
              </a:avLst>
            </a:prstGeom>
            <a:solidFill>
              <a:srgbClr val="265D91"/>
            </a:solidFill>
            <a:ln w="12700" cap="flat">
              <a:noFill/>
              <a:miter lim="400000"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457200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75" name="88 %"/>
            <p:cNvSpPr txBox="1"/>
            <p:nvPr/>
          </p:nvSpPr>
          <p:spPr>
            <a:xfrm>
              <a:off x="70269" y="27939"/>
              <a:ext cx="911022" cy="4470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 defTabSz="457200">
                <a:defRPr sz="2300" b="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r>
                <a:t>88 %</a:t>
              </a:r>
            </a:p>
          </p:txBody>
        </p:sp>
      </p:grp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1293</Words>
  <Application>Microsoft Macintosh PowerPoint</Application>
  <PresentationFormat>Widescreen</PresentationFormat>
  <Paragraphs>306</Paragraphs>
  <Slides>15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Office Theme</vt:lpstr>
      <vt:lpstr>Fake reviews</vt:lpstr>
      <vt:lpstr>Projektidee &amp; Dataset</vt:lpstr>
      <vt:lpstr>Overview Classification Pipeline</vt:lpstr>
      <vt:lpstr>LLM Fake Review Klassifikator</vt:lpstr>
      <vt:lpstr>Over all performance</vt:lpstr>
      <vt:lpstr>Category Analysis</vt:lpstr>
      <vt:lpstr>Rating Analysis</vt:lpstr>
      <vt:lpstr>Accuracy by Text Length</vt:lpstr>
      <vt:lpstr>Feature Engineering</vt:lpstr>
      <vt:lpstr>Linguistic Diffic. # Named Entities</vt:lpstr>
      <vt:lpstr>Ambiguität / abstrakte Wörter</vt:lpstr>
      <vt:lpstr>Embeddings PCA, TSNE, UMAP…</vt:lpstr>
      <vt:lpstr>Fake Escaped (2 Modelle nicht erkannt)</vt:lpstr>
      <vt:lpstr>Fakes escaped</vt:lpstr>
      <vt:lpstr>Fazit &amp; 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dave b</cp:lastModifiedBy>
  <cp:revision>1</cp:revision>
  <dcterms:modified xsi:type="dcterms:W3CDTF">2026-06-18T15:33:33Z</dcterms:modified>
</cp:coreProperties>
</file>