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8" name="Shape 10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5" name="Shape 11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notes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16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1" name="Shape 16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Zum Modell:</a:t>
            </a:r>
          </a:p>
          <a:p>
            <a:pPr/>
            <a:r>
              <a:t>•   Herkunft: BAAI = Beijing Academy of Artificial Intelligence, open source via HuggingFace</a:t>
            </a:r>
          </a:p>
          <a:p>
            <a:pPr/>
            <a:r>
              <a:t>•   110M Parameter, max. Sequenzlänge 512 Tokens, trainiert auf großen Paardaten mit Contrastive Learning arxiv</a:t>
            </a:r>
          </a:p>
          <a:p>
            <a:pPr/>
            <a:r>
              <a:t>•   v1.5 bringt verbesserte Similarity-Score-Verteilung und stärkere Retrieval-Performance gegenüber dem Vorgänger OpenRouter</a:t>
            </a:r>
          </a:p>
          <a:p>
            <a:pPr/>
            <a:r>
              <a:t>•   Einsatzgebiete: Retrieval, Klassifikation, Clustering, Semantic Search Together AI</a:t>
            </a:r>
          </a:p>
          <a:p>
            <a:pPr/>
            <a:r>
              <a:t>•   War zeitweise State-of-the-Art auf dem MTEB Leaderboard (Platz 1, Juli 2024) arxiv</a:t>
            </a:r>
          </a:p>
          <a:p>
            <a:pPr/>
          </a:p>
          <a:p>
            <a:pPr/>
            <a:r>
              <a:t>Für diesen Use Case ist es eine solide Wahl: die Embeddings sind bereits L2-normalisiert, daher kein StandardScaler nötig (wie im Code kommentiert), und gelu-Aktivierung harmoniert gut mit SBERT-artigen Embeddings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/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4" name="Body Level One…"/>
          <p:cNvSpPr txBox="1"/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3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53;p13" descr="Google Shape;53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" name="Title Text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4" name="Body Level One…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53;p13" descr="Google Shape;53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5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 descr="Google Shape;53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" name="Title Text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6" name="Body Level One…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b="1" sz="2400"/>
            </a:lvl1pPr>
            <a:lvl2pPr marL="0" indent="457200">
              <a:buSzTx/>
              <a:buFontTx/>
              <a:buNone/>
              <a:defRPr b="1" sz="2400"/>
            </a:lvl2pPr>
            <a:lvl3pPr marL="0" indent="914400">
              <a:buSzTx/>
              <a:buFontTx/>
              <a:buNone/>
              <a:defRPr b="1" sz="2400"/>
            </a:lvl3pPr>
            <a:lvl4pPr marL="0" indent="1371600">
              <a:buSzTx/>
              <a:buFontTx/>
              <a:buNone/>
              <a:defRPr b="1" sz="2400"/>
            </a:lvl4pPr>
            <a:lvl5pPr marL="0" indent="1828800"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Text Placeholder 4"/>
          <p:cNvSpPr/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b="1" sz="2400"/>
            </a:pP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53;p13" descr="Google Shape;53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53;p13" descr="Google Shape;53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53;p13" descr="Google Shape;53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85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6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7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Text Placeholder 3"/>
          <p:cNvSpPr/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53;p13" descr="Google Shape;53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8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99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100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3;p13" descr="Google Shape;53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" name="Title Text"/>
          <p:cNvSpPr txBox="1"/>
          <p:nvPr>
            <p:ph type="title"/>
          </p:nvPr>
        </p:nvSpPr>
        <p:spPr>
          <a:xfrm>
            <a:off x="838200" y="365125"/>
            <a:ext cx="10515600" cy="852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5" name="Body Level One…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6" descr="Picture 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-557221"/>
            <a:ext cx="12387264" cy="8258176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Rectangle 3"/>
          <p:cNvSpPr/>
          <p:nvPr/>
        </p:nvSpPr>
        <p:spPr>
          <a:xfrm>
            <a:off x="5820528" y="195133"/>
            <a:ext cx="6566735" cy="1584061"/>
          </a:xfrm>
          <a:prstGeom prst="rect">
            <a:avLst/>
          </a:prstGeom>
          <a:solidFill>
            <a:srgbClr val="E7E6E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2" name="Subtitle 2"/>
          <p:cNvSpPr txBox="1"/>
          <p:nvPr>
            <p:ph type="subTitle" sz="quarter" idx="1"/>
          </p:nvPr>
        </p:nvSpPr>
        <p:spPr>
          <a:xfrm>
            <a:off x="6095999" y="1083179"/>
            <a:ext cx="6015794" cy="572921"/>
          </a:xfrm>
          <a:prstGeom prst="rect">
            <a:avLst/>
          </a:prstGeom>
        </p:spPr>
        <p:txBody>
          <a:bodyPr/>
          <a:lstStyle>
            <a:lvl1pPr algn="r"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Amazon Product Reviews 2018</a:t>
            </a:r>
          </a:p>
        </p:txBody>
      </p:sp>
      <p:sp>
        <p:nvSpPr>
          <p:cNvPr id="113" name="Title 1"/>
          <p:cNvSpPr txBox="1"/>
          <p:nvPr>
            <p:ph type="ctrTitle"/>
          </p:nvPr>
        </p:nvSpPr>
        <p:spPr>
          <a:xfrm>
            <a:off x="5820528" y="370914"/>
            <a:ext cx="6291260" cy="843550"/>
          </a:xfrm>
          <a:prstGeom prst="rect">
            <a:avLst/>
          </a:prstGeom>
        </p:spPr>
        <p:txBody>
          <a:bodyPr/>
          <a:lstStyle>
            <a:lvl1pPr algn="r" defTabSz="813816">
              <a:defRPr b="1" sz="5874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Fake reviews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118" name="Title 1"/>
          <p:cNvSpPr txBox="1"/>
          <p:nvPr>
            <p:ph type="title"/>
          </p:nvPr>
        </p:nvSpPr>
        <p:spPr>
          <a:xfrm>
            <a:off x="342900" y="148206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Projektidee &amp; Dataset</a:t>
            </a:r>
          </a:p>
        </p:txBody>
      </p:sp>
      <p:sp>
        <p:nvSpPr>
          <p:cNvPr id="119" name="Content Placeholder 2"/>
          <p:cNvSpPr txBox="1"/>
          <p:nvPr>
            <p:ph type="body" idx="1"/>
          </p:nvPr>
        </p:nvSpPr>
        <p:spPr>
          <a:xfrm>
            <a:off x="215900" y="1507986"/>
            <a:ext cx="11677650" cy="435133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0" name="Slide Number Placeholder 5"/>
          <p:cNvSpPr txBox="1"/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21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122" name="Text 3"/>
          <p:cNvSpPr txBox="1"/>
          <p:nvPr/>
        </p:nvSpPr>
        <p:spPr>
          <a:xfrm>
            <a:off x="603504" y="859536"/>
            <a:ext cx="6126480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Fake-Reviews erschliessen und klassifizieren</a:t>
            </a:r>
          </a:p>
        </p:txBody>
      </p:sp>
      <p:sp>
        <p:nvSpPr>
          <p:cNvPr id="123" name="Shape 4"/>
          <p:cNvSpPr/>
          <p:nvPr/>
        </p:nvSpPr>
        <p:spPr>
          <a:xfrm>
            <a:off x="594359" y="1234439"/>
            <a:ext cx="10972801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24" name="Shape 5"/>
          <p:cNvSpPr/>
          <p:nvPr/>
        </p:nvSpPr>
        <p:spPr>
          <a:xfrm>
            <a:off x="190589" y="1536191"/>
            <a:ext cx="5746661" cy="420625"/>
          </a:xfrm>
          <a:prstGeom prst="roundRect">
            <a:avLst>
              <a:gd name="adj" fmla="val 13043"/>
            </a:avLst>
          </a:prstGeom>
          <a:solidFill>
            <a:srgbClr val="193B6A"/>
          </a:solidFill>
          <a:ln w="12700">
            <a:solidFill>
              <a:srgbClr val="193B6A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25" name="Text 6"/>
          <p:cNvSpPr txBox="1"/>
          <p:nvPr/>
        </p:nvSpPr>
        <p:spPr>
          <a:xfrm>
            <a:off x="594359" y="1609344"/>
            <a:ext cx="5120642" cy="20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algn="ctr" defTabSz="822959">
              <a:defRPr b="1" sz="135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Projektziele</a:t>
            </a:r>
          </a:p>
        </p:txBody>
      </p:sp>
      <p:sp>
        <p:nvSpPr>
          <p:cNvPr id="126" name="Shape 7"/>
          <p:cNvSpPr/>
          <p:nvPr/>
        </p:nvSpPr>
        <p:spPr>
          <a:xfrm>
            <a:off x="6172200" y="1536191"/>
            <a:ext cx="5746661" cy="420625"/>
          </a:xfrm>
          <a:prstGeom prst="roundRect">
            <a:avLst>
              <a:gd name="adj" fmla="val 13043"/>
            </a:avLst>
          </a:prstGeom>
          <a:solidFill>
            <a:srgbClr val="193B6A"/>
          </a:solidFill>
          <a:ln w="12700">
            <a:solidFill>
              <a:srgbClr val="193B6A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27" name="Text 8"/>
          <p:cNvSpPr txBox="1"/>
          <p:nvPr/>
        </p:nvSpPr>
        <p:spPr>
          <a:xfrm>
            <a:off x="6172200" y="1609344"/>
            <a:ext cx="5349241" cy="20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algn="ctr" defTabSz="822959">
              <a:defRPr b="1" sz="135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Datensatz</a:t>
            </a:r>
          </a:p>
        </p:txBody>
      </p:sp>
      <p:sp>
        <p:nvSpPr>
          <p:cNvPr id="128" name="Shape 9"/>
          <p:cNvSpPr/>
          <p:nvPr/>
        </p:nvSpPr>
        <p:spPr>
          <a:xfrm>
            <a:off x="804672" y="2176272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29" name="Text 10"/>
          <p:cNvSpPr txBox="1"/>
          <p:nvPr/>
        </p:nvSpPr>
        <p:spPr>
          <a:xfrm>
            <a:off x="804672" y="2258567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algn="ctr">
              <a:defRPr b="1" sz="1100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0" name="Text 11"/>
          <p:cNvSpPr txBox="1"/>
          <p:nvPr/>
        </p:nvSpPr>
        <p:spPr>
          <a:xfrm>
            <a:off x="1371600" y="2194560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Datensatz Fake-Reviews erschliessen</a:t>
            </a:r>
          </a:p>
        </p:txBody>
      </p:sp>
      <p:sp>
        <p:nvSpPr>
          <p:cNvPr id="131" name="Shape 12"/>
          <p:cNvSpPr/>
          <p:nvPr/>
        </p:nvSpPr>
        <p:spPr>
          <a:xfrm>
            <a:off x="804672" y="2944367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32" name="Text 13"/>
          <p:cNvSpPr txBox="1"/>
          <p:nvPr/>
        </p:nvSpPr>
        <p:spPr>
          <a:xfrm>
            <a:off x="804672" y="3026664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algn="ctr">
              <a:defRPr b="1" sz="1100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33" name="Text 14"/>
          <p:cNvSpPr txBox="1"/>
          <p:nvPr/>
        </p:nvSpPr>
        <p:spPr>
          <a:xfrm>
            <a:off x="1371600" y="2962655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22959">
              <a:defRPr sz="135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Verschiedene Klassifikations-Modelle erstellen und lernen</a:t>
            </a:r>
          </a:p>
        </p:txBody>
      </p:sp>
      <p:sp>
        <p:nvSpPr>
          <p:cNvPr id="134" name="Shape 15"/>
          <p:cNvSpPr/>
          <p:nvPr/>
        </p:nvSpPr>
        <p:spPr>
          <a:xfrm>
            <a:off x="804672" y="3767328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35" name="Text 16"/>
          <p:cNvSpPr txBox="1"/>
          <p:nvPr/>
        </p:nvSpPr>
        <p:spPr>
          <a:xfrm>
            <a:off x="804672" y="3849623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algn="ctr">
              <a:defRPr b="1" sz="1100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36" name="Text 17"/>
          <p:cNvSpPr txBox="1"/>
          <p:nvPr/>
        </p:nvSpPr>
        <p:spPr>
          <a:xfrm>
            <a:off x="1371600" y="3785615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Auswertung der Erkenntnisse</a:t>
            </a:r>
          </a:p>
        </p:txBody>
      </p:sp>
      <p:sp>
        <p:nvSpPr>
          <p:cNvPr id="137" name="Shape 18"/>
          <p:cNvSpPr/>
          <p:nvPr/>
        </p:nvSpPr>
        <p:spPr>
          <a:xfrm>
            <a:off x="822960" y="4626864"/>
            <a:ext cx="4553713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38" name="Text 19"/>
          <p:cNvSpPr txBox="1"/>
          <p:nvPr/>
        </p:nvSpPr>
        <p:spPr>
          <a:xfrm>
            <a:off x="822959" y="4800600"/>
            <a:ext cx="4663442" cy="420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41247">
              <a:defRPr sz="138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Ziel: echte und künstlich generierte Reviews unterscheiden.</a:t>
            </a:r>
          </a:p>
        </p:txBody>
      </p:sp>
      <p:sp>
        <p:nvSpPr>
          <p:cNvPr id="139" name="Shape 20"/>
          <p:cNvSpPr/>
          <p:nvPr/>
        </p:nvSpPr>
        <p:spPr>
          <a:xfrm flipH="1">
            <a:off x="6054724" y="1559303"/>
            <a:ext cx="1" cy="4334257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40" name="Text 21"/>
          <p:cNvSpPr txBox="1"/>
          <p:nvPr/>
        </p:nvSpPr>
        <p:spPr>
          <a:xfrm>
            <a:off x="6355079" y="2139695"/>
            <a:ext cx="4892042" cy="256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defRPr b="1" sz="1746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Fake Reviews Dataset, Amazon</a:t>
            </a:r>
          </a:p>
        </p:txBody>
      </p:sp>
      <p:sp>
        <p:nvSpPr>
          <p:cNvPr id="141" name="Shape 22"/>
          <p:cNvSpPr/>
          <p:nvPr/>
        </p:nvSpPr>
        <p:spPr>
          <a:xfrm>
            <a:off x="6355079" y="2633472"/>
            <a:ext cx="1042417" cy="566928"/>
          </a:xfrm>
          <a:prstGeom prst="roundRect">
            <a:avLst>
              <a:gd name="adj" fmla="val 6452"/>
            </a:avLst>
          </a:prstGeom>
          <a:solidFill>
            <a:srgbClr val="2E75B6"/>
          </a:solidFill>
          <a:ln w="12700">
            <a:solidFill>
              <a:srgbClr val="2E75B6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42" name="Text 23"/>
          <p:cNvSpPr txBox="1"/>
          <p:nvPr/>
        </p:nvSpPr>
        <p:spPr>
          <a:xfrm>
            <a:off x="6519671" y="2761488"/>
            <a:ext cx="713233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algn="ctr" defTabSz="676655">
              <a:defRPr b="1" sz="148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40k</a:t>
            </a:r>
          </a:p>
        </p:txBody>
      </p:sp>
      <p:sp>
        <p:nvSpPr>
          <p:cNvPr id="143" name="Text 24"/>
          <p:cNvSpPr txBox="1"/>
          <p:nvPr/>
        </p:nvSpPr>
        <p:spPr>
          <a:xfrm>
            <a:off x="7543800" y="2761488"/>
            <a:ext cx="3429000" cy="237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gelabelte Reviews, balanciert</a:t>
            </a:r>
          </a:p>
        </p:txBody>
      </p:sp>
      <p:sp>
        <p:nvSpPr>
          <p:cNvPr id="144" name="Text 25"/>
          <p:cNvSpPr txBox="1"/>
          <p:nvPr/>
        </p:nvSpPr>
        <p:spPr>
          <a:xfrm>
            <a:off x="6355079" y="3474720"/>
            <a:ext cx="91440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b="1" sz="140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Features:</a:t>
            </a:r>
          </a:p>
        </p:txBody>
      </p:sp>
      <p:sp>
        <p:nvSpPr>
          <p:cNvPr id="145" name="Text 26"/>
          <p:cNvSpPr txBox="1"/>
          <p:nvPr/>
        </p:nvSpPr>
        <p:spPr>
          <a:xfrm>
            <a:off x="7351776" y="3474720"/>
            <a:ext cx="4023360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4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category · rating (1–5) · label (OR, CG) · text_</a:t>
            </a:r>
          </a:p>
        </p:txBody>
      </p:sp>
      <p:sp>
        <p:nvSpPr>
          <p:cNvPr id="146" name="Text 27"/>
          <p:cNvSpPr txBox="1"/>
          <p:nvPr/>
        </p:nvSpPr>
        <p:spPr>
          <a:xfrm>
            <a:off x="6355079" y="3950208"/>
            <a:ext cx="86868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b="1" sz="140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Labels:</a:t>
            </a:r>
          </a:p>
        </p:txBody>
      </p:sp>
      <p:sp>
        <p:nvSpPr>
          <p:cNvPr id="147" name="Text 28"/>
          <p:cNvSpPr txBox="1"/>
          <p:nvPr/>
        </p:nvSpPr>
        <p:spPr>
          <a:xfrm>
            <a:off x="7351776" y="3950208"/>
            <a:ext cx="416052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defRPr sz="1358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OR = Original Reviews   |   CG = Computer Generated</a:t>
            </a:r>
          </a:p>
        </p:txBody>
      </p:sp>
      <p:sp>
        <p:nvSpPr>
          <p:cNvPr id="148" name="Shape 29"/>
          <p:cNvSpPr/>
          <p:nvPr/>
        </p:nvSpPr>
        <p:spPr>
          <a:xfrm>
            <a:off x="6355079" y="4590288"/>
            <a:ext cx="5074921" cy="566929"/>
          </a:xfrm>
          <a:prstGeom prst="roundRect">
            <a:avLst>
              <a:gd name="adj" fmla="val 6452"/>
            </a:avLst>
          </a:prstGeom>
          <a:solidFill>
            <a:srgbClr val="F1F6FC"/>
          </a:solidFill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49" name="Text 30"/>
          <p:cNvSpPr txBox="1"/>
          <p:nvPr/>
        </p:nvSpPr>
        <p:spPr>
          <a:xfrm>
            <a:off x="6537959" y="4736591"/>
            <a:ext cx="470916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4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Hinweis: CG wahrscheinlich mit GPT-2 von 2021 generiert</a:t>
            </a:r>
          </a:p>
        </p:txBody>
      </p:sp>
      <p:sp>
        <p:nvSpPr>
          <p:cNvPr id="150" name="Shape 31"/>
          <p:cNvSpPr/>
          <p:nvPr/>
        </p:nvSpPr>
        <p:spPr>
          <a:xfrm>
            <a:off x="594359" y="6080759"/>
            <a:ext cx="10972801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51" name="Text 32"/>
          <p:cNvSpPr txBox="1"/>
          <p:nvPr/>
        </p:nvSpPr>
        <p:spPr>
          <a:xfrm>
            <a:off x="892219" y="5327396"/>
            <a:ext cx="434340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32104">
              <a:defRPr b="1" sz="1092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Projektverzeichnis: github.zhaw.ch/muellral/</a:t>
            </a:r>
          </a:p>
        </p:txBody>
      </p:sp>
      <p:sp>
        <p:nvSpPr>
          <p:cNvPr id="152" name="Text 33"/>
          <p:cNvSpPr txBox="1"/>
          <p:nvPr/>
        </p:nvSpPr>
        <p:spPr>
          <a:xfrm>
            <a:off x="6400799" y="5353811"/>
            <a:ext cx="388620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32104">
              <a:defRPr sz="1092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Dataset: Kaggle · muqaddasejaz/fake-reviews-dataset</a:t>
            </a:r>
          </a:p>
        </p:txBody>
      </p:sp>
      <p:sp>
        <p:nvSpPr>
          <p:cNvPr id="153" name="Text 34"/>
          <p:cNvSpPr txBox="1"/>
          <p:nvPr/>
        </p:nvSpPr>
        <p:spPr>
          <a:xfrm>
            <a:off x="6400799" y="5582167"/>
            <a:ext cx="224028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758951">
              <a:defRPr sz="996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Quelle: Fake Reviews Dataset, Amazon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156" name="Title 1"/>
          <p:cNvSpPr txBox="1"/>
          <p:nvPr>
            <p:ph type="title"/>
          </p:nvPr>
        </p:nvSpPr>
        <p:spPr>
          <a:xfrm>
            <a:off x="203200" y="24945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Overview </a:t>
            </a:r>
            <a:r>
              <a:t>Classification Pipeline</a:t>
            </a:r>
          </a:p>
        </p:txBody>
      </p:sp>
      <p:sp>
        <p:nvSpPr>
          <p:cNvPr id="15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158" name="Slide Number Placeholder 5"/>
          <p:cNvSpPr txBox="1"/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59" name="Content Placeholder 9" descr="Content Placeholder 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8199" y="1232982"/>
            <a:ext cx="10424188" cy="54884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Footer Placeholder 4"/>
          <p:cNvSpPr txBox="1"/>
          <p:nvPr/>
        </p:nvSpPr>
        <p:spPr>
          <a:xfrm>
            <a:off x="4054631" y="6168983"/>
            <a:ext cx="4023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164" name="Title 1"/>
          <p:cNvSpPr txBox="1"/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LLM Fake Review Klassifikator</a:t>
            </a:r>
          </a:p>
        </p:txBody>
      </p:sp>
      <p:sp>
        <p:nvSpPr>
          <p:cNvPr id="165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166" name="Slide Number Placeholder 5"/>
          <p:cNvSpPr txBox="1"/>
          <p:nvPr>
            <p:ph type="sldNum" sz="quarter" idx="2"/>
          </p:nvPr>
        </p:nvSpPr>
        <p:spPr>
          <a:xfrm>
            <a:off x="10789506" y="3303817"/>
            <a:ext cx="181383" cy="248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67" name="Oval 2"/>
          <p:cNvSpPr/>
          <p:nvPr/>
        </p:nvSpPr>
        <p:spPr>
          <a:xfrm>
            <a:off x="12312996" y="-387827"/>
            <a:ext cx="1463041" cy="1737361"/>
          </a:xfrm>
          <a:prstGeom prst="ellipse">
            <a:avLst/>
          </a:prstGeom>
          <a:ln w="25400">
            <a:solidFill>
              <a:srgbClr val="DCE6F1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8" name="TextBox 9"/>
          <p:cNvSpPr txBox="1"/>
          <p:nvPr/>
        </p:nvSpPr>
        <p:spPr>
          <a:xfrm>
            <a:off x="368140" y="1666363"/>
            <a:ext cx="283464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20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Projekt-Pipeline</a:t>
            </a:r>
          </a:p>
        </p:txBody>
      </p:sp>
      <p:sp>
        <p:nvSpPr>
          <p:cNvPr id="169" name="Oval 10"/>
          <p:cNvSpPr/>
          <p:nvPr/>
        </p:nvSpPr>
        <p:spPr>
          <a:xfrm>
            <a:off x="432148" y="2215004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11"/>
          <p:cNvSpPr txBox="1"/>
          <p:nvPr/>
        </p:nvSpPr>
        <p:spPr>
          <a:xfrm>
            <a:off x="432148" y="2333876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11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71" name="TextBox 12"/>
          <p:cNvSpPr txBox="1"/>
          <p:nvPr/>
        </p:nvSpPr>
        <p:spPr>
          <a:xfrm>
            <a:off x="1072228" y="2242435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15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Datensatz laden</a:t>
            </a:r>
          </a:p>
        </p:txBody>
      </p:sp>
      <p:sp>
        <p:nvSpPr>
          <p:cNvPr id="172" name="TextBox 13"/>
          <p:cNvSpPr txBox="1"/>
          <p:nvPr/>
        </p:nvSpPr>
        <p:spPr>
          <a:xfrm>
            <a:off x="1072228" y="2599052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32.345 Trainingsreviews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8.087 Testreviews</a:t>
            </a:r>
          </a:p>
        </p:txBody>
      </p:sp>
      <p:sp>
        <p:nvSpPr>
          <p:cNvPr id="173" name="Connector 14"/>
          <p:cNvSpPr/>
          <p:nvPr/>
        </p:nvSpPr>
        <p:spPr>
          <a:xfrm flipH="1">
            <a:off x="669892" y="2727068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</a:p>
        </p:txBody>
      </p:sp>
      <p:sp>
        <p:nvSpPr>
          <p:cNvPr id="174" name="Oval 15"/>
          <p:cNvSpPr/>
          <p:nvPr/>
        </p:nvSpPr>
        <p:spPr>
          <a:xfrm>
            <a:off x="432148" y="3239132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5" name="TextBox 16"/>
          <p:cNvSpPr txBox="1"/>
          <p:nvPr/>
        </p:nvSpPr>
        <p:spPr>
          <a:xfrm>
            <a:off x="432148" y="3358004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11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76" name="TextBox 17"/>
          <p:cNvSpPr txBox="1"/>
          <p:nvPr/>
        </p:nvSpPr>
        <p:spPr>
          <a:xfrm>
            <a:off x="1072228" y="3266564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15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GPT-4o prompten</a:t>
            </a:r>
          </a:p>
        </p:txBody>
      </p:sp>
      <p:sp>
        <p:nvSpPr>
          <p:cNvPr id="177" name="TextBox 18"/>
          <p:cNvSpPr txBox="1"/>
          <p:nvPr/>
        </p:nvSpPr>
        <p:spPr>
          <a:xfrm>
            <a:off x="1072228" y="3623180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Kategorie, Rating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und Review-Text</a:t>
            </a:r>
          </a:p>
        </p:txBody>
      </p:sp>
      <p:sp>
        <p:nvSpPr>
          <p:cNvPr id="178" name="Connector 19"/>
          <p:cNvSpPr/>
          <p:nvPr/>
        </p:nvSpPr>
        <p:spPr>
          <a:xfrm flipH="1">
            <a:off x="669892" y="3751196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</a:p>
        </p:txBody>
      </p:sp>
      <p:sp>
        <p:nvSpPr>
          <p:cNvPr id="179" name="Oval 20"/>
          <p:cNvSpPr/>
          <p:nvPr/>
        </p:nvSpPr>
        <p:spPr>
          <a:xfrm>
            <a:off x="432148" y="4263260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0" name="TextBox 21"/>
          <p:cNvSpPr txBox="1"/>
          <p:nvPr/>
        </p:nvSpPr>
        <p:spPr>
          <a:xfrm>
            <a:off x="432148" y="4382132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11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81" name="TextBox 22"/>
          <p:cNvSpPr txBox="1"/>
          <p:nvPr/>
        </p:nvSpPr>
        <p:spPr>
          <a:xfrm>
            <a:off x="1072228" y="4290692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15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Prompt iterieren</a:t>
            </a:r>
          </a:p>
        </p:txBody>
      </p:sp>
      <p:sp>
        <p:nvSpPr>
          <p:cNvPr id="182" name="TextBox 23"/>
          <p:cNvSpPr txBox="1"/>
          <p:nvPr/>
        </p:nvSpPr>
        <p:spPr>
          <a:xfrm>
            <a:off x="1072228" y="4647308"/>
            <a:ext cx="2377441" cy="29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Einfach → Beispiele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→ Fehlerbeispiele</a:t>
            </a:r>
          </a:p>
        </p:txBody>
      </p:sp>
      <p:sp>
        <p:nvSpPr>
          <p:cNvPr id="183" name="Connector 24"/>
          <p:cNvSpPr/>
          <p:nvPr/>
        </p:nvSpPr>
        <p:spPr>
          <a:xfrm flipH="1">
            <a:off x="669892" y="4775324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</a:p>
        </p:txBody>
      </p:sp>
      <p:sp>
        <p:nvSpPr>
          <p:cNvPr id="184" name="Oval 25"/>
          <p:cNvSpPr/>
          <p:nvPr/>
        </p:nvSpPr>
        <p:spPr>
          <a:xfrm>
            <a:off x="432148" y="5287388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TextBox 26"/>
          <p:cNvSpPr txBox="1"/>
          <p:nvPr/>
        </p:nvSpPr>
        <p:spPr>
          <a:xfrm>
            <a:off x="432148" y="5406260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11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86" name="TextBox 27"/>
          <p:cNvSpPr txBox="1"/>
          <p:nvPr/>
        </p:nvSpPr>
        <p:spPr>
          <a:xfrm>
            <a:off x="1072228" y="5314820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15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Auswerten</a:t>
            </a:r>
          </a:p>
        </p:txBody>
      </p:sp>
      <p:sp>
        <p:nvSpPr>
          <p:cNvPr id="187" name="TextBox 28"/>
          <p:cNvSpPr txBox="1"/>
          <p:nvPr/>
        </p:nvSpPr>
        <p:spPr>
          <a:xfrm>
            <a:off x="1072228" y="5671436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Accuracy, Confusion Matrix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und Fehlklassifikationen</a:t>
            </a:r>
          </a:p>
        </p:txBody>
      </p:sp>
      <p:sp>
        <p:nvSpPr>
          <p:cNvPr id="188" name="TextBox 29"/>
          <p:cNvSpPr txBox="1"/>
          <p:nvPr/>
        </p:nvSpPr>
        <p:spPr>
          <a:xfrm>
            <a:off x="3071204" y="1653063"/>
            <a:ext cx="37490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20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Prompt-Evolution</a:t>
            </a:r>
          </a:p>
        </p:txBody>
      </p:sp>
      <p:sp>
        <p:nvSpPr>
          <p:cNvPr id="189" name="TextBox 30"/>
          <p:cNvSpPr txBox="1"/>
          <p:nvPr/>
        </p:nvSpPr>
        <p:spPr>
          <a:xfrm>
            <a:off x="3071204" y="2046256"/>
            <a:ext cx="416052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2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Iteratives Prompt Engineering mit Fehleranalyse</a:t>
            </a:r>
          </a:p>
        </p:txBody>
      </p:sp>
      <p:sp>
        <p:nvSpPr>
          <p:cNvPr id="190" name="Rounded Rectangle 31"/>
          <p:cNvSpPr/>
          <p:nvPr/>
        </p:nvSpPr>
        <p:spPr>
          <a:xfrm>
            <a:off x="3071204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1" name="Oval 32"/>
          <p:cNvSpPr/>
          <p:nvPr/>
        </p:nvSpPr>
        <p:spPr>
          <a:xfrm>
            <a:off x="3180932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TextBox 33"/>
          <p:cNvSpPr txBox="1"/>
          <p:nvPr/>
        </p:nvSpPr>
        <p:spPr>
          <a:xfrm>
            <a:off x="3180932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8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93" name="TextBox 34"/>
          <p:cNvSpPr txBox="1"/>
          <p:nvPr/>
        </p:nvSpPr>
        <p:spPr>
          <a:xfrm>
            <a:off x="3546693" y="2594896"/>
            <a:ext cx="80467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10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Einfacher Prompt</a:t>
            </a:r>
          </a:p>
        </p:txBody>
      </p:sp>
      <p:sp>
        <p:nvSpPr>
          <p:cNvPr id="194" name="TextBox 35"/>
          <p:cNvSpPr txBox="1"/>
          <p:nvPr/>
        </p:nvSpPr>
        <p:spPr>
          <a:xfrm>
            <a:off x="3199220" y="3143536"/>
            <a:ext cx="11612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kurze Regeln für CG/OR</a:t>
            </a:r>
          </a:p>
        </p:txBody>
      </p:sp>
      <p:sp>
        <p:nvSpPr>
          <p:cNvPr id="195" name="TextBox 36"/>
          <p:cNvSpPr txBox="1"/>
          <p:nvPr/>
        </p:nvSpPr>
        <p:spPr>
          <a:xfrm>
            <a:off x="3199220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2000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86%</a:t>
            </a:r>
          </a:p>
        </p:txBody>
      </p:sp>
      <p:sp>
        <p:nvSpPr>
          <p:cNvPr id="196" name="TextBox 37"/>
          <p:cNvSpPr txBox="1"/>
          <p:nvPr/>
        </p:nvSpPr>
        <p:spPr>
          <a:xfrm>
            <a:off x="3199220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N=50</a:t>
            </a:r>
          </a:p>
        </p:txBody>
      </p:sp>
      <p:sp>
        <p:nvSpPr>
          <p:cNvPr id="197" name="Right Arrow 38"/>
          <p:cNvSpPr/>
          <p:nvPr/>
        </p:nvSpPr>
        <p:spPr>
          <a:xfrm>
            <a:off x="4552532" y="3234976"/>
            <a:ext cx="201169" cy="1554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B7D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8" name="Rounded Rectangle 39"/>
          <p:cNvSpPr/>
          <p:nvPr/>
        </p:nvSpPr>
        <p:spPr>
          <a:xfrm>
            <a:off x="4808564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Oval 40"/>
          <p:cNvSpPr/>
          <p:nvPr/>
        </p:nvSpPr>
        <p:spPr>
          <a:xfrm>
            <a:off x="4918291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0" name="TextBox 41"/>
          <p:cNvSpPr txBox="1"/>
          <p:nvPr/>
        </p:nvSpPr>
        <p:spPr>
          <a:xfrm>
            <a:off x="4918291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8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01" name="TextBox 42"/>
          <p:cNvSpPr txBox="1"/>
          <p:nvPr/>
        </p:nvSpPr>
        <p:spPr>
          <a:xfrm>
            <a:off x="5284052" y="2594896"/>
            <a:ext cx="80467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10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Prompt mit Beispielen</a:t>
            </a:r>
          </a:p>
        </p:txBody>
      </p:sp>
      <p:sp>
        <p:nvSpPr>
          <p:cNvPr id="202" name="TextBox 43"/>
          <p:cNvSpPr txBox="1"/>
          <p:nvPr/>
        </p:nvSpPr>
        <p:spPr>
          <a:xfrm>
            <a:off x="4936579" y="3143536"/>
            <a:ext cx="116128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typische Muster + Beispielreviews</a:t>
            </a:r>
          </a:p>
        </p:txBody>
      </p:sp>
      <p:sp>
        <p:nvSpPr>
          <p:cNvPr id="203" name="TextBox 44"/>
          <p:cNvSpPr txBox="1"/>
          <p:nvPr/>
        </p:nvSpPr>
        <p:spPr>
          <a:xfrm>
            <a:off x="4936579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2000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83,6%</a:t>
            </a:r>
          </a:p>
        </p:txBody>
      </p:sp>
      <p:sp>
        <p:nvSpPr>
          <p:cNvPr id="204" name="TextBox 45"/>
          <p:cNvSpPr txBox="1"/>
          <p:nvPr/>
        </p:nvSpPr>
        <p:spPr>
          <a:xfrm>
            <a:off x="4936579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N=500</a:t>
            </a:r>
          </a:p>
        </p:txBody>
      </p:sp>
      <p:sp>
        <p:nvSpPr>
          <p:cNvPr id="205" name="Right Arrow 46"/>
          <p:cNvSpPr/>
          <p:nvPr/>
        </p:nvSpPr>
        <p:spPr>
          <a:xfrm>
            <a:off x="6289891" y="3234976"/>
            <a:ext cx="201169" cy="1554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B7D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ounded Rectangle 47"/>
          <p:cNvSpPr/>
          <p:nvPr/>
        </p:nvSpPr>
        <p:spPr>
          <a:xfrm>
            <a:off x="6545925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7" name="Oval 48"/>
          <p:cNvSpPr/>
          <p:nvPr/>
        </p:nvSpPr>
        <p:spPr>
          <a:xfrm>
            <a:off x="6655651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8" name="TextBox 49"/>
          <p:cNvSpPr txBox="1"/>
          <p:nvPr/>
        </p:nvSpPr>
        <p:spPr>
          <a:xfrm>
            <a:off x="6655651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8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09" name="TextBox 50"/>
          <p:cNvSpPr txBox="1"/>
          <p:nvPr/>
        </p:nvSpPr>
        <p:spPr>
          <a:xfrm>
            <a:off x="7021411" y="2594896"/>
            <a:ext cx="804673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10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Analyse</a:t>
            </a:r>
          </a:p>
        </p:txBody>
      </p:sp>
      <p:sp>
        <p:nvSpPr>
          <p:cNvPr id="210" name="TextBox 51"/>
          <p:cNvSpPr txBox="1"/>
          <p:nvPr/>
        </p:nvSpPr>
        <p:spPr>
          <a:xfrm>
            <a:off x="6673941" y="3143536"/>
            <a:ext cx="1161289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10 falsche Vorhersagen als neue Beispiele ergänzt</a:t>
            </a:r>
          </a:p>
        </p:txBody>
      </p:sp>
      <p:sp>
        <p:nvSpPr>
          <p:cNvPr id="211" name="TextBox 52"/>
          <p:cNvSpPr txBox="1"/>
          <p:nvPr/>
        </p:nvSpPr>
        <p:spPr>
          <a:xfrm>
            <a:off x="6673941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2000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88%</a:t>
            </a:r>
          </a:p>
        </p:txBody>
      </p:sp>
      <p:sp>
        <p:nvSpPr>
          <p:cNvPr id="212" name="TextBox 53"/>
          <p:cNvSpPr txBox="1"/>
          <p:nvPr/>
        </p:nvSpPr>
        <p:spPr>
          <a:xfrm>
            <a:off x="6673941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N=492 gültig</a:t>
            </a:r>
          </a:p>
        </p:txBody>
      </p:sp>
      <p:sp>
        <p:nvSpPr>
          <p:cNvPr id="213" name="TextBox 54"/>
          <p:cNvSpPr txBox="1"/>
          <p:nvPr/>
        </p:nvSpPr>
        <p:spPr>
          <a:xfrm>
            <a:off x="4179568" y="4618445"/>
            <a:ext cx="3200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14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Accuracy-Verlauf</a:t>
            </a:r>
          </a:p>
        </p:txBody>
      </p:sp>
      <p:sp>
        <p:nvSpPr>
          <p:cNvPr id="214" name="Connector 55"/>
          <p:cNvSpPr/>
          <p:nvPr/>
        </p:nvSpPr>
        <p:spPr>
          <a:xfrm>
            <a:off x="3311002" y="6071169"/>
            <a:ext cx="4069081" cy="1"/>
          </a:xfrm>
          <a:prstGeom prst="line">
            <a:avLst/>
          </a:prstGeom>
          <a:ln w="12700">
            <a:solidFill>
              <a:srgbClr val="C0CDDA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</a:p>
        </p:txBody>
      </p:sp>
      <p:sp>
        <p:nvSpPr>
          <p:cNvPr id="215" name="Oval 56"/>
          <p:cNvSpPr/>
          <p:nvPr/>
        </p:nvSpPr>
        <p:spPr>
          <a:xfrm>
            <a:off x="3432393" y="5406676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6" name="TextBox 57"/>
          <p:cNvSpPr txBox="1"/>
          <p:nvPr/>
        </p:nvSpPr>
        <p:spPr>
          <a:xfrm>
            <a:off x="3254084" y="5109496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9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86%</a:t>
            </a:r>
          </a:p>
        </p:txBody>
      </p:sp>
      <p:sp>
        <p:nvSpPr>
          <p:cNvPr id="217" name="TextBox 58"/>
          <p:cNvSpPr txBox="1"/>
          <p:nvPr/>
        </p:nvSpPr>
        <p:spPr>
          <a:xfrm>
            <a:off x="3363812" y="5668039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einfach</a:t>
            </a:r>
          </a:p>
        </p:txBody>
      </p:sp>
      <p:sp>
        <p:nvSpPr>
          <p:cNvPr id="218" name="Oval 59"/>
          <p:cNvSpPr/>
          <p:nvPr/>
        </p:nvSpPr>
        <p:spPr>
          <a:xfrm>
            <a:off x="5169752" y="5659050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TextBox 60"/>
          <p:cNvSpPr txBox="1"/>
          <p:nvPr/>
        </p:nvSpPr>
        <p:spPr>
          <a:xfrm>
            <a:off x="4991444" y="5361870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9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83,6%</a:t>
            </a:r>
          </a:p>
        </p:txBody>
      </p:sp>
      <p:sp>
        <p:nvSpPr>
          <p:cNvPr id="220" name="TextBox 61"/>
          <p:cNvSpPr txBox="1"/>
          <p:nvPr/>
        </p:nvSpPr>
        <p:spPr>
          <a:xfrm>
            <a:off x="4881716" y="5907444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mit Beispielen</a:t>
            </a:r>
          </a:p>
        </p:txBody>
      </p:sp>
      <p:sp>
        <p:nvSpPr>
          <p:cNvPr id="221" name="Oval 62"/>
          <p:cNvSpPr/>
          <p:nvPr/>
        </p:nvSpPr>
        <p:spPr>
          <a:xfrm>
            <a:off x="6907113" y="5196364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TextBox 63"/>
          <p:cNvSpPr txBox="1"/>
          <p:nvPr/>
        </p:nvSpPr>
        <p:spPr>
          <a:xfrm>
            <a:off x="6728804" y="4899184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9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88%</a:t>
            </a:r>
          </a:p>
        </p:txBody>
      </p:sp>
      <p:sp>
        <p:nvSpPr>
          <p:cNvPr id="223" name="TextBox 64"/>
          <p:cNvSpPr txBox="1"/>
          <p:nvPr/>
        </p:nvSpPr>
        <p:spPr>
          <a:xfrm>
            <a:off x="6712478" y="5410388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verbessert</a:t>
            </a:r>
          </a:p>
        </p:txBody>
      </p:sp>
      <p:sp>
        <p:nvSpPr>
          <p:cNvPr id="224" name="Connector 65"/>
          <p:cNvSpPr/>
          <p:nvPr/>
        </p:nvSpPr>
        <p:spPr>
          <a:xfrm>
            <a:off x="3482684" y="5456968"/>
            <a:ext cx="1737361" cy="252375"/>
          </a:xfrm>
          <a:prstGeom prst="line">
            <a:avLst/>
          </a:prstGeom>
          <a:ln w="25400">
            <a:solidFill>
              <a:srgbClr val="598CB4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</a:p>
        </p:txBody>
      </p:sp>
      <p:sp>
        <p:nvSpPr>
          <p:cNvPr id="225" name="Connector 66"/>
          <p:cNvSpPr/>
          <p:nvPr/>
        </p:nvSpPr>
        <p:spPr>
          <a:xfrm flipV="1">
            <a:off x="5220044" y="5246656"/>
            <a:ext cx="1737361" cy="462687"/>
          </a:xfrm>
          <a:prstGeom prst="line">
            <a:avLst/>
          </a:prstGeom>
          <a:ln w="25400">
            <a:solidFill>
              <a:srgbClr val="598CB4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</a:p>
        </p:txBody>
      </p:sp>
      <p:sp>
        <p:nvSpPr>
          <p:cNvPr id="226" name="TextBox 68"/>
          <p:cNvSpPr txBox="1"/>
          <p:nvPr/>
        </p:nvSpPr>
        <p:spPr>
          <a:xfrm>
            <a:off x="8437718" y="1666363"/>
            <a:ext cx="35661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20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LLM-Leistungsdetails</a:t>
            </a:r>
          </a:p>
        </p:txBody>
      </p:sp>
      <p:sp>
        <p:nvSpPr>
          <p:cNvPr id="227" name="Rectangle 70"/>
          <p:cNvSpPr/>
          <p:nvPr/>
        </p:nvSpPr>
        <p:spPr>
          <a:xfrm>
            <a:off x="9429582" y="33669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8" name="TextBox 71"/>
          <p:cNvSpPr txBox="1"/>
          <p:nvPr/>
        </p:nvSpPr>
        <p:spPr>
          <a:xfrm>
            <a:off x="9475302" y="3531492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8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Vorh. CG</a:t>
            </a:r>
          </a:p>
        </p:txBody>
      </p:sp>
      <p:sp>
        <p:nvSpPr>
          <p:cNvPr id="229" name="Rectangle 72"/>
          <p:cNvSpPr/>
          <p:nvPr/>
        </p:nvSpPr>
        <p:spPr>
          <a:xfrm>
            <a:off x="10435422" y="33669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" name="TextBox 73"/>
          <p:cNvSpPr txBox="1"/>
          <p:nvPr/>
        </p:nvSpPr>
        <p:spPr>
          <a:xfrm>
            <a:off x="10481142" y="3531492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8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Vorh. OR</a:t>
            </a:r>
          </a:p>
        </p:txBody>
      </p:sp>
      <p:sp>
        <p:nvSpPr>
          <p:cNvPr id="231" name="Rectangle 74"/>
          <p:cNvSpPr/>
          <p:nvPr/>
        </p:nvSpPr>
        <p:spPr>
          <a:xfrm>
            <a:off x="8423742" y="38241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2" name="TextBox 75"/>
          <p:cNvSpPr txBox="1"/>
          <p:nvPr/>
        </p:nvSpPr>
        <p:spPr>
          <a:xfrm>
            <a:off x="8496894" y="3988692"/>
            <a:ext cx="8595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8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Wahr CG</a:t>
            </a:r>
          </a:p>
        </p:txBody>
      </p:sp>
      <p:sp>
        <p:nvSpPr>
          <p:cNvPr id="233" name="Rectangle 76"/>
          <p:cNvSpPr/>
          <p:nvPr/>
        </p:nvSpPr>
        <p:spPr>
          <a:xfrm>
            <a:off x="9429582" y="3824100"/>
            <a:ext cx="1005840" cy="457201"/>
          </a:xfrm>
          <a:prstGeom prst="rect">
            <a:avLst/>
          </a:prstGeom>
          <a:solidFill>
            <a:srgbClr val="E0EF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" name="TextBox 77"/>
          <p:cNvSpPr txBox="1"/>
          <p:nvPr/>
        </p:nvSpPr>
        <p:spPr>
          <a:xfrm>
            <a:off x="9521022" y="39521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1400">
                <a:solidFill>
                  <a:srgbClr val="286E3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207</a:t>
            </a:r>
          </a:p>
        </p:txBody>
      </p:sp>
      <p:sp>
        <p:nvSpPr>
          <p:cNvPr id="235" name="Rectangle 78"/>
          <p:cNvSpPr/>
          <p:nvPr/>
        </p:nvSpPr>
        <p:spPr>
          <a:xfrm>
            <a:off x="10435422" y="3824100"/>
            <a:ext cx="1005840" cy="457201"/>
          </a:xfrm>
          <a:prstGeom prst="rect">
            <a:avLst/>
          </a:prstGeom>
          <a:solidFill>
            <a:srgbClr val="F6E0D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6" name="TextBox 79"/>
          <p:cNvSpPr txBox="1"/>
          <p:nvPr/>
        </p:nvSpPr>
        <p:spPr>
          <a:xfrm>
            <a:off x="10526861" y="39521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1400">
                <a:solidFill>
                  <a:srgbClr val="AA423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52</a:t>
            </a:r>
          </a:p>
        </p:txBody>
      </p:sp>
      <p:sp>
        <p:nvSpPr>
          <p:cNvPr id="237" name="Rectangle 80"/>
          <p:cNvSpPr/>
          <p:nvPr/>
        </p:nvSpPr>
        <p:spPr>
          <a:xfrm>
            <a:off x="8423742" y="42813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" name="TextBox 81"/>
          <p:cNvSpPr txBox="1"/>
          <p:nvPr/>
        </p:nvSpPr>
        <p:spPr>
          <a:xfrm>
            <a:off x="8496894" y="4445892"/>
            <a:ext cx="8595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8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Wahr OR</a:t>
            </a:r>
          </a:p>
        </p:txBody>
      </p:sp>
      <p:sp>
        <p:nvSpPr>
          <p:cNvPr id="239" name="Rectangle 82"/>
          <p:cNvSpPr/>
          <p:nvPr/>
        </p:nvSpPr>
        <p:spPr>
          <a:xfrm>
            <a:off x="9429582" y="4281300"/>
            <a:ext cx="1005840" cy="457201"/>
          </a:xfrm>
          <a:prstGeom prst="rect">
            <a:avLst/>
          </a:prstGeom>
          <a:solidFill>
            <a:srgbClr val="F6E0D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0" name="TextBox 83"/>
          <p:cNvSpPr txBox="1"/>
          <p:nvPr/>
        </p:nvSpPr>
        <p:spPr>
          <a:xfrm>
            <a:off x="9521022" y="44093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1400">
                <a:solidFill>
                  <a:srgbClr val="AA423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30</a:t>
            </a:r>
          </a:p>
        </p:txBody>
      </p:sp>
      <p:sp>
        <p:nvSpPr>
          <p:cNvPr id="241" name="Rectangle 84"/>
          <p:cNvSpPr/>
          <p:nvPr/>
        </p:nvSpPr>
        <p:spPr>
          <a:xfrm>
            <a:off x="10435422" y="4281300"/>
            <a:ext cx="1005840" cy="457201"/>
          </a:xfrm>
          <a:prstGeom prst="rect">
            <a:avLst/>
          </a:prstGeom>
          <a:solidFill>
            <a:srgbClr val="E0EF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" name="TextBox 85"/>
          <p:cNvSpPr txBox="1"/>
          <p:nvPr/>
        </p:nvSpPr>
        <p:spPr>
          <a:xfrm>
            <a:off x="10526861" y="44093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1400">
                <a:solidFill>
                  <a:srgbClr val="286E3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211</a:t>
            </a:r>
          </a:p>
        </p:txBody>
      </p:sp>
      <p:sp>
        <p:nvSpPr>
          <p:cNvPr id="243" name="TextBox 86"/>
          <p:cNvSpPr txBox="1"/>
          <p:nvPr/>
        </p:nvSpPr>
        <p:spPr>
          <a:xfrm>
            <a:off x="8393010" y="5164791"/>
            <a:ext cx="333756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2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Nach Ergänzung von Fehlerbeispielen erreichte der LLM 88% Precision, Recall, F1-Score und Accuracy.</a:t>
            </a:r>
          </a:p>
        </p:txBody>
      </p:sp>
      <p:sp>
        <p:nvSpPr>
          <p:cNvPr id="244" name="Rounded Rectangle 88"/>
          <p:cNvSpPr/>
          <p:nvPr/>
        </p:nvSpPr>
        <p:spPr>
          <a:xfrm>
            <a:off x="8355162" y="2489740"/>
            <a:ext cx="3154681" cy="594361"/>
          </a:xfrm>
          <a:prstGeom prst="roundRect">
            <a:avLst>
              <a:gd name="adj" fmla="val 16667"/>
            </a:avLst>
          </a:prstGeom>
          <a:solidFill>
            <a:srgbClr val="E8F2FA"/>
          </a:solidFill>
          <a:ln w="12700">
            <a:solidFill>
              <a:srgbClr val="AECCE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" name="TextBox 89"/>
          <p:cNvSpPr txBox="1"/>
          <p:nvPr/>
        </p:nvSpPr>
        <p:spPr>
          <a:xfrm>
            <a:off x="8521150" y="2674090"/>
            <a:ext cx="278892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b="1" sz="1300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GPT-4o + 500 zufällige Reviews</a:t>
            </a:r>
          </a:p>
        </p:txBody>
      </p:sp>
      <p:sp>
        <p:nvSpPr>
          <p:cNvPr id="246" name="Rounded Rectangle 90"/>
          <p:cNvSpPr/>
          <p:nvPr/>
        </p:nvSpPr>
        <p:spPr>
          <a:xfrm>
            <a:off x="195416" y="6195895"/>
            <a:ext cx="11801169" cy="548641"/>
          </a:xfrm>
          <a:prstGeom prst="roundRect">
            <a:avLst>
              <a:gd name="adj" fmla="val 16667"/>
            </a:avLst>
          </a:prstGeom>
          <a:solidFill>
            <a:srgbClr val="15436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" name="TextBox 91"/>
          <p:cNvSpPr txBox="1"/>
          <p:nvPr/>
        </p:nvSpPr>
        <p:spPr>
          <a:xfrm>
            <a:off x="329276" y="6380541"/>
            <a:ext cx="11795761" cy="167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b="1" sz="11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Kernaussage: Prompt Engineering und Fehleranalyse verbesserten die LLM-Accuracy auf 88%; die Confusion Matrix zeigt die wichtigsten Fehlertypen (CG→OR und OR→CG).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itle 1"/>
          <p:cNvSpPr txBox="1"/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Over all performance</a:t>
            </a:r>
          </a:p>
        </p:txBody>
      </p:sp>
      <p:grpSp>
        <p:nvGrpSpPr>
          <p:cNvPr id="252" name="Rounded Rectangular Callout 6"/>
          <p:cNvGrpSpPr/>
          <p:nvPr/>
        </p:nvGrpSpPr>
        <p:grpSpPr>
          <a:xfrm>
            <a:off x="8554930" y="2045470"/>
            <a:ext cx="3599096" cy="1297158"/>
            <a:chOff x="0" y="0"/>
            <a:chExt cx="3599094" cy="1297157"/>
          </a:xfrm>
        </p:grpSpPr>
        <p:sp>
          <p:nvSpPr>
            <p:cNvPr id="250" name="Shape"/>
            <p:cNvSpPr/>
            <p:nvPr/>
          </p:nvSpPr>
          <p:spPr>
            <a:xfrm>
              <a:off x="0" y="0"/>
              <a:ext cx="3536363" cy="12971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310" y="3600"/>
                  </a:moveTo>
                  <a:cubicBezTo>
                    <a:pt x="6310" y="1612"/>
                    <a:pt x="6901" y="0"/>
                    <a:pt x="7630" y="0"/>
                  </a:cubicBezTo>
                  <a:lnTo>
                    <a:pt x="8858" y="0"/>
                  </a:lnTo>
                  <a:lnTo>
                    <a:pt x="20279" y="0"/>
                  </a:lnTo>
                  <a:cubicBezTo>
                    <a:pt x="21009" y="0"/>
                    <a:pt x="21600" y="1612"/>
                    <a:pt x="21600" y="3600"/>
                  </a:cubicBezTo>
                  <a:lnTo>
                    <a:pt x="21600" y="3600"/>
                  </a:lnTo>
                  <a:lnTo>
                    <a:pt x="21600" y="18000"/>
                  </a:lnTo>
                  <a:cubicBezTo>
                    <a:pt x="21600" y="19988"/>
                    <a:pt x="21009" y="21600"/>
                    <a:pt x="20279" y="21600"/>
                  </a:cubicBezTo>
                  <a:lnTo>
                    <a:pt x="7630" y="21600"/>
                  </a:lnTo>
                  <a:cubicBezTo>
                    <a:pt x="6901" y="21600"/>
                    <a:pt x="6310" y="19988"/>
                    <a:pt x="6310" y="18000"/>
                  </a:cubicBezTo>
                  <a:lnTo>
                    <a:pt x="6310" y="9000"/>
                  </a:lnTo>
                  <a:lnTo>
                    <a:pt x="0" y="8773"/>
                  </a:lnTo>
                  <a:lnTo>
                    <a:pt x="6310" y="3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1" name="Fehler unterschiedlich…"/>
            <p:cNvSpPr txBox="1"/>
            <p:nvPr/>
          </p:nvSpPr>
          <p:spPr>
            <a:xfrm>
              <a:off x="1306510" y="278083"/>
              <a:ext cx="2292585" cy="7409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  <a:r>
                <a:t>Fehler unterschiedlich </a:t>
              </a:r>
            </a:p>
            <a:p>
              <a:pPr/>
              <a:r>
                <a:t>verteilt </a:t>
              </a:r>
            </a:p>
            <a:p>
              <a:pPr/>
              <a:r>
                <a:t>nicht </a:t>
              </a:r>
            </a:p>
            <a:p>
              <a:pPr/>
            </a:p>
            <a:p>
              <a:pPr/>
              <a:r>
                <a:t>systematisch gleich</a:t>
              </a:r>
            </a:p>
          </p:txBody>
        </p:sp>
      </p:grpSp>
      <p:sp>
        <p:nvSpPr>
          <p:cNvPr id="253" name="Shape 4"/>
          <p:cNvSpPr/>
          <p:nvPr/>
        </p:nvSpPr>
        <p:spPr>
          <a:xfrm>
            <a:off x="483731" y="1664207"/>
            <a:ext cx="8185875" cy="4233674"/>
          </a:xfrm>
          <a:prstGeom prst="roundRect">
            <a:avLst>
              <a:gd name="adj" fmla="val 2189"/>
            </a:avLst>
          </a:prstGeom>
          <a:solidFill>
            <a:srgbClr val="FFFF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54" name="Text 5"/>
          <p:cNvSpPr txBox="1"/>
          <p:nvPr/>
        </p:nvSpPr>
        <p:spPr>
          <a:xfrm>
            <a:off x="960119" y="1958848"/>
            <a:ext cx="3931922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Modell-Accuracy (Testset)</a:t>
            </a:r>
          </a:p>
        </p:txBody>
      </p:sp>
      <p:sp>
        <p:nvSpPr>
          <p:cNvPr id="255" name="Text 6"/>
          <p:cNvSpPr txBox="1"/>
          <p:nvPr/>
        </p:nvSpPr>
        <p:spPr>
          <a:xfrm>
            <a:off x="7618434" y="2041398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256" name="Shape 7"/>
          <p:cNvSpPr/>
          <p:nvPr/>
        </p:nvSpPr>
        <p:spPr>
          <a:xfrm flipH="1">
            <a:off x="3337559" y="2487167"/>
            <a:ext cx="1" cy="2587754"/>
          </a:xfrm>
          <a:prstGeom prst="line">
            <a:avLst/>
          </a:prstGeom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57" name="Shape 8"/>
          <p:cNvSpPr/>
          <p:nvPr/>
        </p:nvSpPr>
        <p:spPr>
          <a:xfrm>
            <a:off x="960119" y="2395727"/>
            <a:ext cx="320041" cy="320042"/>
          </a:xfrm>
          <a:prstGeom prst="ellipse">
            <a:avLst/>
          </a:prstGeom>
          <a:solidFill>
            <a:srgbClr val="0B63B6"/>
          </a:solidFill>
          <a:ln w="12700">
            <a:solidFill>
              <a:srgbClr val="0B63B6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58" name="Text 9"/>
          <p:cNvSpPr txBox="1"/>
          <p:nvPr/>
        </p:nvSpPr>
        <p:spPr>
          <a:xfrm>
            <a:off x="960119" y="2459482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59" name="Text 10"/>
          <p:cNvSpPr txBox="1"/>
          <p:nvPr/>
        </p:nvSpPr>
        <p:spPr>
          <a:xfrm>
            <a:off x="1600200" y="2446020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ensemble</a:t>
            </a:r>
          </a:p>
        </p:txBody>
      </p:sp>
      <p:sp>
        <p:nvSpPr>
          <p:cNvPr id="260" name="Shape 11"/>
          <p:cNvSpPr/>
          <p:nvPr/>
        </p:nvSpPr>
        <p:spPr>
          <a:xfrm>
            <a:off x="3577838" y="2552317"/>
            <a:ext cx="3919221" cy="283465"/>
          </a:xfrm>
          <a:prstGeom prst="rect">
            <a:avLst/>
          </a:prstGeom>
          <a:solidFill>
            <a:srgbClr val="0B63B6"/>
          </a:solidFill>
          <a:ln w="12700">
            <a:solidFill>
              <a:srgbClr val="0B63B6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61" name="Text 12"/>
          <p:cNvSpPr txBox="1"/>
          <p:nvPr/>
        </p:nvSpPr>
        <p:spPr>
          <a:xfrm>
            <a:off x="7801314" y="2490470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0.92</a:t>
            </a:r>
          </a:p>
        </p:txBody>
      </p:sp>
      <p:sp>
        <p:nvSpPr>
          <p:cNvPr id="262" name="Shape 13"/>
          <p:cNvSpPr/>
          <p:nvPr/>
        </p:nvSpPr>
        <p:spPr>
          <a:xfrm>
            <a:off x="960119" y="2916935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63" name="Text 14"/>
          <p:cNvSpPr txBox="1"/>
          <p:nvPr/>
        </p:nvSpPr>
        <p:spPr>
          <a:xfrm>
            <a:off x="960119" y="2980689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64" name="Text 15"/>
          <p:cNvSpPr txBox="1"/>
          <p:nvPr/>
        </p:nvSpPr>
        <p:spPr>
          <a:xfrm>
            <a:off x="1600200" y="2967227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xgboost</a:t>
            </a:r>
          </a:p>
        </p:txBody>
      </p:sp>
      <p:sp>
        <p:nvSpPr>
          <p:cNvPr id="265" name="Shape 16"/>
          <p:cNvSpPr/>
          <p:nvPr/>
        </p:nvSpPr>
        <p:spPr>
          <a:xfrm>
            <a:off x="3611879" y="2962655"/>
            <a:ext cx="3851138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66" name="Text 17"/>
          <p:cNvSpPr txBox="1"/>
          <p:nvPr/>
        </p:nvSpPr>
        <p:spPr>
          <a:xfrm>
            <a:off x="7801314" y="3011677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0.91</a:t>
            </a:r>
          </a:p>
        </p:txBody>
      </p:sp>
      <p:sp>
        <p:nvSpPr>
          <p:cNvPr id="267" name="Shape 18"/>
          <p:cNvSpPr/>
          <p:nvPr/>
        </p:nvSpPr>
        <p:spPr>
          <a:xfrm>
            <a:off x="960119" y="3438144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68" name="Text 19"/>
          <p:cNvSpPr txBox="1"/>
          <p:nvPr/>
        </p:nvSpPr>
        <p:spPr>
          <a:xfrm>
            <a:off x="960119" y="3501897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69" name="Text 20"/>
          <p:cNvSpPr txBox="1"/>
          <p:nvPr/>
        </p:nvSpPr>
        <p:spPr>
          <a:xfrm>
            <a:off x="1600200" y="3488435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class_fcnn_bge</a:t>
            </a:r>
          </a:p>
        </p:txBody>
      </p:sp>
      <p:sp>
        <p:nvSpPr>
          <p:cNvPr id="270" name="Shape 21"/>
          <p:cNvSpPr/>
          <p:nvPr/>
        </p:nvSpPr>
        <p:spPr>
          <a:xfrm>
            <a:off x="3611879" y="3483864"/>
            <a:ext cx="373858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71" name="Text 22"/>
          <p:cNvSpPr txBox="1"/>
          <p:nvPr/>
        </p:nvSpPr>
        <p:spPr>
          <a:xfrm>
            <a:off x="7801314" y="3532885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0.90</a:t>
            </a:r>
          </a:p>
        </p:txBody>
      </p:sp>
      <p:sp>
        <p:nvSpPr>
          <p:cNvPr id="272" name="Shape 23"/>
          <p:cNvSpPr/>
          <p:nvPr/>
        </p:nvSpPr>
        <p:spPr>
          <a:xfrm>
            <a:off x="960119" y="3959352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73" name="Text 24"/>
          <p:cNvSpPr txBox="1"/>
          <p:nvPr/>
        </p:nvSpPr>
        <p:spPr>
          <a:xfrm>
            <a:off x="960119" y="4023105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74" name="Text 25"/>
          <p:cNvSpPr txBox="1"/>
          <p:nvPr/>
        </p:nvSpPr>
        <p:spPr>
          <a:xfrm>
            <a:off x="1600200" y="4009644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random_forest</a:t>
            </a:r>
          </a:p>
        </p:txBody>
      </p:sp>
      <p:sp>
        <p:nvSpPr>
          <p:cNvPr id="275" name="Shape 26"/>
          <p:cNvSpPr/>
          <p:nvPr/>
        </p:nvSpPr>
        <p:spPr>
          <a:xfrm>
            <a:off x="3611879" y="4005071"/>
            <a:ext cx="358639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76" name="Text 27"/>
          <p:cNvSpPr txBox="1"/>
          <p:nvPr/>
        </p:nvSpPr>
        <p:spPr>
          <a:xfrm>
            <a:off x="7801314" y="4054093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0.88</a:t>
            </a:r>
          </a:p>
        </p:txBody>
      </p:sp>
      <p:sp>
        <p:nvSpPr>
          <p:cNvPr id="277" name="Shape 28"/>
          <p:cNvSpPr/>
          <p:nvPr/>
        </p:nvSpPr>
        <p:spPr>
          <a:xfrm>
            <a:off x="960119" y="4480559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78" name="Text 29"/>
          <p:cNvSpPr txBox="1"/>
          <p:nvPr/>
        </p:nvSpPr>
        <p:spPr>
          <a:xfrm>
            <a:off x="960119" y="4544314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79" name="Text 30"/>
          <p:cNvSpPr txBox="1"/>
          <p:nvPr/>
        </p:nvSpPr>
        <p:spPr>
          <a:xfrm>
            <a:off x="1600200" y="4530851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llm</a:t>
            </a:r>
          </a:p>
        </p:txBody>
      </p:sp>
      <p:sp>
        <p:nvSpPr>
          <p:cNvPr id="280" name="Shape 31"/>
          <p:cNvSpPr/>
          <p:nvPr/>
        </p:nvSpPr>
        <p:spPr>
          <a:xfrm>
            <a:off x="3611879" y="4526279"/>
            <a:ext cx="358639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81" name="Text 32"/>
          <p:cNvSpPr txBox="1"/>
          <p:nvPr/>
        </p:nvSpPr>
        <p:spPr>
          <a:xfrm>
            <a:off x="7801314" y="4575301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0.88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284" name="Title 1"/>
          <p:cNvSpPr txBox="1"/>
          <p:nvPr>
            <p:ph type="title"/>
          </p:nvPr>
        </p:nvSpPr>
        <p:spPr>
          <a:xfrm>
            <a:off x="558800" y="1238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Category Analysis</a:t>
            </a:r>
          </a:p>
        </p:txBody>
      </p:sp>
      <p:sp>
        <p:nvSpPr>
          <p:cNvPr id="285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286" name="Slide Number Placeholder 5"/>
          <p:cNvSpPr txBox="1"/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287" name="Content Placeholder 7" descr="Content Placeholder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0742" y="1425635"/>
            <a:ext cx="7412916" cy="494194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90" name="Rounded Rectangular Callout 2"/>
          <p:cNvGrpSpPr/>
          <p:nvPr/>
        </p:nvGrpSpPr>
        <p:grpSpPr>
          <a:xfrm>
            <a:off x="7777842" y="2115692"/>
            <a:ext cx="3842659" cy="2626616"/>
            <a:chOff x="0" y="0"/>
            <a:chExt cx="3842658" cy="2626615"/>
          </a:xfrm>
        </p:grpSpPr>
        <p:sp>
          <p:nvSpPr>
            <p:cNvPr id="288" name="Shape"/>
            <p:cNvSpPr/>
            <p:nvPr/>
          </p:nvSpPr>
          <p:spPr>
            <a:xfrm>
              <a:off x="0" y="0"/>
              <a:ext cx="3842659" cy="2626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179"/>
                  </a:moveTo>
                  <a:cubicBezTo>
                    <a:pt x="0" y="1423"/>
                    <a:pt x="973" y="0"/>
                    <a:pt x="2173" y="0"/>
                  </a:cubicBezTo>
                  <a:lnTo>
                    <a:pt x="3600" y="0"/>
                  </a:lnTo>
                  <a:lnTo>
                    <a:pt x="19427" y="0"/>
                  </a:lnTo>
                  <a:cubicBezTo>
                    <a:pt x="20627" y="0"/>
                    <a:pt x="21600" y="1423"/>
                    <a:pt x="21600" y="3179"/>
                  </a:cubicBezTo>
                  <a:lnTo>
                    <a:pt x="21600" y="15892"/>
                  </a:lnTo>
                  <a:cubicBezTo>
                    <a:pt x="21600" y="17648"/>
                    <a:pt x="20627" y="19071"/>
                    <a:pt x="19427" y="19071"/>
                  </a:cubicBezTo>
                  <a:lnTo>
                    <a:pt x="9000" y="19071"/>
                  </a:lnTo>
                  <a:lnTo>
                    <a:pt x="3952" y="21600"/>
                  </a:lnTo>
                  <a:lnTo>
                    <a:pt x="3600" y="19071"/>
                  </a:lnTo>
                  <a:lnTo>
                    <a:pt x="2173" y="19071"/>
                  </a:lnTo>
                  <a:cubicBezTo>
                    <a:pt x="973" y="19071"/>
                    <a:pt x="0" y="17648"/>
                    <a:pt x="0" y="15892"/>
                  </a:cubicBezTo>
                  <a:lnTo>
                    <a:pt x="0" y="15892"/>
                  </a:lnTo>
                  <a:lnTo>
                    <a:pt x="0" y="11125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289" name="Xgboost fast überall am besten…"/>
            <p:cNvSpPr txBox="1"/>
            <p:nvPr/>
          </p:nvSpPr>
          <p:spPr>
            <a:xfrm>
              <a:off x="165277" y="116686"/>
              <a:ext cx="3512105" cy="20856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/>
              <a:r>
                <a:t>Xgboost fast überall am besten</a:t>
              </a:r>
              <a:endParaRPr>
                <a:solidFill>
                  <a:srgbClr val="FFFFFF"/>
                </a:solidFill>
              </a:endParaRPr>
            </a:p>
            <a:p>
              <a:pPr/>
              <a:r>
                <a:t>Kindle_Store für FCNN ungewöhnlich einfach</a:t>
              </a:r>
              <a:endParaRPr>
                <a:solidFill>
                  <a:srgbClr val="FFFFFF"/>
                </a:solidFill>
              </a:endParaRPr>
            </a:p>
            <a:p>
              <a:pPr/>
              <a:r>
                <a:t>Sports &amp; Outdoors ist auffällig. xgboost 5% besser als FCNN</a:t>
              </a:r>
              <a:endParaRPr>
                <a:solidFill>
                  <a:srgbClr val="FFFFFF"/>
                </a:solidFill>
              </a:endParaRPr>
            </a:p>
            <a:p>
              <a:pPr/>
              <a:r>
                <a:t>Movies_and_TV für alle schwierig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293" name="Title 1"/>
          <p:cNvSpPr txBox="1"/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Rating Analysis</a:t>
            </a:r>
          </a:p>
        </p:txBody>
      </p:sp>
      <p:sp>
        <p:nvSpPr>
          <p:cNvPr id="294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295" name="Slide Number Placeholder 5"/>
          <p:cNvSpPr txBox="1"/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296" name="Content Placeholder 7" descr="Content Placeholder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5908" y="1470446"/>
            <a:ext cx="8979257" cy="5387554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297" name="Table 2"/>
          <p:cNvGraphicFramePr/>
          <p:nvPr/>
        </p:nvGraphicFramePr>
        <p:xfrm>
          <a:off x="9637486" y="2728685"/>
          <a:ext cx="2208606" cy="1643846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711864"/>
                <a:gridCol w="839635"/>
                <a:gridCol w="657106"/>
              </a:tblGrid>
              <a:tr h="27397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Rating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Records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Anteil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1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2155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5%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1967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5%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3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3786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9%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4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7965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20%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24559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61%</a:t>
                      </a:r>
                    </a:p>
                  </a:txBody>
                  <a:tcPr marL="9525" marR="9525" marT="9525" marB="9525" anchor="b" anchorCtr="0" horzOverflow="overflow"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300" name="Title 1"/>
          <p:cNvSpPr txBox="1"/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Errors - Cat among all-fail cases</a:t>
            </a:r>
          </a:p>
        </p:txBody>
      </p:sp>
      <p:sp>
        <p:nvSpPr>
          <p:cNvPr id="301" name="Content Placehold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72000"/>
              </a:lnSpc>
              <a:defRPr sz="1700"/>
            </a:pPr>
            <a:r>
              <a:t>All models wrong: 185</a:t>
            </a:r>
          </a:p>
          <a:p>
            <a:pPr>
              <a:lnSpc>
                <a:spcPct val="72000"/>
              </a:lnSpc>
              <a:defRPr sz="1700"/>
            </a:pPr>
          </a:p>
          <a:p>
            <a:pPr>
              <a:lnSpc>
                <a:spcPct val="72000"/>
              </a:lnSpc>
              <a:defRPr sz="1700"/>
            </a:pPr>
            <a:r>
              <a:t>category</a:t>
            </a:r>
          </a:p>
          <a:p>
            <a:pPr>
              <a:lnSpc>
                <a:spcPct val="72000"/>
              </a:lnSpc>
              <a:defRPr sz="1700"/>
            </a:pPr>
            <a:r>
              <a:t>Toys_and_Games_5                26</a:t>
            </a:r>
          </a:p>
          <a:p>
            <a:pPr>
              <a:lnSpc>
                <a:spcPct val="72000"/>
              </a:lnSpc>
              <a:defRPr sz="1700"/>
            </a:pPr>
            <a:r>
              <a:t>Pet_Supplies_5                  22</a:t>
            </a:r>
          </a:p>
          <a:p>
            <a:pPr>
              <a:lnSpc>
                <a:spcPct val="72000"/>
              </a:lnSpc>
              <a:defRPr sz="1700"/>
            </a:pPr>
            <a:r>
              <a:t>Sports_and_Outdoors_5           20</a:t>
            </a:r>
          </a:p>
          <a:p>
            <a:pPr>
              <a:lnSpc>
                <a:spcPct val="72000"/>
              </a:lnSpc>
              <a:defRPr sz="1700"/>
            </a:pPr>
            <a:r>
              <a:t>Kindle_Store_5                  19</a:t>
            </a:r>
          </a:p>
          <a:p>
            <a:pPr>
              <a:lnSpc>
                <a:spcPct val="72000"/>
              </a:lnSpc>
              <a:defRPr sz="1700"/>
            </a:pPr>
            <a:r>
              <a:t>Clothing_Shoes_and_Jewelry_5    19</a:t>
            </a:r>
          </a:p>
          <a:p>
            <a:pPr>
              <a:lnSpc>
                <a:spcPct val="72000"/>
              </a:lnSpc>
              <a:defRPr sz="1700"/>
            </a:pPr>
            <a:r>
              <a:t>Movies_and_TV_5                 18</a:t>
            </a:r>
          </a:p>
          <a:p>
            <a:pPr>
              <a:lnSpc>
                <a:spcPct val="72000"/>
              </a:lnSpc>
              <a:defRPr sz="1700"/>
            </a:pPr>
            <a:r>
              <a:t>Home_and_Kitchen_5              17</a:t>
            </a:r>
          </a:p>
          <a:p>
            <a:pPr>
              <a:lnSpc>
                <a:spcPct val="72000"/>
              </a:lnSpc>
              <a:defRPr sz="1700"/>
            </a:pPr>
            <a:r>
              <a:t>Tools_and_Home_Improvement_5    17</a:t>
            </a:r>
          </a:p>
          <a:p>
            <a:pPr>
              <a:lnSpc>
                <a:spcPct val="72000"/>
              </a:lnSpc>
              <a:defRPr sz="1700"/>
            </a:pPr>
            <a:r>
              <a:t>Books_5                         16</a:t>
            </a:r>
          </a:p>
          <a:p>
            <a:pPr>
              <a:lnSpc>
                <a:spcPct val="72000"/>
              </a:lnSpc>
              <a:defRPr sz="1700"/>
            </a:pPr>
            <a:r>
              <a:t>Electronics_5                   11</a:t>
            </a:r>
          </a:p>
        </p:txBody>
      </p:sp>
      <p:sp>
        <p:nvSpPr>
          <p:cNvPr id="302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303" name="Slide Number Placeholder 5"/>
          <p:cNvSpPr txBox="1"/>
          <p:nvPr>
            <p:ph type="sldNum" sz="quarter" idx="2"/>
          </p:nvPr>
        </p:nvSpPr>
        <p:spPr>
          <a:xfrm>
            <a:off x="11170557" y="6414760"/>
            <a:ext cx="18324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306" name="Title 1"/>
          <p:cNvSpPr txBox="1"/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Accuracy by Text Length</a:t>
            </a:r>
          </a:p>
        </p:txBody>
      </p:sp>
      <p:sp>
        <p:nvSpPr>
          <p:cNvPr id="30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308" name="Slide Number Placeholder 5"/>
          <p:cNvSpPr txBox="1"/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09" name="Content Placeholder 7" descr="Content Placeholder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7960" y="1507986"/>
            <a:ext cx="10515840" cy="525792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12" name="Rounded Rectangular Callout 8"/>
          <p:cNvGrpSpPr/>
          <p:nvPr/>
        </p:nvGrpSpPr>
        <p:grpSpPr>
          <a:xfrm>
            <a:off x="8590149" y="3428999"/>
            <a:ext cx="3345521" cy="1605778"/>
            <a:chOff x="0" y="0"/>
            <a:chExt cx="3345520" cy="1605776"/>
          </a:xfrm>
        </p:grpSpPr>
        <p:sp>
          <p:nvSpPr>
            <p:cNvPr id="310" name="Shape"/>
            <p:cNvSpPr/>
            <p:nvPr/>
          </p:nvSpPr>
          <p:spPr>
            <a:xfrm>
              <a:off x="0" y="0"/>
              <a:ext cx="3345521" cy="160577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773" y="3600"/>
                  </a:moveTo>
                  <a:cubicBezTo>
                    <a:pt x="6773" y="1612"/>
                    <a:pt x="7547" y="0"/>
                    <a:pt x="8501" y="0"/>
                  </a:cubicBezTo>
                  <a:lnTo>
                    <a:pt x="9244" y="0"/>
                  </a:lnTo>
                  <a:lnTo>
                    <a:pt x="19872" y="0"/>
                  </a:lnTo>
                  <a:cubicBezTo>
                    <a:pt x="20826" y="0"/>
                    <a:pt x="21600" y="1612"/>
                    <a:pt x="21600" y="3600"/>
                  </a:cubicBezTo>
                  <a:lnTo>
                    <a:pt x="21600" y="3600"/>
                  </a:lnTo>
                  <a:lnTo>
                    <a:pt x="21600" y="18000"/>
                  </a:lnTo>
                  <a:cubicBezTo>
                    <a:pt x="21600" y="19988"/>
                    <a:pt x="20826" y="21600"/>
                    <a:pt x="19872" y="21600"/>
                  </a:cubicBezTo>
                  <a:lnTo>
                    <a:pt x="8501" y="21600"/>
                  </a:lnTo>
                  <a:cubicBezTo>
                    <a:pt x="7547" y="21600"/>
                    <a:pt x="6773" y="19988"/>
                    <a:pt x="6773" y="18000"/>
                  </a:cubicBezTo>
                  <a:lnTo>
                    <a:pt x="6773" y="9000"/>
                  </a:lnTo>
                  <a:lnTo>
                    <a:pt x="0" y="4519"/>
                  </a:lnTo>
                  <a:lnTo>
                    <a:pt x="6773" y="3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11" name="Je länger der Text, desto besser die Klassifikation…"/>
            <p:cNvSpPr txBox="1"/>
            <p:nvPr/>
          </p:nvSpPr>
          <p:spPr>
            <a:xfrm>
              <a:off x="1179540" y="344244"/>
              <a:ext cx="2035523" cy="9172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/>
              <a:r>
                <a:t>J</a:t>
              </a:r>
              <a:r>
                <a:t>e länger der Text, desto besser die Klassifikation…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Footer Placeholder 4"/>
          <p:cNvSpPr txBox="1"/>
          <p:nvPr/>
        </p:nvSpPr>
        <p:spPr>
          <a:xfrm>
            <a:off x="4155759" y="6188243"/>
            <a:ext cx="4023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315" name="Title 1"/>
          <p:cNvSpPr txBox="1"/>
          <p:nvPr>
            <p:ph type="title"/>
          </p:nvPr>
        </p:nvSpPr>
        <p:spPr>
          <a:xfrm>
            <a:off x="266700" y="136205"/>
            <a:ext cx="10515600" cy="852046"/>
          </a:xfrm>
          <a:prstGeom prst="rect">
            <a:avLst/>
          </a:prstGeom>
        </p:spPr>
        <p:txBody>
          <a:bodyPr/>
          <a:lstStyle>
            <a:lvl1pPr>
              <a:defRPr sz="3900"/>
            </a:lvl1pPr>
          </a:lstStyle>
          <a:p>
            <a:pPr/>
            <a:r>
              <a:t>Feature Engineering</a:t>
            </a:r>
          </a:p>
        </p:txBody>
      </p:sp>
      <p:sp>
        <p:nvSpPr>
          <p:cNvPr id="316" name="Date Placeholder 3"/>
          <p:cNvSpPr txBox="1"/>
          <p:nvPr/>
        </p:nvSpPr>
        <p:spPr>
          <a:xfrm>
            <a:off x="955359" y="6188243"/>
            <a:ext cx="26517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317" name="Slide Number Placeholder 5"/>
          <p:cNvSpPr txBox="1"/>
          <p:nvPr>
            <p:ph type="sldNum" sz="quarter" idx="2"/>
          </p:nvPr>
        </p:nvSpPr>
        <p:spPr>
          <a:xfrm>
            <a:off x="11243857" y="6188243"/>
            <a:ext cx="181383" cy="248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18" name="TextBox 3"/>
          <p:cNvSpPr txBox="1"/>
          <p:nvPr/>
        </p:nvSpPr>
        <p:spPr>
          <a:xfrm>
            <a:off x="274000" y="923861"/>
            <a:ext cx="6270388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60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Wichtige Merkmale und Einfluss auf die Klassifikations-Schwierigkeit</a:t>
            </a:r>
          </a:p>
        </p:txBody>
      </p:sp>
      <p:sp>
        <p:nvSpPr>
          <p:cNvPr id="319" name="Rounded Rectangle 5"/>
          <p:cNvSpPr/>
          <p:nvPr/>
        </p:nvSpPr>
        <p:spPr>
          <a:xfrm>
            <a:off x="655319" y="1515923"/>
            <a:ext cx="5212081" cy="4526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9D6E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0" name="TextBox 6"/>
          <p:cNvSpPr txBox="1"/>
          <p:nvPr/>
        </p:nvSpPr>
        <p:spPr>
          <a:xfrm>
            <a:off x="1021079" y="1717091"/>
            <a:ext cx="2701192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b="1" sz="2000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Features Engineering</a:t>
            </a:r>
          </a:p>
        </p:txBody>
      </p:sp>
      <p:grpSp>
        <p:nvGrpSpPr>
          <p:cNvPr id="323" name="Rounded Rectangle 7"/>
          <p:cNvGrpSpPr/>
          <p:nvPr/>
        </p:nvGrpSpPr>
        <p:grpSpPr>
          <a:xfrm>
            <a:off x="975359" y="2156003"/>
            <a:ext cx="1325881" cy="310897"/>
            <a:chOff x="0" y="0"/>
            <a:chExt cx="1325880" cy="310895"/>
          </a:xfrm>
        </p:grpSpPr>
        <p:sp>
          <p:nvSpPr>
            <p:cNvPr id="321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22" name="Textlänge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b="1" sz="1100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Textlänge</a:t>
              </a:r>
            </a:p>
          </p:txBody>
        </p:sp>
      </p:grpSp>
      <p:sp>
        <p:nvSpPr>
          <p:cNvPr id="324" name="TextBox 8"/>
          <p:cNvSpPr txBox="1"/>
          <p:nvPr/>
        </p:nvSpPr>
        <p:spPr>
          <a:xfrm>
            <a:off x="2484120" y="2146859"/>
            <a:ext cx="3154681" cy="3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b="1"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char_len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Zeichen</a:t>
            </a:r>
            <a:endParaRPr b="0">
              <a:solidFill>
                <a:srgbClr val="66758A"/>
              </a:solidFill>
              <a:latin typeface="Aptos"/>
              <a:ea typeface="Aptos"/>
              <a:cs typeface="Aptos"/>
              <a:sym typeface="Aptos"/>
            </a:endParaRPr>
          </a:p>
          <a:p>
            <a:pPr defTabSz="457200">
              <a:defRPr b="1"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word_len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Wörter</a:t>
            </a:r>
          </a:p>
        </p:txBody>
      </p:sp>
      <p:grpSp>
        <p:nvGrpSpPr>
          <p:cNvPr id="327" name="Rounded Rectangle 9"/>
          <p:cNvGrpSpPr/>
          <p:nvPr/>
        </p:nvGrpSpPr>
        <p:grpSpPr>
          <a:xfrm>
            <a:off x="975359" y="2814371"/>
            <a:ext cx="1325881" cy="310897"/>
            <a:chOff x="0" y="0"/>
            <a:chExt cx="1325880" cy="310895"/>
          </a:xfrm>
        </p:grpSpPr>
        <p:sp>
          <p:nvSpPr>
            <p:cNvPr id="325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26" name="Satzstruktur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b="1" sz="1100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Satzstruktur</a:t>
              </a:r>
            </a:p>
          </p:txBody>
        </p:sp>
      </p:grpSp>
      <p:sp>
        <p:nvSpPr>
          <p:cNvPr id="328" name="TextBox 10"/>
          <p:cNvSpPr txBox="1"/>
          <p:nvPr/>
        </p:nvSpPr>
        <p:spPr>
          <a:xfrm>
            <a:off x="2484120" y="2805227"/>
            <a:ext cx="3154681" cy="17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b="1"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sentence_count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Sätze im Text</a:t>
            </a:r>
          </a:p>
        </p:txBody>
      </p:sp>
      <p:grpSp>
        <p:nvGrpSpPr>
          <p:cNvPr id="331" name="Rounded Rectangle 11"/>
          <p:cNvGrpSpPr/>
          <p:nvPr/>
        </p:nvGrpSpPr>
        <p:grpSpPr>
          <a:xfrm>
            <a:off x="975359" y="3472739"/>
            <a:ext cx="1325881" cy="310897"/>
            <a:chOff x="0" y="0"/>
            <a:chExt cx="1325880" cy="310895"/>
          </a:xfrm>
        </p:grpSpPr>
        <p:sp>
          <p:nvSpPr>
            <p:cNvPr id="329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30" name="Wortstruktur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b="1" sz="1100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Wortstruktur</a:t>
              </a:r>
            </a:p>
          </p:txBody>
        </p:sp>
      </p:grpSp>
      <p:sp>
        <p:nvSpPr>
          <p:cNvPr id="332" name="TextBox 12"/>
          <p:cNvSpPr txBox="1"/>
          <p:nvPr/>
        </p:nvSpPr>
        <p:spPr>
          <a:xfrm>
            <a:off x="2484120" y="3463595"/>
            <a:ext cx="3154681" cy="17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b="1"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avg_word_len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durchschnittliche Wortlänge</a:t>
            </a:r>
          </a:p>
        </p:txBody>
      </p:sp>
      <p:grpSp>
        <p:nvGrpSpPr>
          <p:cNvPr id="335" name="Rounded Rectangle 13"/>
          <p:cNvGrpSpPr/>
          <p:nvPr/>
        </p:nvGrpSpPr>
        <p:grpSpPr>
          <a:xfrm>
            <a:off x="975359" y="4131107"/>
            <a:ext cx="1325881" cy="310897"/>
            <a:chOff x="0" y="0"/>
            <a:chExt cx="1325880" cy="310895"/>
          </a:xfrm>
        </p:grpSpPr>
        <p:sp>
          <p:nvSpPr>
            <p:cNvPr id="333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34" name="Satzzeichen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b="1" sz="1100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Satzzeichen</a:t>
              </a:r>
            </a:p>
          </p:txBody>
        </p:sp>
      </p:grpSp>
      <p:sp>
        <p:nvSpPr>
          <p:cNvPr id="336" name="TextBox 14"/>
          <p:cNvSpPr txBox="1"/>
          <p:nvPr/>
        </p:nvSpPr>
        <p:spPr>
          <a:xfrm>
            <a:off x="2484120" y="4121963"/>
            <a:ext cx="3154681" cy="3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b="1"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exclamation_count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„!“</a:t>
            </a:r>
            <a:endParaRPr b="0">
              <a:solidFill>
                <a:srgbClr val="66758A"/>
              </a:solidFill>
              <a:latin typeface="Aptos"/>
              <a:ea typeface="Aptos"/>
              <a:cs typeface="Aptos"/>
              <a:sym typeface="Aptos"/>
            </a:endParaRPr>
          </a:p>
          <a:p>
            <a:pPr defTabSz="457200">
              <a:defRPr b="1"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question_count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„?“</a:t>
            </a:r>
          </a:p>
        </p:txBody>
      </p:sp>
      <p:grpSp>
        <p:nvGrpSpPr>
          <p:cNvPr id="339" name="Rounded Rectangle 15"/>
          <p:cNvGrpSpPr/>
          <p:nvPr/>
        </p:nvGrpSpPr>
        <p:grpSpPr>
          <a:xfrm>
            <a:off x="975359" y="4789475"/>
            <a:ext cx="1325881" cy="310897"/>
            <a:chOff x="0" y="0"/>
            <a:chExt cx="1325880" cy="310895"/>
          </a:xfrm>
        </p:grpSpPr>
        <p:sp>
          <p:nvSpPr>
            <p:cNvPr id="337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38" name="Schreibstil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b="1" sz="1100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Schreibstil</a:t>
              </a:r>
            </a:p>
          </p:txBody>
        </p:sp>
      </p:grpSp>
      <p:sp>
        <p:nvSpPr>
          <p:cNvPr id="340" name="TextBox 16"/>
          <p:cNvSpPr txBox="1"/>
          <p:nvPr/>
        </p:nvSpPr>
        <p:spPr>
          <a:xfrm>
            <a:off x="2484120" y="4780331"/>
            <a:ext cx="3154681" cy="335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b="1"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uppercase_ratio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Anteil Großbuchstaben im Text</a:t>
            </a:r>
          </a:p>
        </p:txBody>
      </p:sp>
      <p:sp>
        <p:nvSpPr>
          <p:cNvPr id="341" name="Rounded Rectangle 17"/>
          <p:cNvSpPr/>
          <p:nvPr/>
        </p:nvSpPr>
        <p:spPr>
          <a:xfrm>
            <a:off x="6096000" y="1515923"/>
            <a:ext cx="5440681" cy="4526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9D6E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2" name="TextBox 18"/>
          <p:cNvSpPr txBox="1"/>
          <p:nvPr/>
        </p:nvSpPr>
        <p:spPr>
          <a:xfrm>
            <a:off x="6461759" y="1717091"/>
            <a:ext cx="4480561" cy="85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defRPr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Was macht es schwer, richtig zu klassifizieren?</a:t>
            </a:r>
          </a:p>
          <a:p>
            <a:pPr defTabSz="457200">
              <a:spcBef>
                <a:spcPts val="200"/>
              </a:spcBef>
              <a:defRPr sz="120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Feature Importance (Random Forest)</a:t>
            </a:r>
          </a:p>
        </p:txBody>
      </p:sp>
      <p:grpSp>
        <p:nvGrpSpPr>
          <p:cNvPr id="345" name="Rounded Rectangle 19"/>
          <p:cNvGrpSpPr/>
          <p:nvPr/>
        </p:nvGrpSpPr>
        <p:grpSpPr>
          <a:xfrm>
            <a:off x="6438900" y="2312338"/>
            <a:ext cx="4754881" cy="438913"/>
            <a:chOff x="0" y="0"/>
            <a:chExt cx="4754879" cy="438912"/>
          </a:xfrm>
        </p:grpSpPr>
        <p:sp>
          <p:nvSpPr>
            <p:cNvPr id="343" name="Rounded Rectangle"/>
            <p:cNvSpPr/>
            <p:nvPr/>
          </p:nvSpPr>
          <p:spPr>
            <a:xfrm>
              <a:off x="0" y="0"/>
              <a:ext cx="4754880" cy="438913"/>
            </a:xfrm>
            <a:prstGeom prst="roundRect">
              <a:avLst>
                <a:gd name="adj" fmla="val 16667"/>
              </a:avLst>
            </a:prstGeom>
            <a:solidFill>
              <a:srgbClr val="E6EEFA"/>
            </a:solidFill>
            <a:ln w="9525" cap="flat">
              <a:solidFill>
                <a:srgbClr val="E6EEFA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44" name="Top 3 Features erklären zusammen 78.9 % der Vorhersage-Schwierigkeit"/>
            <p:cNvSpPr txBox="1"/>
            <p:nvPr/>
          </p:nvSpPr>
          <p:spPr>
            <a:xfrm>
              <a:off x="71908" y="8636"/>
              <a:ext cx="4611064" cy="421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b="1" sz="1100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Top 3 Features erklären zusammen 78.9 % der Vorhersage-Schwierigkeit</a:t>
              </a:r>
            </a:p>
          </p:txBody>
        </p:sp>
      </p:grpSp>
      <p:sp>
        <p:nvSpPr>
          <p:cNvPr id="346" name="TextBox 20"/>
          <p:cNvSpPr txBox="1"/>
          <p:nvPr/>
        </p:nvSpPr>
        <p:spPr>
          <a:xfrm>
            <a:off x="6489192" y="2777795"/>
            <a:ext cx="111014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avg_word_len</a:t>
            </a:r>
          </a:p>
        </p:txBody>
      </p:sp>
      <p:sp>
        <p:nvSpPr>
          <p:cNvPr id="347" name="Rounded Rectangle 21"/>
          <p:cNvSpPr/>
          <p:nvPr/>
        </p:nvSpPr>
        <p:spPr>
          <a:xfrm>
            <a:off x="8363712" y="281437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8" name="Rounded Rectangle 22"/>
          <p:cNvSpPr/>
          <p:nvPr/>
        </p:nvSpPr>
        <p:spPr>
          <a:xfrm>
            <a:off x="8363712" y="281437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9" name="TextBox 23"/>
          <p:cNvSpPr txBox="1"/>
          <p:nvPr/>
        </p:nvSpPr>
        <p:spPr>
          <a:xfrm>
            <a:off x="10624947" y="2768651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b="1" sz="1100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28.5%</a:t>
            </a:r>
          </a:p>
        </p:txBody>
      </p:sp>
      <p:sp>
        <p:nvSpPr>
          <p:cNvPr id="350" name="TextBox 24"/>
          <p:cNvSpPr txBox="1"/>
          <p:nvPr/>
        </p:nvSpPr>
        <p:spPr>
          <a:xfrm>
            <a:off x="6489192" y="3170987"/>
            <a:ext cx="136164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uppercase_ratio</a:t>
            </a:r>
          </a:p>
        </p:txBody>
      </p:sp>
      <p:sp>
        <p:nvSpPr>
          <p:cNvPr id="351" name="Rounded Rectangle 25"/>
          <p:cNvSpPr/>
          <p:nvPr/>
        </p:nvSpPr>
        <p:spPr>
          <a:xfrm>
            <a:off x="8363712" y="3207563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2" name="Rounded Rectangle 26"/>
          <p:cNvSpPr/>
          <p:nvPr/>
        </p:nvSpPr>
        <p:spPr>
          <a:xfrm>
            <a:off x="8363712" y="3207563"/>
            <a:ext cx="1988740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3" name="TextBox 27"/>
          <p:cNvSpPr txBox="1"/>
          <p:nvPr/>
        </p:nvSpPr>
        <p:spPr>
          <a:xfrm>
            <a:off x="10624947" y="3161843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b="1" sz="1100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25.3%</a:t>
            </a:r>
          </a:p>
        </p:txBody>
      </p:sp>
      <p:sp>
        <p:nvSpPr>
          <p:cNvPr id="354" name="TextBox 28"/>
          <p:cNvSpPr txBox="1"/>
          <p:nvPr/>
        </p:nvSpPr>
        <p:spPr>
          <a:xfrm>
            <a:off x="6489192" y="3564179"/>
            <a:ext cx="7748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char_len</a:t>
            </a:r>
          </a:p>
        </p:txBody>
      </p:sp>
      <p:sp>
        <p:nvSpPr>
          <p:cNvPr id="355" name="Rounded Rectangle 29"/>
          <p:cNvSpPr/>
          <p:nvPr/>
        </p:nvSpPr>
        <p:spPr>
          <a:xfrm>
            <a:off x="8363712" y="3600755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6" name="Rounded Rectangle 30"/>
          <p:cNvSpPr/>
          <p:nvPr/>
        </p:nvSpPr>
        <p:spPr>
          <a:xfrm>
            <a:off x="8363712" y="3600755"/>
            <a:ext cx="1973019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7" name="TextBox 31"/>
          <p:cNvSpPr txBox="1"/>
          <p:nvPr/>
        </p:nvSpPr>
        <p:spPr>
          <a:xfrm>
            <a:off x="10624947" y="3555035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b="1" sz="1100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25.1%</a:t>
            </a:r>
          </a:p>
        </p:txBody>
      </p:sp>
      <p:sp>
        <p:nvSpPr>
          <p:cNvPr id="358" name="TextBox 32"/>
          <p:cNvSpPr txBox="1"/>
          <p:nvPr/>
        </p:nvSpPr>
        <p:spPr>
          <a:xfrm>
            <a:off x="6489192" y="3957371"/>
            <a:ext cx="7748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word_len</a:t>
            </a:r>
          </a:p>
        </p:txBody>
      </p:sp>
      <p:sp>
        <p:nvSpPr>
          <p:cNvPr id="359" name="Rounded Rectangle 33"/>
          <p:cNvSpPr/>
          <p:nvPr/>
        </p:nvSpPr>
        <p:spPr>
          <a:xfrm>
            <a:off x="8363712" y="3993947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0" name="Rounded Rectangle 34"/>
          <p:cNvSpPr/>
          <p:nvPr/>
        </p:nvSpPr>
        <p:spPr>
          <a:xfrm>
            <a:off x="8363712" y="3993947"/>
            <a:ext cx="723179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1" name="TextBox 35"/>
          <p:cNvSpPr txBox="1"/>
          <p:nvPr/>
        </p:nvSpPr>
        <p:spPr>
          <a:xfrm>
            <a:off x="10702641" y="3948227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9.2%</a:t>
            </a:r>
          </a:p>
        </p:txBody>
      </p:sp>
      <p:sp>
        <p:nvSpPr>
          <p:cNvPr id="362" name="TextBox 36"/>
          <p:cNvSpPr txBox="1"/>
          <p:nvPr/>
        </p:nvSpPr>
        <p:spPr>
          <a:xfrm>
            <a:off x="6489192" y="4350563"/>
            <a:ext cx="12778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sentence_count</a:t>
            </a:r>
          </a:p>
        </p:txBody>
      </p:sp>
      <p:sp>
        <p:nvSpPr>
          <p:cNvPr id="363" name="Rounded Rectangle 37"/>
          <p:cNvSpPr/>
          <p:nvPr/>
        </p:nvSpPr>
        <p:spPr>
          <a:xfrm>
            <a:off x="8363712" y="4387139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4" name="Rounded Rectangle 38"/>
          <p:cNvSpPr/>
          <p:nvPr/>
        </p:nvSpPr>
        <p:spPr>
          <a:xfrm>
            <a:off x="8363712" y="4387139"/>
            <a:ext cx="605269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5" name="TextBox 39"/>
          <p:cNvSpPr txBox="1"/>
          <p:nvPr/>
        </p:nvSpPr>
        <p:spPr>
          <a:xfrm>
            <a:off x="10702641" y="4341419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7.7%</a:t>
            </a:r>
          </a:p>
        </p:txBody>
      </p:sp>
      <p:sp>
        <p:nvSpPr>
          <p:cNvPr id="366" name="TextBox 40"/>
          <p:cNvSpPr txBox="1"/>
          <p:nvPr/>
        </p:nvSpPr>
        <p:spPr>
          <a:xfrm>
            <a:off x="6489192" y="4743755"/>
            <a:ext cx="15293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exclamation_count</a:t>
            </a:r>
          </a:p>
        </p:txBody>
      </p:sp>
      <p:sp>
        <p:nvSpPr>
          <p:cNvPr id="367" name="Rounded Rectangle 41"/>
          <p:cNvSpPr/>
          <p:nvPr/>
        </p:nvSpPr>
        <p:spPr>
          <a:xfrm>
            <a:off x="8363712" y="478033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8" name="Rounded Rectangle 42"/>
          <p:cNvSpPr/>
          <p:nvPr/>
        </p:nvSpPr>
        <p:spPr>
          <a:xfrm>
            <a:off x="8363712" y="4780331"/>
            <a:ext cx="298705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9" name="TextBox 43"/>
          <p:cNvSpPr txBox="1"/>
          <p:nvPr/>
        </p:nvSpPr>
        <p:spPr>
          <a:xfrm>
            <a:off x="10702641" y="4734611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3.8%</a:t>
            </a:r>
          </a:p>
        </p:txBody>
      </p:sp>
      <p:sp>
        <p:nvSpPr>
          <p:cNvPr id="370" name="TextBox 44"/>
          <p:cNvSpPr txBox="1"/>
          <p:nvPr/>
        </p:nvSpPr>
        <p:spPr>
          <a:xfrm>
            <a:off x="6489192" y="5136947"/>
            <a:ext cx="12778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question_count</a:t>
            </a:r>
          </a:p>
        </p:txBody>
      </p:sp>
      <p:sp>
        <p:nvSpPr>
          <p:cNvPr id="371" name="Rounded Rectangle 45"/>
          <p:cNvSpPr/>
          <p:nvPr/>
        </p:nvSpPr>
        <p:spPr>
          <a:xfrm>
            <a:off x="8363712" y="5173523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2" name="Rounded Rectangle 46"/>
          <p:cNvSpPr/>
          <p:nvPr/>
        </p:nvSpPr>
        <p:spPr>
          <a:xfrm>
            <a:off x="8363712" y="5173523"/>
            <a:ext cx="31443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3" name="TextBox 47"/>
          <p:cNvSpPr txBox="1"/>
          <p:nvPr/>
        </p:nvSpPr>
        <p:spPr>
          <a:xfrm>
            <a:off x="10702641" y="5127803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0.4%</a:t>
            </a:r>
          </a:p>
        </p:txBody>
      </p:sp>
      <p:grpSp>
        <p:nvGrpSpPr>
          <p:cNvPr id="376" name="Rounded Rectangle 48"/>
          <p:cNvGrpSpPr/>
          <p:nvPr/>
        </p:nvGrpSpPr>
        <p:grpSpPr>
          <a:xfrm>
            <a:off x="655319" y="6197651"/>
            <a:ext cx="10881361" cy="420625"/>
            <a:chOff x="0" y="0"/>
            <a:chExt cx="10881359" cy="420623"/>
          </a:xfrm>
        </p:grpSpPr>
        <p:sp>
          <p:nvSpPr>
            <p:cNvPr id="374" name="Rounded Rectangle"/>
            <p:cNvSpPr/>
            <p:nvPr/>
          </p:nvSpPr>
          <p:spPr>
            <a:xfrm>
              <a:off x="0" y="0"/>
              <a:ext cx="10881360" cy="42062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>
              <a:solidFill>
                <a:srgbClr val="C9D6E8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75" name="Interpretation: Wortlänge, Großbuchstaben und Textlänge sind die wichtigsten Hinweise darauf, ob eine Review schwer einzuordnen ist."/>
            <p:cNvSpPr txBox="1"/>
            <p:nvPr/>
          </p:nvSpPr>
          <p:spPr>
            <a:xfrm>
              <a:off x="71015" y="75691"/>
              <a:ext cx="10739330" cy="269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 defTabSz="457200">
                <a:defRPr b="1" sz="1200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Interpretation:</a:t>
              </a:r>
              <a:r>
                <a:rPr b="0">
                  <a:solidFill>
                    <a:srgbClr val="212B36"/>
                  </a:solidFill>
                </a:rPr>
                <a:t> Wortlänge, Großbuchstaben und Textlänge sind die wichtigsten Hinweise darauf, ob eine Review schwer einzuordnen ist.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379" name="Title 1"/>
          <p:cNvSpPr txBox="1"/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Korrelation Schwierigkeit / Features</a:t>
            </a:r>
          </a:p>
        </p:txBody>
      </p:sp>
      <p:sp>
        <p:nvSpPr>
          <p:cNvPr id="380" name="Content Placehold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Feature			mean  	corr_with_difficulty</a:t>
            </a:r>
          </a:p>
          <a:p>
            <a:pPr marL="0" indent="0">
              <a:buSzTx/>
              <a:buNone/>
            </a:pPr>
            <a:r>
              <a:t>uppercase_ratio      	0.029            0.061</a:t>
            </a:r>
            <a:br/>
            <a:r>
              <a:t>avg_word_len         	4.206            -0.003</a:t>
            </a:r>
            <a:br/>
            <a:r>
              <a:t>exclamation_count    	0.407            -0.027</a:t>
            </a:r>
            <a:br/>
            <a:r>
              <a:t>question_count       	0.060            -0.047</a:t>
            </a:r>
            <a:br/>
            <a:r>
              <a:t>sentence_count       	5.603            -0.191</a:t>
            </a:r>
            <a:br/>
            <a:r>
              <a:t>char_len           		354.598        -0.205</a:t>
            </a:r>
            <a:br/>
            <a:r>
              <a:t>word_len            		68.066          -0.206</a:t>
            </a:r>
          </a:p>
        </p:txBody>
      </p:sp>
      <p:sp>
        <p:nvSpPr>
          <p:cNvPr id="381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382" name="Slide Number Placeholder 5"/>
          <p:cNvSpPr txBox="1"/>
          <p:nvPr>
            <p:ph type="sldNum" sz="quarter" idx="2"/>
          </p:nvPr>
        </p:nvSpPr>
        <p:spPr>
          <a:xfrm>
            <a:off x="11170557" y="6414760"/>
            <a:ext cx="18324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385" name="Rounded Rectangular Callout 6"/>
          <p:cNvGrpSpPr/>
          <p:nvPr/>
        </p:nvGrpSpPr>
        <p:grpSpPr>
          <a:xfrm>
            <a:off x="7158353" y="4720197"/>
            <a:ext cx="4481339" cy="1326138"/>
            <a:chOff x="0" y="0"/>
            <a:chExt cx="4481338" cy="1326136"/>
          </a:xfrm>
        </p:grpSpPr>
        <p:sp>
          <p:nvSpPr>
            <p:cNvPr id="383" name="Shape"/>
            <p:cNvSpPr/>
            <p:nvPr/>
          </p:nvSpPr>
          <p:spPr>
            <a:xfrm>
              <a:off x="0" y="0"/>
              <a:ext cx="4481339" cy="13261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564" y="3600"/>
                  </a:moveTo>
                  <a:cubicBezTo>
                    <a:pt x="2564" y="1612"/>
                    <a:pt x="3041" y="0"/>
                    <a:pt x="3629" y="0"/>
                  </a:cubicBezTo>
                  <a:lnTo>
                    <a:pt x="5736" y="0"/>
                  </a:lnTo>
                  <a:lnTo>
                    <a:pt x="20535" y="0"/>
                  </a:lnTo>
                  <a:cubicBezTo>
                    <a:pt x="2112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1123" y="21600"/>
                    <a:pt x="20535" y="21600"/>
                  </a:cubicBezTo>
                  <a:lnTo>
                    <a:pt x="3629" y="21600"/>
                  </a:lnTo>
                  <a:cubicBezTo>
                    <a:pt x="3041" y="21600"/>
                    <a:pt x="2564" y="19988"/>
                    <a:pt x="2564" y="18000"/>
                  </a:cubicBezTo>
                  <a:lnTo>
                    <a:pt x="2564" y="18000"/>
                  </a:lnTo>
                  <a:lnTo>
                    <a:pt x="0" y="12045"/>
                  </a:lnTo>
                  <a:lnTo>
                    <a:pt x="2564" y="12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84" name="Pos. Korr., höherer Wert, schwieriger…"/>
            <p:cNvSpPr txBox="1"/>
            <p:nvPr/>
          </p:nvSpPr>
          <p:spPr>
            <a:xfrm>
              <a:off x="648715" y="350474"/>
              <a:ext cx="3715817" cy="6251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/>
              <a:r>
                <a:t>Pos. Korr., höherer Wert, schwieriger</a:t>
              </a:r>
              <a:endParaRPr>
                <a:solidFill>
                  <a:srgbClr val="FFFFFF"/>
                </a:solidFill>
              </a:endParaRPr>
            </a:p>
            <a:p>
              <a:pPr/>
              <a:r>
                <a:t>Neg. Korr., höherer Wert, einfacher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388" name="Title 1"/>
          <p:cNvSpPr txBox="1"/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Linguistic Diffic. # Named Entities</a:t>
            </a:r>
          </a:p>
        </p:txBody>
      </p:sp>
      <p:sp>
        <p:nvSpPr>
          <p:cNvPr id="389" name="Content Placehold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t>Spacy (SW Modul)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t>«</a:t>
            </a:r>
            <a:r>
              <a:t>I bought an iPhone from Apple for $999 in New York</a:t>
            </a:r>
            <a:r>
              <a:t>»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t>entities: iPhone (PRODUCT), Apple (ORG), $999 (MONEY), New York (GPE)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t>→ entity_count = 4</a:t>
            </a:r>
          </a:p>
          <a:p>
            <a:pPr marL="221742" indent="-221742" defTabSz="886968">
              <a:lnSpc>
                <a:spcPct val="72000"/>
              </a:lnSpc>
              <a:spcBef>
                <a:spcPts val="900"/>
              </a:spcBef>
              <a:defRPr sz="2231"/>
            </a:pP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t>difficulty 	count_texts 	mean_entities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t>0 		6489 		2.29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t>1 		975 		1.28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t>2 		438 		1.13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t>3 		185 		0.76</a:t>
            </a:r>
          </a:p>
        </p:txBody>
      </p:sp>
      <p:sp>
        <p:nvSpPr>
          <p:cNvPr id="390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391" name="Slide Number Placeholder 5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394" name="Rounded Rectangular Callout 6"/>
          <p:cNvGrpSpPr/>
          <p:nvPr/>
        </p:nvGrpSpPr>
        <p:grpSpPr>
          <a:xfrm>
            <a:off x="6707090" y="4553942"/>
            <a:ext cx="4481340" cy="1326138"/>
            <a:chOff x="0" y="0"/>
            <a:chExt cx="4481338" cy="1326136"/>
          </a:xfrm>
        </p:grpSpPr>
        <p:sp>
          <p:nvSpPr>
            <p:cNvPr id="392" name="Shape"/>
            <p:cNvSpPr/>
            <p:nvPr/>
          </p:nvSpPr>
          <p:spPr>
            <a:xfrm>
              <a:off x="0" y="0"/>
              <a:ext cx="4481339" cy="13261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564" y="3600"/>
                  </a:moveTo>
                  <a:cubicBezTo>
                    <a:pt x="2564" y="1612"/>
                    <a:pt x="3041" y="0"/>
                    <a:pt x="3629" y="0"/>
                  </a:cubicBezTo>
                  <a:lnTo>
                    <a:pt x="5736" y="0"/>
                  </a:lnTo>
                  <a:lnTo>
                    <a:pt x="20535" y="0"/>
                  </a:lnTo>
                  <a:cubicBezTo>
                    <a:pt x="2112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1123" y="21600"/>
                    <a:pt x="20535" y="21600"/>
                  </a:cubicBezTo>
                  <a:lnTo>
                    <a:pt x="3629" y="21600"/>
                  </a:lnTo>
                  <a:cubicBezTo>
                    <a:pt x="3041" y="21600"/>
                    <a:pt x="2564" y="19988"/>
                    <a:pt x="2564" y="18000"/>
                  </a:cubicBezTo>
                  <a:lnTo>
                    <a:pt x="2564" y="18000"/>
                  </a:lnTo>
                  <a:lnTo>
                    <a:pt x="0" y="12045"/>
                  </a:lnTo>
                  <a:lnTo>
                    <a:pt x="2564" y="12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Texte die schwieriger sind haben weniger Named Entities"/>
            <p:cNvSpPr txBox="1"/>
            <p:nvPr/>
          </p:nvSpPr>
          <p:spPr>
            <a:xfrm>
              <a:off x="648715" y="350474"/>
              <a:ext cx="3715817" cy="6251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/>
              <a:r>
                <a:t>Texte die schwieriger sind haben weniger Named Entities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397" name="Title 1"/>
          <p:cNvSpPr txBox="1"/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Ambiguität / abstrakte Wörter</a:t>
            </a:r>
          </a:p>
        </p:txBody>
      </p:sp>
      <p:sp>
        <p:nvSpPr>
          <p:cNvPr id="398" name="Content Placehold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Nutzung eines Concreteness Lexikons (Brysbaert et al.)</a:t>
            </a:r>
          </a:p>
          <a:p>
            <a:pPr marL="0" indent="0">
              <a:buSzTx/>
              <a:buNone/>
            </a:pPr>
            <a:r>
              <a:t>Jedem Wort ist ein Wert zugeordnet (1-5)</a:t>
            </a:r>
          </a:p>
          <a:p>
            <a:pPr lvl="1" marL="0" indent="457200">
              <a:spcBef>
                <a:spcPts val="500"/>
              </a:spcBef>
              <a:buSzTx/>
              <a:buNone/>
              <a:defRPr sz="2400"/>
            </a:pPr>
            <a:r>
              <a:t>1 sehr abstrakt (idea, good, quality)</a:t>
            </a:r>
          </a:p>
          <a:p>
            <a:pPr lvl="1" marL="0" indent="457200">
              <a:spcBef>
                <a:spcPts val="500"/>
              </a:spcBef>
              <a:buSzTx/>
              <a:buNone/>
              <a:defRPr sz="2400"/>
            </a:pPr>
            <a:r>
              <a:t>5 seht konkret (dog, table)</a:t>
            </a:r>
          </a:p>
          <a:p>
            <a:pPr marL="0" indent="0">
              <a:buSzTx/>
              <a:buNone/>
            </a:pPr>
            <a:r>
              <a:t>Für jeden Text:</a:t>
            </a:r>
          </a:p>
          <a:p>
            <a:pPr lvl="1" marL="685800" indent="-228600">
              <a:spcBef>
                <a:spcPts val="500"/>
              </a:spcBef>
              <a:defRPr sz="2400"/>
            </a:pPr>
            <a:r>
              <a:t>Mittelwert aller bekannten Wörter rechnen</a:t>
            </a:r>
          </a:p>
          <a:p>
            <a:pPr marL="0" indent="0">
              <a:buSzTx/>
              <a:buNone/>
            </a:pPr>
            <a:r>
              <a:t>Interpretation</a:t>
            </a:r>
          </a:p>
          <a:p>
            <a:pPr/>
            <a:r>
              <a:t>Kein klarer Trend über Difficulty Klassen</a:t>
            </a:r>
          </a:p>
          <a:p>
            <a:pPr lvl="1" marL="685800" indent="-228600">
              <a:spcBef>
                <a:spcPts val="500"/>
              </a:spcBef>
              <a:defRPr sz="2400"/>
            </a:pPr>
            <a:r>
              <a:t>Werte sind sehr ähnlich über alle Klassen, ca. 2.3</a:t>
            </a:r>
          </a:p>
        </p:txBody>
      </p:sp>
      <p:sp>
        <p:nvSpPr>
          <p:cNvPr id="399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400" name="Slide Number Placeholder 5"/>
          <p:cNvSpPr txBox="1"/>
          <p:nvPr>
            <p:ph type="sldNum" sz="quarter" idx="2"/>
          </p:nvPr>
        </p:nvSpPr>
        <p:spPr>
          <a:xfrm>
            <a:off x="11170557" y="6414760"/>
            <a:ext cx="18324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403" name="Rounded Rectangular Callout 6"/>
          <p:cNvGrpSpPr/>
          <p:nvPr/>
        </p:nvGrpSpPr>
        <p:grpSpPr>
          <a:xfrm>
            <a:off x="7096198" y="3226306"/>
            <a:ext cx="4481339" cy="1326137"/>
            <a:chOff x="0" y="0"/>
            <a:chExt cx="4481338" cy="1326136"/>
          </a:xfrm>
        </p:grpSpPr>
        <p:sp>
          <p:nvSpPr>
            <p:cNvPr id="401" name="Shape"/>
            <p:cNvSpPr/>
            <p:nvPr/>
          </p:nvSpPr>
          <p:spPr>
            <a:xfrm>
              <a:off x="0" y="0"/>
              <a:ext cx="4481339" cy="13261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564" y="3600"/>
                  </a:moveTo>
                  <a:cubicBezTo>
                    <a:pt x="2564" y="1612"/>
                    <a:pt x="3041" y="0"/>
                    <a:pt x="3629" y="0"/>
                  </a:cubicBezTo>
                  <a:lnTo>
                    <a:pt x="5736" y="0"/>
                  </a:lnTo>
                  <a:lnTo>
                    <a:pt x="20535" y="0"/>
                  </a:lnTo>
                  <a:cubicBezTo>
                    <a:pt x="2112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1123" y="21600"/>
                    <a:pt x="20535" y="21600"/>
                  </a:cubicBezTo>
                  <a:lnTo>
                    <a:pt x="3629" y="21600"/>
                  </a:lnTo>
                  <a:cubicBezTo>
                    <a:pt x="3041" y="21600"/>
                    <a:pt x="2564" y="19988"/>
                    <a:pt x="2564" y="18000"/>
                  </a:cubicBezTo>
                  <a:lnTo>
                    <a:pt x="2564" y="18000"/>
                  </a:lnTo>
                  <a:lnTo>
                    <a:pt x="0" y="12045"/>
                  </a:lnTo>
                  <a:lnTo>
                    <a:pt x="2564" y="12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2" name="Die difficulty-Klassen lassen sich nicht über Wort-Abstraktheit (Concreteness) unterscheiden"/>
            <p:cNvSpPr txBox="1"/>
            <p:nvPr/>
          </p:nvSpPr>
          <p:spPr>
            <a:xfrm>
              <a:off x="648715" y="204424"/>
              <a:ext cx="3715817" cy="9172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/>
              <a:r>
                <a:t>Die difficulty-Klassen lassen sich nicht über Wort-Abstraktheit (Concreteness) unterscheiden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406" name="Title 1"/>
          <p:cNvSpPr txBox="1"/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Wortfrequenz bad Predictions</a:t>
            </a:r>
          </a:p>
        </p:txBody>
      </p:sp>
      <p:sp>
        <p:nvSpPr>
          <p:cNvPr id="407" name="Content Placehold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72000"/>
              </a:lnSpc>
              <a:defRPr sz="1700"/>
            </a:pPr>
            <a:r>
              <a:t>CountVectorizer (Bag-of-Words), Stopwords, Top 50 Wörter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word  freq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disc    84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great    41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good    37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love    31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format    26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manual    23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book    20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cd    19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read    19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easy    18</a:t>
            </a:r>
          </a:p>
          <a:p>
            <a:pPr marL="0" indent="0">
              <a:lnSpc>
                <a:spcPct val="72000"/>
              </a:lnSpc>
              <a:buSzTx/>
              <a:buNone/>
              <a:defRPr sz="1700"/>
            </a:pPr>
            <a:r>
              <a:t>dog    16</a:t>
            </a:r>
          </a:p>
        </p:txBody>
      </p:sp>
      <p:sp>
        <p:nvSpPr>
          <p:cNvPr id="408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409" name="Slide Number Placeholder 5"/>
          <p:cNvSpPr txBox="1"/>
          <p:nvPr>
            <p:ph type="sldNum" sz="quarter" idx="2"/>
          </p:nvPr>
        </p:nvSpPr>
        <p:spPr>
          <a:xfrm>
            <a:off x="11170557" y="6414760"/>
            <a:ext cx="18324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412" name="Rounded Rectangular Callout 6"/>
          <p:cNvGrpSpPr/>
          <p:nvPr/>
        </p:nvGrpSpPr>
        <p:grpSpPr>
          <a:xfrm>
            <a:off x="4494349" y="3245764"/>
            <a:ext cx="3044588" cy="684213"/>
            <a:chOff x="0" y="0"/>
            <a:chExt cx="3044587" cy="684212"/>
          </a:xfrm>
        </p:grpSpPr>
        <p:sp>
          <p:nvSpPr>
            <p:cNvPr id="410" name="Shape"/>
            <p:cNvSpPr/>
            <p:nvPr/>
          </p:nvSpPr>
          <p:spPr>
            <a:xfrm>
              <a:off x="0" y="0"/>
              <a:ext cx="3044588" cy="6842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564" y="3600"/>
                  </a:moveTo>
                  <a:cubicBezTo>
                    <a:pt x="2564" y="1612"/>
                    <a:pt x="2926" y="0"/>
                    <a:pt x="3373" y="0"/>
                  </a:cubicBezTo>
                  <a:lnTo>
                    <a:pt x="5736" y="0"/>
                  </a:lnTo>
                  <a:lnTo>
                    <a:pt x="20791" y="0"/>
                  </a:lnTo>
                  <a:cubicBezTo>
                    <a:pt x="21238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1238" y="21600"/>
                    <a:pt x="20791" y="21600"/>
                  </a:cubicBezTo>
                  <a:lnTo>
                    <a:pt x="3373" y="21600"/>
                  </a:lnTo>
                  <a:cubicBezTo>
                    <a:pt x="2926" y="21600"/>
                    <a:pt x="2564" y="19988"/>
                    <a:pt x="2564" y="18000"/>
                  </a:cubicBezTo>
                  <a:lnTo>
                    <a:pt x="2564" y="18000"/>
                  </a:lnTo>
                  <a:lnTo>
                    <a:pt x="0" y="12045"/>
                  </a:lnTo>
                  <a:lnTo>
                    <a:pt x="2564" y="12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411" name="Great, good, love 👎🏻"/>
            <p:cNvSpPr txBox="1"/>
            <p:nvPr/>
          </p:nvSpPr>
          <p:spPr>
            <a:xfrm>
              <a:off x="446845" y="118586"/>
              <a:ext cx="2512273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/>
              <a:r>
                <a:t>Great, good, love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👎🏻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415" name="Title 1"/>
          <p:cNvSpPr txBox="1"/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Embeddings PCA, TSNE, UMAP…</a:t>
            </a:r>
          </a:p>
        </p:txBody>
      </p:sp>
      <p:sp>
        <p:nvSpPr>
          <p:cNvPr id="416" name="Content Placehold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defRPr sz="2400"/>
            </a:pPr>
            <a:r>
              <a:t>Transformer:</a:t>
            </a:r>
            <a:br/>
            <a:r>
              <a:t>BAAI/bge-base-en-v1.5</a:t>
            </a:r>
          </a:p>
          <a:p>
            <a:pPr>
              <a:defRPr sz="2400"/>
            </a:pPr>
            <a:r>
              <a:t>Dimensionsreduktion und </a:t>
            </a:r>
            <a:br/>
            <a:r>
              <a:t>Darstellung auf Plot</a:t>
            </a:r>
          </a:p>
          <a:p>
            <a:pPr>
              <a:defRPr sz="2400"/>
            </a:pPr>
            <a:r>
              <a:t>Rot/Blau gemischt</a:t>
            </a:r>
            <a:br/>
            <a:r>
              <a:t>Fehler verteilen sich</a:t>
            </a:r>
            <a:br/>
            <a:r>
              <a:t>gleichmässig im </a:t>
            </a:r>
            <a:br/>
            <a:r>
              <a:t>Semantikraum.</a:t>
            </a:r>
          </a:p>
        </p:txBody>
      </p:sp>
      <p:sp>
        <p:nvSpPr>
          <p:cNvPr id="41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418" name="Slide Number Placeholder 5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419" name="Content Placeholder 7" descr="Content Placeholder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49043" y="1405051"/>
            <a:ext cx="5975656" cy="4481743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13_umap_embedding_space.html"/>
          <p:cNvSpPr txBox="1"/>
          <p:nvPr/>
        </p:nvSpPr>
        <p:spPr>
          <a:xfrm>
            <a:off x="794786" y="5341015"/>
            <a:ext cx="5268428" cy="444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/>
            </a:lvl1pPr>
          </a:lstStyle>
          <a:p>
            <a:pPr/>
            <a:r>
              <a:t>13_umap_embedding_space.html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Footer Placeholder 3"/>
          <p:cNvSpPr txBox="1"/>
          <p:nvPr/>
        </p:nvSpPr>
        <p:spPr>
          <a:xfrm>
            <a:off x="3347719" y="6072625"/>
            <a:ext cx="402336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Text Analysis- Svetlana Khominich, Ralph Müller, David Beer </a:t>
            </a:r>
          </a:p>
        </p:txBody>
      </p:sp>
      <p:sp>
        <p:nvSpPr>
          <p:cNvPr id="423" name="Title 1"/>
          <p:cNvSpPr txBox="1"/>
          <p:nvPr>
            <p:ph type="title"/>
          </p:nvPr>
        </p:nvSpPr>
        <p:spPr>
          <a:xfrm>
            <a:off x="266700" y="288414"/>
            <a:ext cx="10515600" cy="852046"/>
          </a:xfrm>
          <a:prstGeom prst="rect">
            <a:avLst/>
          </a:prstGeom>
        </p:spPr>
        <p:txBody>
          <a:bodyPr/>
          <a:lstStyle/>
          <a:p>
            <a:pPr/>
            <a:r>
              <a:t>Fazit &amp; Lessons Learned</a:t>
            </a:r>
          </a:p>
        </p:txBody>
      </p:sp>
      <p:sp>
        <p:nvSpPr>
          <p:cNvPr id="424" name="Slide Number Placeholder 4"/>
          <p:cNvSpPr txBox="1"/>
          <p:nvPr>
            <p:ph type="sldNum" sz="quarter" idx="2"/>
          </p:nvPr>
        </p:nvSpPr>
        <p:spPr>
          <a:xfrm>
            <a:off x="10358576" y="6072625"/>
            <a:ext cx="258624" cy="248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25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r>
              <a:t>16. Juni 2026</a:t>
            </a:r>
          </a:p>
        </p:txBody>
      </p:sp>
      <p:sp>
        <p:nvSpPr>
          <p:cNvPr id="426" name="Oval 3"/>
          <p:cNvSpPr/>
          <p:nvPr/>
        </p:nvSpPr>
        <p:spPr>
          <a:xfrm>
            <a:off x="9791700" y="6010405"/>
            <a:ext cx="1645921" cy="1645921"/>
          </a:xfrm>
          <a:prstGeom prst="ellipse">
            <a:avLst/>
          </a:prstGeom>
          <a:ln w="25400">
            <a:solidFill>
              <a:srgbClr val="CDD8E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7" name="TextBox 5"/>
          <p:cNvSpPr txBox="1"/>
          <p:nvPr/>
        </p:nvSpPr>
        <p:spPr>
          <a:xfrm>
            <a:off x="268731" y="939291"/>
            <a:ext cx="8686801" cy="277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600">
                <a:solidFill>
                  <a:srgbClr val="566F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Klassische Modelle vs. LLM</a:t>
            </a:r>
          </a:p>
        </p:txBody>
      </p:sp>
      <p:grpSp>
        <p:nvGrpSpPr>
          <p:cNvPr id="430" name="Rounded Rectangle 6"/>
          <p:cNvGrpSpPr/>
          <p:nvPr/>
        </p:nvGrpSpPr>
        <p:grpSpPr>
          <a:xfrm>
            <a:off x="123809" y="1507986"/>
            <a:ext cx="5287407" cy="421460"/>
            <a:chOff x="0" y="0"/>
            <a:chExt cx="5287406" cy="421459"/>
          </a:xfrm>
        </p:grpSpPr>
        <p:sp>
          <p:nvSpPr>
            <p:cNvPr id="428" name="Rounded Rectangle"/>
            <p:cNvSpPr/>
            <p:nvPr/>
          </p:nvSpPr>
          <p:spPr>
            <a:xfrm>
              <a:off x="0" y="0"/>
              <a:ext cx="5287407" cy="421460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29" name="Klassische Modelle"/>
            <p:cNvSpPr txBox="1"/>
            <p:nvPr/>
          </p:nvSpPr>
          <p:spPr>
            <a:xfrm>
              <a:off x="58888" y="44699"/>
              <a:ext cx="5169631" cy="3320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b="1" sz="20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Klassische Modelle</a:t>
              </a:r>
            </a:p>
          </p:txBody>
        </p:sp>
      </p:grpSp>
      <p:sp>
        <p:nvSpPr>
          <p:cNvPr id="431" name="Rounded Rectangle 7"/>
          <p:cNvSpPr/>
          <p:nvPr/>
        </p:nvSpPr>
        <p:spPr>
          <a:xfrm>
            <a:off x="547116" y="2162743"/>
            <a:ext cx="5059681" cy="3926786"/>
          </a:xfrm>
          <a:prstGeom prst="roundRect">
            <a:avLst>
              <a:gd name="adj" fmla="val 19105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34" name="Oval 8"/>
          <p:cNvGrpSpPr/>
          <p:nvPr/>
        </p:nvGrpSpPr>
        <p:grpSpPr>
          <a:xfrm>
            <a:off x="734750" y="2534920"/>
            <a:ext cx="384049" cy="384049"/>
            <a:chOff x="0" y="0"/>
            <a:chExt cx="384047" cy="384047"/>
          </a:xfrm>
        </p:grpSpPr>
        <p:sp>
          <p:nvSpPr>
            <p:cNvPr id="432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33" name="1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b="1" sz="1100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435" name="Rectangle 9"/>
          <p:cNvSpPr/>
          <p:nvPr/>
        </p:nvSpPr>
        <p:spPr>
          <a:xfrm>
            <a:off x="1374830" y="2534920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6" name="TextBox 10"/>
          <p:cNvSpPr txBox="1"/>
          <p:nvPr/>
        </p:nvSpPr>
        <p:spPr>
          <a:xfrm>
            <a:off x="1581078" y="2561828"/>
            <a:ext cx="3840481" cy="277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Trennen die Klassen zu ca.</a:t>
            </a:r>
          </a:p>
        </p:txBody>
      </p:sp>
      <p:grpSp>
        <p:nvGrpSpPr>
          <p:cNvPr id="439" name="Rounded Rectangle 11"/>
          <p:cNvGrpSpPr/>
          <p:nvPr/>
        </p:nvGrpSpPr>
        <p:grpSpPr>
          <a:xfrm>
            <a:off x="4263136" y="2491868"/>
            <a:ext cx="1051561" cy="502921"/>
            <a:chOff x="0" y="0"/>
            <a:chExt cx="1051560" cy="502919"/>
          </a:xfrm>
        </p:grpSpPr>
        <p:sp>
          <p:nvSpPr>
            <p:cNvPr id="437" name="Rounded Rectangle"/>
            <p:cNvSpPr/>
            <p:nvPr/>
          </p:nvSpPr>
          <p:spPr>
            <a:xfrm>
              <a:off x="0" y="0"/>
              <a:ext cx="1051561" cy="502920"/>
            </a:xfrm>
            <a:prstGeom prst="roundRect">
              <a:avLst>
                <a:gd name="adj" fmla="val 16667"/>
              </a:avLst>
            </a:prstGeom>
            <a:solidFill>
              <a:srgbClr val="265D91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38" name="90 %"/>
            <p:cNvSpPr txBox="1"/>
            <p:nvPr/>
          </p:nvSpPr>
          <p:spPr>
            <a:xfrm>
              <a:off x="70269" y="27939"/>
              <a:ext cx="911022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b="1" sz="2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90 %</a:t>
              </a:r>
            </a:p>
          </p:txBody>
        </p:sp>
      </p:grpSp>
      <p:grpSp>
        <p:nvGrpSpPr>
          <p:cNvPr id="442" name="Oval 12"/>
          <p:cNvGrpSpPr/>
          <p:nvPr/>
        </p:nvGrpSpPr>
        <p:grpSpPr>
          <a:xfrm>
            <a:off x="764357" y="3365643"/>
            <a:ext cx="384049" cy="384049"/>
            <a:chOff x="0" y="0"/>
            <a:chExt cx="384047" cy="384047"/>
          </a:xfrm>
        </p:grpSpPr>
        <p:sp>
          <p:nvSpPr>
            <p:cNvPr id="440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41" name="2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b="1" sz="1100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43" name="Rectangle 13"/>
          <p:cNvSpPr/>
          <p:nvPr/>
        </p:nvSpPr>
        <p:spPr>
          <a:xfrm>
            <a:off x="1404437" y="3365643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4" name="TextBox 14"/>
          <p:cNvSpPr txBox="1"/>
          <p:nvPr/>
        </p:nvSpPr>
        <p:spPr>
          <a:xfrm>
            <a:off x="1642181" y="3411363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Kürzere Texte sind schwieriger</a:t>
            </a:r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zu klassifizieren</a:t>
            </a:r>
          </a:p>
        </p:txBody>
      </p:sp>
      <p:grpSp>
        <p:nvGrpSpPr>
          <p:cNvPr id="447" name="Oval 15"/>
          <p:cNvGrpSpPr/>
          <p:nvPr/>
        </p:nvGrpSpPr>
        <p:grpSpPr>
          <a:xfrm>
            <a:off x="764357" y="4389771"/>
            <a:ext cx="384049" cy="384049"/>
            <a:chOff x="0" y="0"/>
            <a:chExt cx="384047" cy="384047"/>
          </a:xfrm>
        </p:grpSpPr>
        <p:sp>
          <p:nvSpPr>
            <p:cNvPr id="445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46" name="3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b="1" sz="1100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48" name="Rectangle 16"/>
          <p:cNvSpPr/>
          <p:nvPr/>
        </p:nvSpPr>
        <p:spPr>
          <a:xfrm>
            <a:off x="1404437" y="4389771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9" name="TextBox 17"/>
          <p:cNvSpPr txBox="1"/>
          <p:nvPr/>
        </p:nvSpPr>
        <p:spPr>
          <a:xfrm>
            <a:off x="1642181" y="4435491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Höhere Ratings sind schwerer</a:t>
            </a:r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vorherzusagen</a:t>
            </a:r>
          </a:p>
        </p:txBody>
      </p:sp>
      <p:grpSp>
        <p:nvGrpSpPr>
          <p:cNvPr id="452" name="Oval 18"/>
          <p:cNvGrpSpPr/>
          <p:nvPr/>
        </p:nvGrpSpPr>
        <p:grpSpPr>
          <a:xfrm>
            <a:off x="764357" y="5413899"/>
            <a:ext cx="384049" cy="384049"/>
            <a:chOff x="0" y="0"/>
            <a:chExt cx="384047" cy="384047"/>
          </a:xfrm>
        </p:grpSpPr>
        <p:sp>
          <p:nvSpPr>
            <p:cNvPr id="450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51" name="4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b="1" sz="1100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53" name="Rectangle 19"/>
          <p:cNvSpPr/>
          <p:nvPr/>
        </p:nvSpPr>
        <p:spPr>
          <a:xfrm>
            <a:off x="1404437" y="5413899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4" name="TextBox 20"/>
          <p:cNvSpPr txBox="1"/>
          <p:nvPr/>
        </p:nvSpPr>
        <p:spPr>
          <a:xfrm>
            <a:off x="1642181" y="5459619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Der Datensatz enthält vermutlich</a:t>
            </a:r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keine besonders starken Fakes</a:t>
            </a:r>
          </a:p>
        </p:txBody>
      </p:sp>
      <p:sp>
        <p:nvSpPr>
          <p:cNvPr id="455" name="Rectangle 21"/>
          <p:cNvSpPr/>
          <p:nvPr/>
        </p:nvSpPr>
        <p:spPr>
          <a:xfrm>
            <a:off x="6083300" y="1554733"/>
            <a:ext cx="13716" cy="5257801"/>
          </a:xfrm>
          <a:prstGeom prst="rect">
            <a:avLst/>
          </a:prstGeom>
          <a:solidFill>
            <a:srgbClr val="C6D3E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58" name="Rounded Rectangle 22"/>
          <p:cNvGrpSpPr/>
          <p:nvPr/>
        </p:nvGrpSpPr>
        <p:grpSpPr>
          <a:xfrm>
            <a:off x="6403340" y="1504291"/>
            <a:ext cx="5446431" cy="434137"/>
            <a:chOff x="0" y="0"/>
            <a:chExt cx="5446430" cy="434135"/>
          </a:xfrm>
        </p:grpSpPr>
        <p:sp>
          <p:nvSpPr>
            <p:cNvPr id="456" name="Rounded Rectangle"/>
            <p:cNvSpPr/>
            <p:nvPr/>
          </p:nvSpPr>
          <p:spPr>
            <a:xfrm>
              <a:off x="0" y="0"/>
              <a:ext cx="5446431" cy="434136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57" name="LLM"/>
            <p:cNvSpPr txBox="1"/>
            <p:nvPr/>
          </p:nvSpPr>
          <p:spPr>
            <a:xfrm>
              <a:off x="60659" y="46044"/>
              <a:ext cx="5325113" cy="3420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b="1" sz="20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LLM</a:t>
              </a:r>
            </a:p>
          </p:txBody>
        </p:sp>
      </p:grpSp>
      <p:sp>
        <p:nvSpPr>
          <p:cNvPr id="459" name="Rounded Rectangle 23"/>
          <p:cNvSpPr/>
          <p:nvPr/>
        </p:nvSpPr>
        <p:spPr>
          <a:xfrm>
            <a:off x="6403340" y="2309879"/>
            <a:ext cx="5446431" cy="1727452"/>
          </a:xfrm>
          <a:prstGeom prst="roundRect">
            <a:avLst>
              <a:gd name="adj" fmla="val 18659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0" name="TextBox 24"/>
          <p:cNvSpPr txBox="1"/>
          <p:nvPr/>
        </p:nvSpPr>
        <p:spPr>
          <a:xfrm>
            <a:off x="6769100" y="2405125"/>
            <a:ext cx="1005839" cy="34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b="1" sz="2000">
                <a:solidFill>
                  <a:srgbClr val="17486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</a:t>
            </a:r>
          </a:p>
        </p:txBody>
      </p:sp>
      <p:sp>
        <p:nvSpPr>
          <p:cNvPr id="461" name="Oval 25"/>
          <p:cNvSpPr/>
          <p:nvPr/>
        </p:nvSpPr>
        <p:spPr>
          <a:xfrm>
            <a:off x="6814819" y="2816605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2" name="TextBox 26"/>
          <p:cNvSpPr txBox="1"/>
          <p:nvPr/>
        </p:nvSpPr>
        <p:spPr>
          <a:xfrm>
            <a:off x="7162292" y="2798317"/>
            <a:ext cx="5074921" cy="2524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Schneller Start: kein eigenes Training nötig</a:t>
            </a:r>
          </a:p>
        </p:txBody>
      </p:sp>
      <p:sp>
        <p:nvSpPr>
          <p:cNvPr id="463" name="Oval 27"/>
          <p:cNvSpPr/>
          <p:nvPr/>
        </p:nvSpPr>
        <p:spPr>
          <a:xfrm>
            <a:off x="6814819" y="3392676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4" name="TextBox 28"/>
          <p:cNvSpPr txBox="1"/>
          <p:nvPr/>
        </p:nvSpPr>
        <p:spPr>
          <a:xfrm>
            <a:off x="7162292" y="337438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Lernt aus Fehlern: bessere Prompts verbessern</a:t>
            </a:r>
          </a:p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 die Ergebnisse</a:t>
            </a:r>
          </a:p>
        </p:txBody>
      </p:sp>
      <p:sp>
        <p:nvSpPr>
          <p:cNvPr id="465" name="Rounded Rectangle 29"/>
          <p:cNvSpPr/>
          <p:nvPr/>
        </p:nvSpPr>
        <p:spPr>
          <a:xfrm>
            <a:off x="6410960" y="4222064"/>
            <a:ext cx="5431191" cy="1981831"/>
          </a:xfrm>
          <a:prstGeom prst="roundRect">
            <a:avLst>
              <a:gd name="adj" fmla="val 18090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6" name="TextBox 30"/>
          <p:cNvSpPr txBox="1"/>
          <p:nvPr/>
        </p:nvSpPr>
        <p:spPr>
          <a:xfrm>
            <a:off x="6819900" y="4437637"/>
            <a:ext cx="1463041" cy="34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b="1" sz="2000">
                <a:solidFill>
                  <a:srgbClr val="17486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Contra</a:t>
            </a:r>
          </a:p>
        </p:txBody>
      </p:sp>
      <p:sp>
        <p:nvSpPr>
          <p:cNvPr id="467" name="Oval 31"/>
          <p:cNvSpPr/>
          <p:nvPr/>
        </p:nvSpPr>
        <p:spPr>
          <a:xfrm>
            <a:off x="6865619" y="4849117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8" name="TextBox 32"/>
          <p:cNvSpPr txBox="1"/>
          <p:nvPr/>
        </p:nvSpPr>
        <p:spPr>
          <a:xfrm>
            <a:off x="7213092" y="483082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Prompt-sensitiv: kleine Formulierungen beeinflussen die Accuracy</a:t>
            </a:r>
          </a:p>
        </p:txBody>
      </p:sp>
      <p:sp>
        <p:nvSpPr>
          <p:cNvPr id="469" name="Oval 33"/>
          <p:cNvSpPr/>
          <p:nvPr/>
        </p:nvSpPr>
        <p:spPr>
          <a:xfrm>
            <a:off x="6865619" y="5489197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0" name="TextBox 34"/>
          <p:cNvSpPr txBox="1"/>
          <p:nvPr/>
        </p:nvSpPr>
        <p:spPr>
          <a:xfrm>
            <a:off x="7213092" y="547090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Nicht ideal für große Datenmengen: langsamer und</a:t>
            </a:r>
          </a:p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 teurer bei vielen Reviews</a:t>
            </a:r>
          </a:p>
        </p:txBody>
      </p:sp>
      <p:grpSp>
        <p:nvGrpSpPr>
          <p:cNvPr id="473" name="Rounded Rectangle 35"/>
          <p:cNvGrpSpPr/>
          <p:nvPr/>
        </p:nvGrpSpPr>
        <p:grpSpPr>
          <a:xfrm>
            <a:off x="246654" y="6322826"/>
            <a:ext cx="11698692" cy="443744"/>
            <a:chOff x="0" y="0"/>
            <a:chExt cx="11698691" cy="443743"/>
          </a:xfrm>
        </p:grpSpPr>
        <p:sp>
          <p:nvSpPr>
            <p:cNvPr id="471" name="Rounded Rectangle"/>
            <p:cNvSpPr/>
            <p:nvPr/>
          </p:nvSpPr>
          <p:spPr>
            <a:xfrm>
              <a:off x="0" y="0"/>
              <a:ext cx="11698692" cy="443744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72" name="Kernaussage: Klassische Modelle liefern starke Baseline-Ergebnisse; LLMs sind flexibel, aber prompt- und kostenabhängig."/>
            <p:cNvSpPr txBox="1"/>
            <p:nvPr/>
          </p:nvSpPr>
          <p:spPr>
            <a:xfrm>
              <a:off x="62001" y="91885"/>
              <a:ext cx="11574690" cy="25997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Kernaussage: Klassische Modelle liefern starke Baseline-Ergebnisse; LLMs sind flexibel, aber prompt- und kostenabhängig.</a:t>
              </a:r>
            </a:p>
          </p:txBody>
        </p:sp>
      </p:grpSp>
      <p:grpSp>
        <p:nvGrpSpPr>
          <p:cNvPr id="476" name="Rounded Rectangle 11"/>
          <p:cNvGrpSpPr/>
          <p:nvPr/>
        </p:nvGrpSpPr>
        <p:grpSpPr>
          <a:xfrm>
            <a:off x="10624058" y="2521204"/>
            <a:ext cx="1051561" cy="502921"/>
            <a:chOff x="0" y="0"/>
            <a:chExt cx="1051560" cy="502919"/>
          </a:xfrm>
        </p:grpSpPr>
        <p:sp>
          <p:nvSpPr>
            <p:cNvPr id="474" name="Rounded Rectangle"/>
            <p:cNvSpPr/>
            <p:nvPr/>
          </p:nvSpPr>
          <p:spPr>
            <a:xfrm>
              <a:off x="0" y="0"/>
              <a:ext cx="1051561" cy="502920"/>
            </a:xfrm>
            <a:prstGeom prst="roundRect">
              <a:avLst>
                <a:gd name="adj" fmla="val 16667"/>
              </a:avLst>
            </a:prstGeom>
            <a:solidFill>
              <a:srgbClr val="265D91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75" name="88 %"/>
            <p:cNvSpPr txBox="1"/>
            <p:nvPr/>
          </p:nvSpPr>
          <p:spPr>
            <a:xfrm>
              <a:off x="70269" y="27939"/>
              <a:ext cx="911022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b="1" sz="2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88 %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